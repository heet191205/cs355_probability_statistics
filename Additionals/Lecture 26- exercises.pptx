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DDD8A-318F-B54F-8458-F7BED354D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34513-7E45-2760-F8BC-74AF73FFB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98D09-7987-487A-4504-0FCB6DF1C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5DCC1-8E6E-404A-842D-653FB0299F25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8A2E0-0794-1480-D1CB-F3D42A682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A9E82-5466-2BB0-AD80-5BFF38919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E049-A5DE-4E79-AB9B-43E436B05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759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CB062-3F2B-3FA3-36F7-FE9FE1413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C4C01-2B55-8808-675E-9026E26BE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E7DA0-6EBA-E9A7-43DC-66436D77C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5DCC1-8E6E-404A-842D-653FB0299F25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FB3E1-2036-38CC-393A-BB03C11DE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29220-5EEB-05F3-553F-65032E3E9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E049-A5DE-4E79-AB9B-43E436B05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92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5B485-55A6-88B8-AE2C-0F3DC665F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7E2F7-6CCF-70C8-E52B-EF74DAA27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60A2B-080C-3988-6D24-1812A3DCF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5DCC1-8E6E-404A-842D-653FB0299F25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9BD50-D272-38FF-6254-4098192A6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23895-298C-EBCF-6624-E83FCF96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E049-A5DE-4E79-AB9B-43E436B05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972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387E2-C156-671B-3215-B7A7D6703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74F7C-19C7-926A-5230-3A5B1AFA99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258484-3607-F88F-91BE-3DB8DB177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AEC73-CE2C-7FF5-CB51-C58A44C4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5DCC1-8E6E-404A-842D-653FB0299F25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F3D40-FB05-2076-220E-FB857B983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00D6A-B283-C1D4-9E0B-8010EF972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E049-A5DE-4E79-AB9B-43E436B05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14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25254-2615-AE19-1FB8-84D3309BC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6BC4F-0659-04F5-82A8-09319D972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9CC9-FEB5-032D-4882-D160EECFB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4D2264-F7CA-83DC-5EDA-D931FB225B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60B07D-882A-335B-7985-0D248FE527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A51565-AAFF-4B38-D598-E5E8567CF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5DCC1-8E6E-404A-842D-653FB0299F25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4D21F-EB63-D131-6924-EBC29819E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22878A-B5DD-926F-D9AE-F4C90CFD7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E049-A5DE-4E79-AB9B-43E436B05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43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7A377-F603-17B7-77BA-B2825B959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69FEB7-C626-F020-851A-0FA9DC7BC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5DCC1-8E6E-404A-842D-653FB0299F25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640B3-CBFB-2D2B-C71E-5DC3D756C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34E963-EC29-1BA2-6E6E-7E7854AB0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E049-A5DE-4E79-AB9B-43E436B05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881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89E338-446D-DB19-2C4D-C53AB837E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5DCC1-8E6E-404A-842D-653FB0299F25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6FD360-9C67-9998-7F4C-E5F5DFF9D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D4D80-630F-FD3E-FAD7-3AF276745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E049-A5DE-4E79-AB9B-43E436B05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6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05BFA-C5F6-551B-9C75-B7BE1A293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25EAD-6CA6-1C4E-7886-7E0670C88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D160C8-B63F-F8C6-2DAB-E9399B0E1E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309AF-75BA-D170-D39A-9888B3FEA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5DCC1-8E6E-404A-842D-653FB0299F25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D8C34-10FC-0414-E2F4-A21DD2F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28DF9-41BE-693E-9D5F-5DAFE8D32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E049-A5DE-4E79-AB9B-43E436B05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65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F6084-DCC1-DA63-E75A-7EF9D1A90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C0E33B-9F69-4B7D-86E1-B8B61B037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272EE-0A29-0872-49C6-9394F8807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31315-0A29-01CE-1C72-7A80D4963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5DCC1-8E6E-404A-842D-653FB0299F25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B7966-E924-A759-92A0-74197FAE6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F3E1A-9582-CEC7-64BA-730D4416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E049-A5DE-4E79-AB9B-43E436B05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27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61AEB-D5C2-8CC6-5FDB-3C7924006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E54813-3C97-B295-022E-F29D6DE5F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A8285-DCCE-B3A4-3862-117FA70AD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5DCC1-8E6E-404A-842D-653FB0299F25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B0971-A4B8-974A-86A5-45E2ADC27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0BCAF-4482-4407-B3FD-B7374897A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E049-A5DE-4E79-AB9B-43E436B05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224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3CF484-8721-EA30-5F55-395E303DDB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E830F1-0E3A-6E36-5A46-B1728939F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CBDC2-A6E3-0E41-E4A5-9863E50A5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5DCC1-8E6E-404A-842D-653FB0299F25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E89AF-CC95-C486-C2BD-1F13DB801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8B3D7-E112-8EC5-A6E7-9AAE81038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E049-A5DE-4E79-AB9B-43E436B05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93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0CD08A-B245-3097-D2A6-AE7BB87E1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54C2E-74AD-E5AC-7C3A-81E767F69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D5F7B-F035-3BD2-4B7E-390CC88DBF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B5DCC1-8E6E-404A-842D-653FB0299F25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65213-FA6B-3DAE-2057-B7D8A53BA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83844-C41C-DD64-1CA9-CD5A0C04D6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B9E049-A5DE-4E79-AB9B-43E436B05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94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02071" y="1537676"/>
            <a:ext cx="8885200" cy="1521343"/>
            <a:chOff x="87743" y="775956"/>
            <a:chExt cx="4483735" cy="767715"/>
          </a:xfrm>
        </p:grpSpPr>
        <p:sp>
          <p:nvSpPr>
            <p:cNvPr id="3" name="object 3"/>
            <p:cNvSpPr/>
            <p:nvPr/>
          </p:nvSpPr>
          <p:spPr>
            <a:xfrm>
              <a:off x="87743" y="775956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39213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5">
                  <a:moveTo>
                    <a:pt x="4432566" y="0"/>
                  </a:moveTo>
                  <a:lnTo>
                    <a:pt x="0" y="0"/>
                  </a:lnTo>
                  <a:lnTo>
                    <a:pt x="0" y="703964"/>
                  </a:lnTo>
                  <a:lnTo>
                    <a:pt x="4432566" y="70396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20376"/>
              <a:ext cx="4432935" cy="672465"/>
            </a:xfrm>
            <a:custGeom>
              <a:avLst/>
              <a:gdLst/>
              <a:ahLst/>
              <a:cxnLst/>
              <a:rect l="l" t="t" r="r" b="b"/>
              <a:pathLst>
                <a:path w="4432935" h="672465">
                  <a:moveTo>
                    <a:pt x="4432566" y="0"/>
                  </a:moveTo>
                  <a:lnTo>
                    <a:pt x="0" y="0"/>
                  </a:lnTo>
                  <a:lnTo>
                    <a:pt x="0" y="621200"/>
                  </a:lnTo>
                  <a:lnTo>
                    <a:pt x="4008" y="640925"/>
                  </a:lnTo>
                  <a:lnTo>
                    <a:pt x="14922" y="657078"/>
                  </a:lnTo>
                  <a:lnTo>
                    <a:pt x="31075" y="667992"/>
                  </a:lnTo>
                  <a:lnTo>
                    <a:pt x="50800" y="672001"/>
                  </a:lnTo>
                  <a:lnTo>
                    <a:pt x="4381765" y="672001"/>
                  </a:lnTo>
                  <a:lnTo>
                    <a:pt x="4401490" y="667992"/>
                  </a:lnTo>
                  <a:lnTo>
                    <a:pt x="4417643" y="657078"/>
                  </a:lnTo>
                  <a:lnTo>
                    <a:pt x="4428558" y="640925"/>
                  </a:lnTo>
                  <a:lnTo>
                    <a:pt x="4432566" y="621200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802741" y="1663028"/>
            <a:ext cx="8784532" cy="1011618"/>
          </a:xfrm>
          <a:prstGeom prst="rect">
            <a:avLst/>
          </a:prstGeom>
        </p:spPr>
        <p:txBody>
          <a:bodyPr vert="horz" wrap="square" lIns="0" tIns="130868" rIns="0" bIns="0" rtlCol="0">
            <a:spAutoFit/>
          </a:bodyPr>
          <a:lstStyle/>
          <a:p>
            <a:pPr marR="186240" algn="ctr">
              <a:spcBef>
                <a:spcPts val="1030"/>
              </a:spcBef>
            </a:pPr>
            <a:r>
              <a:rPr sz="2774">
                <a:solidFill>
                  <a:srgbClr val="FFFFFF"/>
                </a:solidFill>
                <a:latin typeface="Times New Roman"/>
                <a:cs typeface="Times New Roman"/>
              </a:rPr>
              <a:t>CS</a:t>
            </a:r>
            <a:r>
              <a:rPr sz="2774" spc="36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74" spc="-20">
                <a:solidFill>
                  <a:srgbClr val="FFFFFF"/>
                </a:solidFill>
                <a:latin typeface="Times New Roman"/>
                <a:cs typeface="Times New Roman"/>
              </a:rPr>
              <a:t>355/555</a:t>
            </a:r>
            <a:endParaRPr sz="2774">
              <a:latin typeface="Times New Roman"/>
              <a:cs typeface="Times New Roman"/>
            </a:endParaRPr>
          </a:p>
          <a:p>
            <a:pPr marR="186240" algn="ctr">
              <a:spcBef>
                <a:spcPts val="226"/>
              </a:spcBef>
            </a:pPr>
            <a:r>
              <a:rPr sz="2774" spc="109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2774" spc="27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74" spc="139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774" spc="27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74" spc="99">
                <a:solidFill>
                  <a:srgbClr val="FFFFFF"/>
                </a:solidFill>
                <a:latin typeface="Times New Roman"/>
                <a:cs typeface="Times New Roman"/>
              </a:rPr>
              <a:t>Statistics</a:t>
            </a:r>
            <a:r>
              <a:rPr sz="2774" spc="27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74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774" spc="28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74" spc="129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2774" spc="27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74" spc="-20">
                <a:solidFill>
                  <a:srgbClr val="FFFFFF"/>
                </a:solidFill>
                <a:latin typeface="Times New Roman"/>
                <a:cs typeface="Times New Roman"/>
              </a:rPr>
              <a:t>Scientists</a:t>
            </a:r>
            <a:endParaRPr sz="2774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27762" y="3370634"/>
            <a:ext cx="2132901" cy="172833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lang="en-US" sz="2180" spc="-20" dirty="0">
                <a:latin typeface="Book Antiqua"/>
                <a:cs typeface="Book Antiqua"/>
              </a:rPr>
              <a:t>Baocheng Geng</a:t>
            </a:r>
            <a:endParaRPr sz="218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2180" dirty="0">
              <a:latin typeface="Book Antiqua"/>
              <a:cs typeface="Book Antiqua"/>
            </a:endParaRPr>
          </a:p>
          <a:p>
            <a:pPr>
              <a:spcBef>
                <a:spcPts val="50"/>
              </a:spcBef>
            </a:pPr>
            <a:endParaRPr sz="2279" dirty="0">
              <a:latin typeface="Book Antiqua"/>
              <a:cs typeface="Book Antiqua"/>
            </a:endParaRPr>
          </a:p>
          <a:p>
            <a:pPr marL="39010">
              <a:spcBef>
                <a:spcPts val="10"/>
              </a:spcBef>
            </a:pPr>
            <a:r>
              <a:rPr lang="en-US" sz="2180" dirty="0">
                <a:latin typeface="Book Antiqua"/>
                <a:cs typeface="Book Antiqua"/>
              </a:rPr>
              <a:t>Lecture 26, 04/09/2025</a:t>
            </a:r>
            <a:endParaRPr sz="2180" dirty="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68529" y="3352712"/>
            <a:ext cx="1245870" cy="103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25168">
              <a:lnSpc>
                <a:spcPts val="1338"/>
              </a:lnSpc>
            </a:pPr>
            <a:r>
              <a:rPr lang="en-US"/>
              <a:t>Copyright</a:t>
            </a:r>
            <a:r>
              <a:rPr lang="en-US" spc="260"/>
              <a:t> </a:t>
            </a:r>
            <a:r>
              <a:rPr lang="en-US">
                <a:latin typeface="Times New Roman"/>
                <a:cs typeface="Times New Roman"/>
              </a:rPr>
              <a:t>@</a:t>
            </a:r>
            <a:r>
              <a:rPr lang="en-US"/>
              <a:t>2022,</a:t>
            </a:r>
            <a:r>
              <a:rPr lang="en-US" spc="260"/>
              <a:t> </a:t>
            </a:r>
            <a:r>
              <a:rPr lang="en-US"/>
              <a:t>Ivan</a:t>
            </a:r>
            <a:r>
              <a:rPr lang="en-US" spc="265"/>
              <a:t> </a:t>
            </a:r>
            <a:r>
              <a:rPr lang="en-US" spc="-20"/>
              <a:t>Mann</a:t>
            </a:r>
            <a:endParaRPr spc="-40"/>
          </a:p>
        </p:txBody>
      </p:sp>
      <p:sp>
        <p:nvSpPr>
          <p:cNvPr id="12" name="object 12"/>
          <p:cNvSpPr txBox="1"/>
          <p:nvPr/>
        </p:nvSpPr>
        <p:spPr>
          <a:xfrm>
            <a:off x="4514256" y="6645812"/>
            <a:ext cx="5035911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>
              <a:lnSpc>
                <a:spcPts val="1328"/>
              </a:lnSpc>
            </a:pPr>
            <a:r>
              <a:rPr sz="118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1189" spc="454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118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355/555Probability</a:t>
            </a:r>
            <a:r>
              <a:rPr sz="1189" spc="454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118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1189" spc="466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118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1189" spc="454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118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1189" spc="466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118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Computer</a:t>
            </a:r>
            <a:r>
              <a:rPr sz="1189" spc="454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1189" spc="-2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Scientists</a:t>
            </a:r>
            <a:endParaRPr sz="1189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4190937" y="3353673"/>
            <a:ext cx="28321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lang="en-US" spc="-20" smtClean="0"/>
              <a:pPr marL="60960">
                <a:lnSpc>
                  <a:spcPts val="670"/>
                </a:lnSpc>
              </a:pPr>
              <a:t>1</a:t>
            </a:fld>
            <a:r>
              <a:rPr lang="en-US" spc="-20"/>
              <a:t>/40</a:t>
            </a:r>
            <a:endParaRPr spc="-40"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A0FD31A-6D07-5408-82F0-2F82175D8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7" y="329662"/>
            <a:ext cx="8725213" cy="2875071"/>
          </a:xfrm>
          <a:prstGeom prst="rect">
            <a:avLst/>
          </a:prstGeom>
        </p:spPr>
      </p:pic>
      <p:pic>
        <p:nvPicPr>
          <p:cNvPr id="5" name="Picture 4" descr="A close up of text&#10;&#10;AI-generated content may be incorrect.">
            <a:extLst>
              <a:ext uri="{FF2B5EF4-FFF2-40B4-BE49-F238E27FC236}">
                <a16:creationId xmlns:a16="http://schemas.microsoft.com/office/drawing/2014/main" id="{8522AB14-14A9-B9E6-E5DF-FF97D0D424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7" y="3732468"/>
            <a:ext cx="10363368" cy="204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363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28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Book Antiqua</vt:lpstr>
      <vt:lpstr>Bookman Old Style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Geng, Baocheng</dc:creator>
  <cp:lastModifiedBy>Geng, Baocheng</cp:lastModifiedBy>
  <cp:revision>2</cp:revision>
  <dcterms:created xsi:type="dcterms:W3CDTF">2025-04-09T17:42:11Z</dcterms:created>
  <dcterms:modified xsi:type="dcterms:W3CDTF">2025-04-09T17:50:39Z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e7542bc-63e5-412b-b0a0-d9586028a7d0_Enabled">
    <vt:lpwstr>true</vt:lpwstr>
  </property>
  <property fmtid="{D5CDD505-2E9C-101B-9397-08002B2CF9AE}" pid="3" name="MSIP_Label_ae7542bc-63e5-412b-b0a0-d9586028a7d0_SetDate">
    <vt:lpwstr>2025-04-09T17:42:39Z</vt:lpwstr>
  </property>
  <property fmtid="{D5CDD505-2E9C-101B-9397-08002B2CF9AE}" pid="4" name="MSIP_Label_ae7542bc-63e5-412b-b0a0-d9586028a7d0_Method">
    <vt:lpwstr>Standard</vt:lpwstr>
  </property>
  <property fmtid="{D5CDD505-2E9C-101B-9397-08002B2CF9AE}" pid="5" name="MSIP_Label_ae7542bc-63e5-412b-b0a0-d9586028a7d0_Name">
    <vt:lpwstr>Sensitive</vt:lpwstr>
  </property>
  <property fmtid="{D5CDD505-2E9C-101B-9397-08002B2CF9AE}" pid="6" name="MSIP_Label_ae7542bc-63e5-412b-b0a0-d9586028a7d0_SiteId">
    <vt:lpwstr>d8999fe4-76af-40b3-b435-1d8977abc08c</vt:lpwstr>
  </property>
  <property fmtid="{D5CDD505-2E9C-101B-9397-08002B2CF9AE}" pid="7" name="MSIP_Label_ae7542bc-63e5-412b-b0a0-d9586028a7d0_ActionId">
    <vt:lpwstr>08830903-5ffe-4c99-ab87-e22d00a554a6</vt:lpwstr>
  </property>
  <property fmtid="{D5CDD505-2E9C-101B-9397-08002B2CF9AE}" pid="8" name="MSIP_Label_ae7542bc-63e5-412b-b0a0-d9586028a7d0_ContentBits">
    <vt:lpwstr>0</vt:lpwstr>
  </property>
  <property fmtid="{D5CDD505-2E9C-101B-9397-08002B2CF9AE}" pid="9" name="MSIP_Label_ae7542bc-63e5-412b-b0a0-d9586028a7d0_Tag">
    <vt:lpwstr>10, 3, 0, 1</vt:lpwstr>
  </property>
</Properties>
</file>