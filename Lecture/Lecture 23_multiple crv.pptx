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7" r:id="rId7"/>
    <p:sldId id="258" r:id="rId8"/>
    <p:sldId id="323" r:id="rId9"/>
    <p:sldId id="324" r:id="rId10"/>
    <p:sldId id="325" r:id="rId11"/>
    <p:sldId id="326" r:id="rId12"/>
    <p:sldId id="327" r:id="rId13"/>
    <p:sldId id="333" r:id="rId14"/>
    <p:sldId id="334" r:id="rId15"/>
    <p:sldId id="335" r:id="rId16"/>
    <p:sldId id="269" r:id="rId17"/>
    <p:sldId id="328" r:id="rId18"/>
    <p:sldId id="329" r:id="rId19"/>
    <p:sldId id="330" r:id="rId20"/>
    <p:sldId id="331" r:id="rId2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EA746A-11B1-4AC5-99C9-3BDEF801C5D1}" v="2" dt="2024-03-19T15:47:36.2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5" d="100"/>
          <a:sy n="175" d="100"/>
        </p:scale>
        <p:origin x="1286" y="101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703" y="62405"/>
            <a:ext cx="4382693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668" y="62405"/>
            <a:ext cx="3156762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728140"/>
            <a:ext cx="4290695" cy="2108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12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90937" y="3353673"/>
            <a:ext cx="283210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‹#›</a:t>
            </a:fld>
            <a:r>
              <a:rPr spc="-20"/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75956"/>
            <a:ext cx="4483735" cy="767715"/>
            <a:chOff x="87743" y="775956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7595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39213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4"/>
                  </a:lnTo>
                  <a:lnTo>
                    <a:pt x="4432566" y="70396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2037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200"/>
                  </a:lnTo>
                  <a:lnTo>
                    <a:pt x="4008" y="640925"/>
                  </a:lnTo>
                  <a:lnTo>
                    <a:pt x="14922" y="657078"/>
                  </a:lnTo>
                  <a:lnTo>
                    <a:pt x="31075" y="667992"/>
                  </a:lnTo>
                  <a:lnTo>
                    <a:pt x="50800" y="672001"/>
                  </a:lnTo>
                  <a:lnTo>
                    <a:pt x="4381765" y="672001"/>
                  </a:lnTo>
                  <a:lnTo>
                    <a:pt x="4401490" y="667992"/>
                  </a:lnTo>
                  <a:lnTo>
                    <a:pt x="4417643" y="657078"/>
                  </a:lnTo>
                  <a:lnTo>
                    <a:pt x="4428558" y="640925"/>
                  </a:lnTo>
                  <a:lnTo>
                    <a:pt x="4432566" y="62120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39213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r>
              <a:rPr sz="14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FFFFFF"/>
                </a:solidFill>
                <a:latin typeface="Times New Roman"/>
                <a:cs typeface="Times New Roman"/>
              </a:rPr>
              <a:t>355/555</a:t>
            </a:r>
            <a:endParaRPr sz="1400">
              <a:latin typeface="Times New Roman"/>
              <a:cs typeface="Times New Roman"/>
            </a:endParaRPr>
          </a:p>
          <a:p>
            <a:pPr marR="93980" algn="ctr">
              <a:lnSpc>
                <a:spcPct val="100000"/>
              </a:lnSpc>
              <a:spcBef>
                <a:spcPts val="114"/>
              </a:spcBef>
            </a:pPr>
            <a:r>
              <a:rPr sz="1400" spc="55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r>
              <a:rPr sz="14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5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4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FFFFFF"/>
                </a:solidFill>
                <a:latin typeface="Times New Roman"/>
                <a:cs typeface="Times New Roman"/>
              </a:rPr>
              <a:t>Scientists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985" y="1700922"/>
            <a:ext cx="1076325" cy="86562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Baocheng Geng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 dirty="0">
              <a:latin typeface="Book Antiqua"/>
              <a:cs typeface="Book Antiqua"/>
            </a:endParaRPr>
          </a:p>
          <a:p>
            <a:pPr marL="19685">
              <a:lnSpc>
                <a:spcPct val="100000"/>
              </a:lnSpc>
              <a:spcBef>
                <a:spcPts val="5"/>
              </a:spcBef>
            </a:pPr>
            <a:r>
              <a:rPr lang="en-US" sz="1100" dirty="0">
                <a:latin typeface="Book Antiqua"/>
                <a:cs typeface="Book Antiqua"/>
              </a:rPr>
              <a:t>Lecture 23, 03/21/2025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1</a:t>
            </a:fld>
            <a:r>
              <a:rPr spc="-20"/>
              <a:t>/40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82650">
              <a:lnSpc>
                <a:spcPct val="100000"/>
              </a:lnSpc>
              <a:spcBef>
                <a:spcPts val="135"/>
              </a:spcBef>
            </a:pPr>
            <a:r>
              <a:t>Table</a:t>
            </a:r>
            <a:r>
              <a:rPr spc="180"/>
              <a:t> </a:t>
            </a:r>
            <a:r>
              <a:t>of</a:t>
            </a:r>
            <a:r>
              <a:rPr spc="180"/>
              <a:t> </a:t>
            </a:r>
            <a:r>
              <a:rPr spc="45"/>
              <a:t>Contents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87" y="1160735"/>
            <a:ext cx="155092" cy="155092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2</a:t>
            </a:fld>
            <a:r>
              <a:rPr spc="-20"/>
              <a:t>/40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96192CA-7706-3E2D-7FD6-4BDEB2571DA2}"/>
              </a:ext>
            </a:extLst>
          </p:cNvPr>
          <p:cNvSpPr txBox="1"/>
          <p:nvPr/>
        </p:nvSpPr>
        <p:spPr>
          <a:xfrm>
            <a:off x="476249" y="1124057"/>
            <a:ext cx="241744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30" dirty="0">
                <a:latin typeface="Book Antiqua"/>
                <a:cs typeface="Book Antiqua"/>
              </a:rPr>
              <a:t>Joint PDF</a:t>
            </a:r>
            <a:endParaRPr sz="1100" dirty="0">
              <a:latin typeface="Book Antiqua"/>
              <a:cs typeface="Book Antiqu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59460">
              <a:lnSpc>
                <a:spcPct val="100000"/>
              </a:lnSpc>
              <a:spcBef>
                <a:spcPts val="135"/>
              </a:spcBef>
            </a:pPr>
            <a:r>
              <a:rPr spc="45"/>
              <a:t>Copyright</a:t>
            </a:r>
            <a:r>
              <a:rPr spc="125"/>
              <a:t> </a:t>
            </a:r>
            <a:r>
              <a:rPr spc="6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1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Copyright</a:t>
            </a:r>
            <a:r>
              <a:rPr sz="12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0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algn="ctr">
              <a:lnSpc>
                <a:spcPct val="102600"/>
              </a:lnSpc>
              <a:spcBef>
                <a:spcPts val="55"/>
              </a:spcBef>
            </a:pPr>
            <a:r>
              <a:rPr sz="1100" spc="-10">
                <a:latin typeface="Book Antiqua"/>
                <a:cs typeface="Book Antiqua"/>
              </a:rPr>
              <a:t>Materials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prepared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and/or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included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protected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by </a:t>
            </a:r>
            <a:r>
              <a:rPr sz="1100" spc="-30">
                <a:latin typeface="Book Antiqua"/>
                <a:cs typeface="Book Antiqua"/>
              </a:rPr>
              <a:t>copyright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law.</a:t>
            </a:r>
            <a:r>
              <a:rPr sz="1100" spc="1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intended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used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only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students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enrolled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during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current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term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should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not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further </a:t>
            </a:r>
            <a:r>
              <a:rPr sz="1100" spc="-30">
                <a:latin typeface="Book Antiqua"/>
                <a:cs typeface="Book Antiqua"/>
              </a:rPr>
              <a:t>disseminated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without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prior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permission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from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instructor.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fld id="{81D60167-4931-47E6-BA6A-407CBD079E47}" type="slidenum">
              <a:rPr spc="-20" dirty="0"/>
              <a:t>3</a:t>
            </a:fld>
            <a:r>
              <a:rPr spc="-20"/>
              <a:t>/40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9955">
              <a:lnSpc>
                <a:spcPct val="100000"/>
              </a:lnSpc>
              <a:spcBef>
                <a:spcPts val="135"/>
              </a:spcBef>
            </a:pPr>
            <a:r>
              <a:rPr spc="75"/>
              <a:t>The</a:t>
            </a:r>
            <a:r>
              <a:rPr spc="204"/>
              <a:t> </a:t>
            </a:r>
            <a:r>
              <a:rPr spc="70"/>
              <a:t>Standard</a:t>
            </a:r>
            <a:r>
              <a:rPr spc="215"/>
              <a:t> </a:t>
            </a:r>
            <a:r>
              <a:t>Normal</a:t>
            </a:r>
            <a:r>
              <a:rPr spc="220"/>
              <a:t> </a:t>
            </a:r>
            <a:r>
              <a:t>in</a:t>
            </a:r>
            <a:r>
              <a:rPr spc="204"/>
              <a:t> </a:t>
            </a:r>
            <a:r>
              <a:rPr spc="70"/>
              <a:t>Python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697319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68056"/>
            <a:ext cx="396684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>
                <a:latin typeface="Book Antiqua"/>
                <a:cs typeface="Book Antiqua"/>
              </a:rPr>
              <a:t>Generate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variables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20">
                <a:latin typeface="Book Antiqua"/>
                <a:cs typeface="Book Antiqua"/>
              </a:rPr>
              <a:t>Compute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PDF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CDF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standard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normal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distribution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907351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1226" y="1186681"/>
            <a:ext cx="1705323" cy="129191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38/40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1580" y="62405"/>
            <a:ext cx="25850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5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40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>
                <a:solidFill>
                  <a:srgbClr val="FFFFFF"/>
                </a:solidFill>
                <a:latin typeface="Times New Roman"/>
                <a:cs typeface="Times New Roman"/>
              </a:rPr>
              <a:t>Standard</a:t>
            </a:r>
            <a:r>
              <a:rPr sz="14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400" spc="2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40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>
                <a:solidFill>
                  <a:srgbClr val="FFFFFF"/>
                </a:solidFill>
                <a:latin typeface="Times New Roman"/>
                <a:cs typeface="Times New Roman"/>
              </a:rPr>
              <a:t>Python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86" y="1049997"/>
            <a:ext cx="4294234" cy="100581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Joint PDF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10" name="Picture 9" descr="Text, letter&#10;&#10;Description automatically generated">
            <a:extLst>
              <a:ext uri="{FF2B5EF4-FFF2-40B4-BE49-F238E27FC236}">
                <a16:creationId xmlns:a16="http://schemas.microsoft.com/office/drawing/2014/main" id="{7818FE94-9A2C-4D34-E857-3B939D565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50" y="763668"/>
            <a:ext cx="4363200" cy="173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77481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Joint PDF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E31FC88B-0C15-1BA0-37C4-0595AFCA7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47" y="584856"/>
            <a:ext cx="4264500" cy="244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48181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Joint PDF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9AB19699-99EA-1DD0-F020-3141F7F42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712"/>
            <a:ext cx="4610100" cy="304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40687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Uniform Joint PDF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302DE125-A2FE-78CA-8A2B-AACC46F77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5087"/>
            <a:ext cx="4610100" cy="14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757570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Uniform Joint PDF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99E242B4-4E10-2880-E4DF-9BC821B00B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095"/>
            <a:ext cx="4610100" cy="184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606074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Uniform Joint PDF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57BAAE54-16DE-FB08-BC3A-73A26BD22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4504"/>
            <a:ext cx="4610100" cy="25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92183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111" y="62405"/>
            <a:ext cx="1708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45" dirty="0"/>
              <a:t> </a:t>
            </a:r>
            <a:r>
              <a:rPr dirty="0"/>
              <a:t>3.10,</a:t>
            </a:r>
            <a:r>
              <a:rPr spc="50" dirty="0"/>
              <a:t> </a:t>
            </a:r>
            <a:r>
              <a:rPr dirty="0"/>
              <a:t>pg</a:t>
            </a:r>
            <a:r>
              <a:rPr spc="45" dirty="0"/>
              <a:t> </a:t>
            </a:r>
            <a:r>
              <a:rPr spc="-25" dirty="0"/>
              <a:t>160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0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06855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39540" y="3353673"/>
            <a:ext cx="211454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0" dirty="0">
                <a:solidFill>
                  <a:srgbClr val="FFFFFF"/>
                </a:solidFill>
                <a:latin typeface="Bookman Old Style"/>
                <a:cs typeface="Bookman Old Style"/>
              </a:rPr>
              <a:t>12/1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84557B-F13E-ABD9-54E3-78A3C97CA725}"/>
              </a:ext>
            </a:extLst>
          </p:cNvPr>
          <p:cNvSpPr txBox="1"/>
          <p:nvPr/>
        </p:nvSpPr>
        <p:spPr>
          <a:xfrm>
            <a:off x="237425" y="651880"/>
            <a:ext cx="27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class exercise 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Marginal PDF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9FD01C14-A4BF-A02D-1C0E-A581CAE0C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569"/>
            <a:ext cx="4610100" cy="27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12550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Marginal PDF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25F32B9B-AE84-CAB7-B2C1-BF53AF098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4540"/>
            <a:ext cx="4610100" cy="147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06091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Joint CDF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0EB22767-B415-0F9D-F991-BF20782BA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2963"/>
            <a:ext cx="4610100" cy="286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88765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Quiz</a:t>
            </a:r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8CE3EDE3-62E2-F8D8-EF5D-804758543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0661"/>
            <a:ext cx="4474147" cy="161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195734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M2AVRSERJEAQ-585345103-43142</_dlc_DocId>
    <_dlc_DocIdUrl xmlns="c01506f5-305e-4c16-814a-34df78f45099">
      <Url>https://uab365.sharepoint.com/sites/provost/cas/departments/cis/_layouts/15/DocIdRedir.aspx?ID=M2AVRSERJEAQ-585345103-43142</Url>
      <Description>M2AVRSERJEAQ-585345103-43142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BE1BDA-650B-422D-8F7E-14B6E1E986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617A19-766C-480E-BDD8-1594BEC3D24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3.xml><?xml version="1.0" encoding="utf-8"?>
<ds:datastoreItem xmlns:ds="http://schemas.openxmlformats.org/officeDocument/2006/customXml" ds:itemID="{31529ECB-A5F4-4E09-8E6F-02E753BEF5C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751D0757-706F-45E6-AED0-C43195016B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347</Words>
  <Application>Microsoft Office PowerPoint</Application>
  <PresentationFormat>Custom</PresentationFormat>
  <Paragraphs>75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Book Antiqua</vt:lpstr>
      <vt:lpstr>Bookman Old Style</vt:lpstr>
      <vt:lpstr>Times New Roman</vt:lpstr>
      <vt:lpstr>Office Theme</vt:lpstr>
      <vt:lpstr>PowerPoint Presentation</vt:lpstr>
      <vt:lpstr>Table of Contents</vt:lpstr>
      <vt:lpstr>Copyright Statement</vt:lpstr>
      <vt:lpstr>The Standard Normal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3.10, pg 160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Probability and Statistics for Computer Scientists</dc:title>
  <dc:creator>Ivan H. Mann III</dc:creator>
  <cp:lastModifiedBy>Geng, Baocheng</cp:lastModifiedBy>
  <cp:revision>4</cp:revision>
  <dcterms:created xsi:type="dcterms:W3CDTF">2023-03-06T22:21:47Z</dcterms:created>
  <dcterms:modified xsi:type="dcterms:W3CDTF">2025-03-21T15:36:31Z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2023-03-06T00:00:00Z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b1f2b436-c38d-47e3-b6e9-4f18e18d25c2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2025-03-21T15:36:05Z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1e7924f9-b89c-41a3-a0f5-70b512636d8d</vt:lpwstr>
  </property>
  <property fmtid="{D5CDD505-2E9C-101B-9397-08002B2CF9AE}" pid="15" name="MSIP_Label_ae7542bc-63e5-412b-b0a0-d9586028a7d0_ContentBits">
    <vt:lpwstr>0</vt:lpwstr>
  </property>
  <property fmtid="{D5CDD505-2E9C-101B-9397-08002B2CF9AE}" pid="16" name="MSIP_Label_ae7542bc-63e5-412b-b0a0-d9586028a7d0_Tag">
    <vt:lpwstr>10, 3, 0, 1</vt:lpwstr>
  </property>
</Properties>
</file>