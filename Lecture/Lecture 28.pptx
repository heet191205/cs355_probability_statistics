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sldIdLst>
    <p:sldId id="256" r:id="rId6"/>
    <p:sldId id="257" r:id="rId7"/>
    <p:sldId id="258" r:id="rId8"/>
    <p:sldId id="331" r:id="rId9"/>
    <p:sldId id="335" r:id="rId10"/>
    <p:sldId id="332" r:id="rId11"/>
    <p:sldId id="334" r:id="rId12"/>
    <p:sldId id="336" r:id="rId13"/>
    <p:sldId id="337" r:id="rId14"/>
    <p:sldId id="338" r:id="rId15"/>
    <p:sldId id="339" r:id="rId16"/>
    <p:sldId id="340" r:id="rId17"/>
    <p:sldId id="341" r:id="rId18"/>
    <p:sldId id="333" r:id="rId19"/>
    <p:sldId id="342" r:id="rId20"/>
    <p:sldId id="343" r:id="rId21"/>
    <p:sldId id="344" r:id="rId22"/>
    <p:sldId id="345" r:id="rId23"/>
    <p:sldId id="349" r:id="rId24"/>
    <p:sldId id="350" r:id="rId25"/>
    <p:sldId id="351" r:id="rId26"/>
    <p:sldId id="346" r:id="rId27"/>
    <p:sldId id="347" r:id="rId28"/>
    <p:sldId id="348" r:id="rId29"/>
    <p:sldId id="352" r:id="rId30"/>
    <p:sldId id="353" r:id="rId31"/>
    <p:sldId id="354" r:id="rId32"/>
    <p:sldId id="355" r:id="rId33"/>
    <p:sldId id="357" r:id="rId34"/>
    <p:sldId id="356" r:id="rId35"/>
    <p:sldId id="358" r:id="rId36"/>
    <p:sldId id="359" r:id="rId37"/>
    <p:sldId id="361" r:id="rId38"/>
    <p:sldId id="360" r:id="rId39"/>
    <p:sldId id="362" r:id="rId40"/>
    <p:sldId id="363" r:id="rId41"/>
    <p:sldId id="364" r:id="rId42"/>
    <p:sldId id="365" r:id="rId43"/>
    <p:sldId id="366" r:id="rId44"/>
    <p:sldId id="367" r:id="rId45"/>
    <p:sldId id="368" r:id="rId46"/>
    <p:sldId id="369" r:id="rId47"/>
    <p:sldId id="370" r:id="rId48"/>
    <p:sldId id="371" r:id="rId49"/>
    <p:sldId id="372" r:id="rId50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567ED7-F0BF-4FF7-B9A0-CE188841BE13}" v="2" dt="2024-04-16T15:06:51.33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75" d="100"/>
          <a:sy n="175" d="100"/>
        </p:scale>
        <p:origin x="1286" y="101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8" Type="http://schemas.openxmlformats.org/officeDocument/2006/relationships/slide" Target="slides/slide3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3703" y="62405"/>
            <a:ext cx="4382693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ts val="670"/>
              </a:lnSpc>
            </a:pPr>
            <a:fld id="{81D60167-4931-47E6-BA6A-407CBD079E47}" type="slidenum">
              <a:rPr spc="-20" dirty="0"/>
              <a:t>‹#›</a:t>
            </a:fld>
            <a:r>
              <a:rPr spc="-20"/>
              <a:t>/40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ts val="670"/>
              </a:lnSpc>
            </a:pPr>
            <a:fld id="{81D60167-4931-47E6-BA6A-407CBD079E47}" type="slidenum">
              <a:rPr spc="-20" dirty="0"/>
              <a:t>‹#›</a:t>
            </a:fld>
            <a:r>
              <a:rPr spc="-20"/>
              <a:t>/40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ts val="670"/>
              </a:lnSpc>
            </a:pPr>
            <a:fld id="{81D60167-4931-47E6-BA6A-407CBD079E47}" type="slidenum">
              <a:rPr spc="-20" dirty="0"/>
              <a:t>‹#›</a:t>
            </a:fld>
            <a:r>
              <a:rPr spc="-20"/>
              <a:t>/40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ts val="670"/>
              </a:lnSpc>
            </a:pPr>
            <a:fld id="{81D60167-4931-47E6-BA6A-407CBD079E47}" type="slidenum">
              <a:rPr spc="-20" dirty="0"/>
              <a:t>‹#›</a:t>
            </a:fld>
            <a:r>
              <a:rPr spc="-20"/>
              <a:t>/40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ts val="670"/>
              </a:lnSpc>
            </a:pPr>
            <a:fld id="{81D60167-4931-47E6-BA6A-407CBD079E47}" type="slidenum">
              <a:rPr spc="-20" dirty="0"/>
              <a:t>‹#›</a:t>
            </a:fld>
            <a:r>
              <a:rPr spc="-20"/>
              <a:t>/40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180"/>
                </a:lnTo>
                <a:lnTo>
                  <a:pt x="4608004" y="355180"/>
                </a:lnTo>
                <a:lnTo>
                  <a:pt x="4608004" y="0"/>
                </a:lnTo>
                <a:close/>
              </a:path>
            </a:pathLst>
          </a:custGeom>
          <a:solidFill>
            <a:srgbClr val="525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6668" y="62405"/>
            <a:ext cx="3156762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844" y="728140"/>
            <a:ext cx="4290695" cy="2108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529" y="3352712"/>
            <a:ext cx="1245870" cy="103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190937" y="3353673"/>
            <a:ext cx="283210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ts val="670"/>
              </a:lnSpc>
            </a:pPr>
            <a:fld id="{81D60167-4931-47E6-BA6A-407CBD079E47}" type="slidenum">
              <a:rPr spc="-20" dirty="0"/>
              <a:t>‹#›</a:t>
            </a:fld>
            <a:r>
              <a:rPr spc="-20"/>
              <a:t>/40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775956"/>
            <a:ext cx="4483735" cy="767715"/>
            <a:chOff x="87743" y="775956"/>
            <a:chExt cx="4483735" cy="767715"/>
          </a:xfrm>
        </p:grpSpPr>
        <p:sp>
          <p:nvSpPr>
            <p:cNvPr id="3" name="object 3"/>
            <p:cNvSpPr/>
            <p:nvPr/>
          </p:nvSpPr>
          <p:spPr>
            <a:xfrm>
              <a:off x="87743" y="775956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839213"/>
              <a:ext cx="4432935" cy="704215"/>
            </a:xfrm>
            <a:custGeom>
              <a:avLst/>
              <a:gdLst/>
              <a:ahLst/>
              <a:cxnLst/>
              <a:rect l="l" t="t" r="r" b="b"/>
              <a:pathLst>
                <a:path w="4432935" h="704215">
                  <a:moveTo>
                    <a:pt x="4432566" y="0"/>
                  </a:moveTo>
                  <a:lnTo>
                    <a:pt x="0" y="0"/>
                  </a:lnTo>
                  <a:lnTo>
                    <a:pt x="0" y="703964"/>
                  </a:lnTo>
                  <a:lnTo>
                    <a:pt x="4432566" y="703964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820376"/>
              <a:ext cx="4432935" cy="672465"/>
            </a:xfrm>
            <a:custGeom>
              <a:avLst/>
              <a:gdLst/>
              <a:ahLst/>
              <a:cxnLst/>
              <a:rect l="l" t="t" r="r" b="b"/>
              <a:pathLst>
                <a:path w="4432935" h="672465">
                  <a:moveTo>
                    <a:pt x="4432566" y="0"/>
                  </a:moveTo>
                  <a:lnTo>
                    <a:pt x="0" y="0"/>
                  </a:lnTo>
                  <a:lnTo>
                    <a:pt x="0" y="621200"/>
                  </a:lnTo>
                  <a:lnTo>
                    <a:pt x="4008" y="640925"/>
                  </a:lnTo>
                  <a:lnTo>
                    <a:pt x="14922" y="657078"/>
                  </a:lnTo>
                  <a:lnTo>
                    <a:pt x="31075" y="667992"/>
                  </a:lnTo>
                  <a:lnTo>
                    <a:pt x="50800" y="672001"/>
                  </a:lnTo>
                  <a:lnTo>
                    <a:pt x="4381765" y="672001"/>
                  </a:lnTo>
                  <a:lnTo>
                    <a:pt x="4401490" y="667992"/>
                  </a:lnTo>
                  <a:lnTo>
                    <a:pt x="4417643" y="657078"/>
                  </a:lnTo>
                  <a:lnTo>
                    <a:pt x="4428558" y="640925"/>
                  </a:lnTo>
                  <a:lnTo>
                    <a:pt x="4432566" y="621200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8544" y="839213"/>
            <a:ext cx="4432935" cy="70421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520"/>
              </a:spcBef>
            </a:pP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CS</a:t>
            </a:r>
            <a:r>
              <a:rPr sz="1400" spc="1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FFFFFF"/>
                </a:solidFill>
                <a:latin typeface="Times New Roman"/>
                <a:cs typeface="Times New Roman"/>
              </a:rPr>
              <a:t>355/555</a:t>
            </a:r>
            <a:endParaRPr sz="1400">
              <a:latin typeface="Times New Roman"/>
              <a:cs typeface="Times New Roman"/>
            </a:endParaRPr>
          </a:p>
          <a:p>
            <a:pPr marR="93980" algn="ctr">
              <a:lnSpc>
                <a:spcPct val="100000"/>
              </a:lnSpc>
              <a:spcBef>
                <a:spcPts val="114"/>
              </a:spcBef>
            </a:pPr>
            <a:r>
              <a:rPr sz="1400" spc="55">
                <a:solidFill>
                  <a:srgbClr val="FFFFFF"/>
                </a:solidFill>
                <a:latin typeface="Times New Roman"/>
                <a:cs typeface="Times New Roman"/>
              </a:rPr>
              <a:t>Probability</a:t>
            </a:r>
            <a:r>
              <a:rPr sz="1400" spc="1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7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400" spc="1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50">
                <a:solidFill>
                  <a:srgbClr val="FFFFFF"/>
                </a:solidFill>
                <a:latin typeface="Times New Roman"/>
                <a:cs typeface="Times New Roman"/>
              </a:rPr>
              <a:t>Statistics</a:t>
            </a:r>
            <a:r>
              <a:rPr sz="1400" spc="1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400" spc="1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65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1400" spc="1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FFFFFF"/>
                </a:solidFill>
                <a:latin typeface="Times New Roman"/>
                <a:cs typeface="Times New Roman"/>
              </a:rPr>
              <a:t>Scientists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5985" y="1700922"/>
            <a:ext cx="1587904" cy="69634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spc="-10" dirty="0">
                <a:latin typeface="Book Antiqua"/>
                <a:cs typeface="Book Antiqua"/>
              </a:rPr>
              <a:t>Baocheng Geng</a:t>
            </a: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 dirty="0">
              <a:latin typeface="Book Antiqua"/>
              <a:cs typeface="Book Antiqua"/>
            </a:endParaRPr>
          </a:p>
          <a:p>
            <a:pPr marL="19685">
              <a:lnSpc>
                <a:spcPct val="100000"/>
              </a:lnSpc>
              <a:spcBef>
                <a:spcPts val="5"/>
              </a:spcBef>
            </a:pPr>
            <a:r>
              <a:rPr lang="en-US" sz="1100" dirty="0">
                <a:latin typeface="Book Antiqua"/>
                <a:cs typeface="Book Antiqua"/>
              </a:rPr>
              <a:t>Lecture 28, 04/16/2025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506855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960">
              <a:lnSpc>
                <a:spcPts val="670"/>
              </a:lnSpc>
            </a:pPr>
            <a:fld id="{81D60167-4931-47E6-BA6A-407CBD079E47}" type="slidenum">
              <a:rPr spc="-20" dirty="0"/>
              <a:t>1</a:t>
            </a:fld>
            <a:r>
              <a:rPr spc="-20"/>
              <a:t>/40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82650">
              <a:lnSpc>
                <a:spcPct val="100000"/>
              </a:lnSpc>
              <a:spcBef>
                <a:spcPts val="135"/>
              </a:spcBef>
            </a:pPr>
            <a:r>
              <a:t>Table</a:t>
            </a:r>
            <a:r>
              <a:rPr spc="180"/>
              <a:t> </a:t>
            </a:r>
            <a:r>
              <a:t>of</a:t>
            </a:r>
            <a:r>
              <a:rPr spc="180"/>
              <a:t> </a:t>
            </a:r>
            <a:r>
              <a:rPr spc="45"/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6250" y="649882"/>
            <a:ext cx="241744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spc="-30" dirty="0">
                <a:latin typeface="Book Antiqua"/>
                <a:cs typeface="Book Antiqua"/>
              </a:rPr>
              <a:t>C</a:t>
            </a:r>
            <a:r>
              <a:rPr lang="en-US" altLang="zh-CN" sz="1100" spc="-30" dirty="0">
                <a:latin typeface="Book Antiqua"/>
                <a:cs typeface="Book Antiqua"/>
              </a:rPr>
              <a:t>entral Limit Theorem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506855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960">
              <a:lnSpc>
                <a:spcPts val="670"/>
              </a:lnSpc>
            </a:pPr>
            <a:fld id="{81D60167-4931-47E6-BA6A-407CBD079E47}" type="slidenum">
              <a:rPr spc="-20" dirty="0"/>
              <a:t>2</a:t>
            </a:fld>
            <a:r>
              <a:rPr spc="-20"/>
              <a:t>/40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D96192CA-7706-3E2D-7FD6-4BDEB2571DA2}"/>
              </a:ext>
            </a:extLst>
          </p:cNvPr>
          <p:cNvSpPr txBox="1"/>
          <p:nvPr/>
        </p:nvSpPr>
        <p:spPr>
          <a:xfrm>
            <a:off x="476249" y="1124057"/>
            <a:ext cx="241744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spc="-30" dirty="0">
                <a:latin typeface="Book Antiqua"/>
                <a:cs typeface="Book Antiqua"/>
              </a:rPr>
              <a:t>Covariance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DC693127-DFA8-3754-6D3E-0599C5495BB1}"/>
              </a:ext>
            </a:extLst>
          </p:cNvPr>
          <p:cNvSpPr txBox="1"/>
          <p:nvPr/>
        </p:nvSpPr>
        <p:spPr>
          <a:xfrm>
            <a:off x="476249" y="1583390"/>
            <a:ext cx="241744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spc="-30" dirty="0">
                <a:latin typeface="Book Antiqua"/>
                <a:cs typeface="Book Antiqua"/>
              </a:rPr>
              <a:t>Linear Regression</a:t>
            </a:r>
            <a:endParaRPr sz="1100" dirty="0">
              <a:latin typeface="Book Antiqua"/>
              <a:cs typeface="Book Antiqu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59460">
              <a:lnSpc>
                <a:spcPct val="100000"/>
              </a:lnSpc>
              <a:spcBef>
                <a:spcPts val="135"/>
              </a:spcBef>
            </a:pPr>
            <a:r>
              <a:rPr spc="45"/>
              <a:t>Copyright</a:t>
            </a:r>
            <a:r>
              <a:rPr spc="125"/>
              <a:t> </a:t>
            </a:r>
            <a:r>
              <a:rPr spc="60"/>
              <a:t>Statement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215326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22615" y="1245001"/>
            <a:ext cx="136334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Copyright</a:t>
            </a:r>
            <a:r>
              <a:rPr sz="1200" spc="2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>
                <a:solidFill>
                  <a:srgbClr val="FFFFFF"/>
                </a:solidFill>
                <a:latin typeface="Times New Roman"/>
                <a:cs typeface="Times New Roman"/>
              </a:rPr>
              <a:t>Statement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423300"/>
            <a:ext cx="4432935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9209" marR="123825" algn="ctr">
              <a:lnSpc>
                <a:spcPct val="102600"/>
              </a:lnSpc>
              <a:spcBef>
                <a:spcPts val="55"/>
              </a:spcBef>
            </a:pPr>
            <a:r>
              <a:rPr sz="1100" spc="-10">
                <a:latin typeface="Book Antiqua"/>
                <a:cs typeface="Book Antiqua"/>
              </a:rPr>
              <a:t>Materials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prepared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for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40">
                <a:latin typeface="Book Antiqua"/>
                <a:cs typeface="Book Antiqua"/>
              </a:rPr>
              <a:t>and/or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35">
                <a:latin typeface="Book Antiqua"/>
                <a:cs typeface="Book Antiqua"/>
              </a:rPr>
              <a:t>included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in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this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course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are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protected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by </a:t>
            </a:r>
            <a:r>
              <a:rPr sz="1100" spc="-30">
                <a:latin typeface="Book Antiqua"/>
                <a:cs typeface="Book Antiqua"/>
              </a:rPr>
              <a:t>copyright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law.</a:t>
            </a:r>
            <a:r>
              <a:rPr sz="1100" spc="1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They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are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intended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to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be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used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only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by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students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enrolled </a:t>
            </a:r>
            <a:r>
              <a:rPr sz="1100">
                <a:latin typeface="Book Antiqua"/>
                <a:cs typeface="Book Antiqua"/>
              </a:rPr>
              <a:t>in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this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course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during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current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term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should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not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be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further </a:t>
            </a:r>
            <a:r>
              <a:rPr sz="1100" spc="-30">
                <a:latin typeface="Book Antiqua"/>
                <a:cs typeface="Book Antiqua"/>
              </a:rPr>
              <a:t>disseminated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without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prior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permission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from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course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instructor.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506855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960">
              <a:lnSpc>
                <a:spcPts val="670"/>
              </a:lnSpc>
            </a:pPr>
            <a:fld id="{81D60167-4931-47E6-BA6A-407CBD079E47}" type="slidenum">
              <a:rPr spc="-20" dirty="0"/>
              <a:t>3</a:t>
            </a:fld>
            <a:r>
              <a:rPr spc="-20"/>
              <a:t>/40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Central Limit Theorem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E7173950-1681-2743-F3F8-84BC1FBE93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4592"/>
            <a:ext cx="4610100" cy="83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195734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Central Limit Theorem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46B7B9E3-7AC8-F9AA-D881-0140933553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249"/>
            <a:ext cx="4610100" cy="279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9763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Central Limit Theorem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BEE86E41-C058-CEFA-F512-B90C49B945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2219"/>
            <a:ext cx="4610100" cy="257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558507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Central Limit Theorem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A2169E61-DAEF-446D-C2BD-578FF8A0C8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8808"/>
            <a:ext cx="4610100" cy="121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750364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Central Limit Theorem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5" name="Picture 4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DE7612B8-2D52-FCDC-2BC3-2AB6C4EDD2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4642"/>
            <a:ext cx="4610100" cy="197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916282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Central Limit Theorem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10" name="Picture 9" descr="A math equations and formulas&#10;&#10;Description automatically generated with medium confidence">
            <a:extLst>
              <a:ext uri="{FF2B5EF4-FFF2-40B4-BE49-F238E27FC236}">
                <a16:creationId xmlns:a16="http://schemas.microsoft.com/office/drawing/2014/main" id="{292171BD-9CF0-776D-7C7D-5082918BA3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2337"/>
            <a:ext cx="4610100" cy="1636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801394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Central Limit Theorem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78E73E85-B6F5-CBAE-9CBF-A144AC8155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3878"/>
            <a:ext cx="4610100" cy="141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640222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Central Limit Theorem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9E168DE7-9E30-E57B-86DB-0FC34FF42B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9178"/>
            <a:ext cx="4610100" cy="148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148294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Central Limit Theorem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0846323E-751F-A40C-4984-F2C517E2E8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4050"/>
            <a:ext cx="4610100" cy="269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887142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94311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dirty="0">
                <a:solidFill>
                  <a:schemeClr val="bg1"/>
                </a:solidFill>
              </a:rPr>
              <a:t>Covariance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8B48F3E6-2634-8545-C8B6-90EB2C6E4E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646" y="367351"/>
            <a:ext cx="2022094" cy="29220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3BFB29-BE15-F2C9-1021-A50C3E826126}"/>
              </a:ext>
            </a:extLst>
          </p:cNvPr>
          <p:cNvSpPr txBox="1"/>
          <p:nvPr/>
        </p:nvSpPr>
        <p:spPr>
          <a:xfrm>
            <a:off x="2361111" y="1165859"/>
            <a:ext cx="205413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If x changes, how y changes?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If I know x, how I predict y?</a:t>
            </a:r>
          </a:p>
        </p:txBody>
      </p:sp>
    </p:spTree>
    <p:extLst>
      <p:ext uri="{BB962C8B-B14F-4D97-AF65-F5344CB8AC3E}">
        <p14:creationId xmlns:p14="http://schemas.microsoft.com/office/powerpoint/2010/main" val="2789368655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Covariance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A5232FCF-3585-B43C-FBAB-8FF8FB3427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743"/>
            <a:ext cx="4610100" cy="107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444048"/>
      </p:ext>
    </p:extLst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Covariance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04F3C94E-CD35-62CD-034C-A54B0AE030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1282"/>
            <a:ext cx="4610100" cy="155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526067"/>
      </p:ext>
    </p:extLst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Covariance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4546070B-8774-B142-B6CF-2FED6A6059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2070"/>
            <a:ext cx="4610100" cy="255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097178"/>
      </p:ext>
    </p:extLst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Covariance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E88A32A2-A81E-8A92-5CB1-69D4FDDEA1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671"/>
            <a:ext cx="4610100" cy="2731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051202"/>
      </p:ext>
    </p:extLst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Covariance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4" name="Picture 3" descr="Text, letter&#10;&#10;Description automatically generated">
            <a:extLst>
              <a:ext uri="{FF2B5EF4-FFF2-40B4-BE49-F238E27FC236}">
                <a16:creationId xmlns:a16="http://schemas.microsoft.com/office/drawing/2014/main" id="{4796D902-6083-5FEC-3C2A-507D0E6E0B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8723"/>
            <a:ext cx="4610100" cy="1657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379012"/>
      </p:ext>
    </p:extLst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Covariance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2F3B07CD-CF9D-D25F-5F4E-8B1FB477CD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2057"/>
            <a:ext cx="4610100" cy="216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017911"/>
      </p:ext>
    </p:extLst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Covariance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7DA1D092-6135-19BF-B9B5-310D3CF3CA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4314"/>
            <a:ext cx="4610100" cy="243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037161"/>
      </p:ext>
    </p:extLst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Covariance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BEB6E16B-C192-B9D7-FE15-57A82D1E47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1888"/>
            <a:ext cx="4610100" cy="1736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470232"/>
      </p:ext>
    </p:extLst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Covariance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10" name="Picture 9" descr="Text, letter&#10;&#10;Description automatically generated">
            <a:extLst>
              <a:ext uri="{FF2B5EF4-FFF2-40B4-BE49-F238E27FC236}">
                <a16:creationId xmlns:a16="http://schemas.microsoft.com/office/drawing/2014/main" id="{18A7E39D-2456-3B55-A7FA-5B6C49E8E0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1265"/>
            <a:ext cx="4610100" cy="1503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382055"/>
      </p:ext>
    </p:extLst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Covariance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4D7A2FEF-F360-8BA7-FB11-5702E6D14C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5453"/>
            <a:ext cx="4610100" cy="1263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30553"/>
      </p:ext>
    </p:extLst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Covariance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4" name="Picture 3" descr="Text, letter&#10;&#10;Description automatically generated">
            <a:extLst>
              <a:ext uri="{FF2B5EF4-FFF2-40B4-BE49-F238E27FC236}">
                <a16:creationId xmlns:a16="http://schemas.microsoft.com/office/drawing/2014/main" id="{5F4D0357-81F9-964F-D12B-EA8B331C9B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6455"/>
            <a:ext cx="4610100" cy="188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496866"/>
      </p:ext>
    </p:extLst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Covariance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E1833E4B-8A6C-6B3A-00DD-35F27DFCAF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4452"/>
            <a:ext cx="4610100" cy="2118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781342"/>
      </p:ext>
    </p:extLst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Covariance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5" name="Picture 4" descr="Text, table&#10;&#10;Description automatically generated with medium confidence">
            <a:extLst>
              <a:ext uri="{FF2B5EF4-FFF2-40B4-BE49-F238E27FC236}">
                <a16:creationId xmlns:a16="http://schemas.microsoft.com/office/drawing/2014/main" id="{318FB132-7416-03D2-1049-36B1AFA054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6056"/>
            <a:ext cx="4610100" cy="2508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777716"/>
      </p:ext>
    </p:extLst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Covariance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E05C92C2-D6E2-E4D0-88B1-50FF83E289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5683"/>
            <a:ext cx="4610100" cy="133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745087"/>
      </p:ext>
    </p:extLst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Covariance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087697AD-2B7F-6509-CF5E-C7F59513DE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6346"/>
            <a:ext cx="4610100" cy="897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239726"/>
      </p:ext>
    </p:extLst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Covariance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4" name="Picture 3" descr="Text, letter&#10;&#10;Description automatically generated">
            <a:extLst>
              <a:ext uri="{FF2B5EF4-FFF2-40B4-BE49-F238E27FC236}">
                <a16:creationId xmlns:a16="http://schemas.microsoft.com/office/drawing/2014/main" id="{1C30E626-5640-D811-5BF8-14E3BD3168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" y="373170"/>
            <a:ext cx="4610100" cy="271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509682"/>
      </p:ext>
    </p:extLst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Covariance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4" name="Picture 3" descr="Text&#10;&#10;Description automatically generated with low confidence">
            <a:extLst>
              <a:ext uri="{FF2B5EF4-FFF2-40B4-BE49-F238E27FC236}">
                <a16:creationId xmlns:a16="http://schemas.microsoft.com/office/drawing/2014/main" id="{992C1AE0-3747-2FB8-CF61-424BAAEA38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5711"/>
            <a:ext cx="4610100" cy="1957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418198"/>
      </p:ext>
    </p:extLst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Covariance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D2659BC2-0324-713F-AE2A-5BF0081530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5189"/>
            <a:ext cx="4610100" cy="68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175624"/>
      </p:ext>
    </p:extLst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Covariance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4" name="Picture 3" descr="Text, letter&#10;&#10;Description automatically generated">
            <a:extLst>
              <a:ext uri="{FF2B5EF4-FFF2-40B4-BE49-F238E27FC236}">
                <a16:creationId xmlns:a16="http://schemas.microsoft.com/office/drawing/2014/main" id="{60FF1972-9CCF-5ECF-960E-B9C23A27D91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4868"/>
            <a:ext cx="4610100" cy="181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416922"/>
      </p:ext>
    </p:extLst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Linear Regression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4" name="Picture 3" descr="Chart, scatter chart&#10;&#10;Description automatically generated">
            <a:extLst>
              <a:ext uri="{FF2B5EF4-FFF2-40B4-BE49-F238E27FC236}">
                <a16:creationId xmlns:a16="http://schemas.microsoft.com/office/drawing/2014/main" id="{A1340B30-0A43-49CE-393A-6F7BB6A199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29" y="360642"/>
            <a:ext cx="4610100" cy="302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508940"/>
      </p:ext>
    </p:extLst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Linear Regression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4AA1985B-4FE4-3D30-3C32-F66431B3CD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176"/>
            <a:ext cx="4610100" cy="1013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405291"/>
      </p:ext>
    </p:extLst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Linear Regression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4" name="Picture 3" descr="Graphical user interface&#10;&#10;Description automatically generated">
            <a:extLst>
              <a:ext uri="{FF2B5EF4-FFF2-40B4-BE49-F238E27FC236}">
                <a16:creationId xmlns:a16="http://schemas.microsoft.com/office/drawing/2014/main" id="{CB93661F-A359-6B0C-EF23-2D69430272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7" y="711123"/>
            <a:ext cx="4610100" cy="77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025432"/>
      </p:ext>
    </p:extLst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Linear Regression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4" name="Picture 3" descr="A picture containing application&#10;&#10;Description automatically generated">
            <a:extLst>
              <a:ext uri="{FF2B5EF4-FFF2-40B4-BE49-F238E27FC236}">
                <a16:creationId xmlns:a16="http://schemas.microsoft.com/office/drawing/2014/main" id="{73ADF40B-56B1-A875-7AED-7AF52B8558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6279"/>
            <a:ext cx="4610100" cy="904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399943"/>
      </p:ext>
    </p:extLst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Linear Regression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4" name="Picture 3" descr="Chart, scatter chart&#10;&#10;Description automatically generated">
            <a:extLst>
              <a:ext uri="{FF2B5EF4-FFF2-40B4-BE49-F238E27FC236}">
                <a16:creationId xmlns:a16="http://schemas.microsoft.com/office/drawing/2014/main" id="{A4F9E2D5-EB81-8AFD-050D-C7BDDAD27C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9379"/>
            <a:ext cx="4610100" cy="250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770662"/>
      </p:ext>
    </p:extLst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Linear Regression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4" name="Picture 3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71254370-9C59-55AE-109C-DD62793463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6697"/>
            <a:ext cx="4610100" cy="947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164472"/>
      </p:ext>
    </p:extLst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Linear Regression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F19031F1-8F27-73C3-0183-4D25A24761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96623"/>
            <a:ext cx="4610100" cy="1267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552214"/>
      </p:ext>
    </p:extLst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Linear Regression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10" name="Picture 9" descr="Diagram&#10;&#10;Description automatically generated">
            <a:extLst>
              <a:ext uri="{FF2B5EF4-FFF2-40B4-BE49-F238E27FC236}">
                <a16:creationId xmlns:a16="http://schemas.microsoft.com/office/drawing/2014/main" id="{730FF7C3-1F14-5B90-5FC3-5AD7EC3A2A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937"/>
            <a:ext cx="4610100" cy="285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879017"/>
      </p:ext>
    </p:extLst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Linear Regression example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21057CE0-9A9C-4855-F7AD-AD7AC4C971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29" y="1413511"/>
            <a:ext cx="4610100" cy="10649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3FB94B-053F-BBA8-6D05-37C8B96297E9}"/>
              </a:ext>
            </a:extLst>
          </p:cNvPr>
          <p:cNvSpPr txBox="1"/>
          <p:nvPr/>
        </p:nvSpPr>
        <p:spPr>
          <a:xfrm>
            <a:off x="143691" y="809897"/>
            <a:ext cx="4047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x: year, y: leaning tower of </a:t>
            </a:r>
            <a:r>
              <a:rPr lang="en-US" dirty="0" err="1"/>
              <a:t>Pista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799761"/>
      </p:ext>
    </p:extLst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Linear Regression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5" name="Picture 4" descr="A picture containing letter&#10;&#10;Description automatically generated">
            <a:extLst>
              <a:ext uri="{FF2B5EF4-FFF2-40B4-BE49-F238E27FC236}">
                <a16:creationId xmlns:a16="http://schemas.microsoft.com/office/drawing/2014/main" id="{3AD92AD5-377E-C594-4DAB-7DD1BF14B2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4068"/>
            <a:ext cx="4610100" cy="937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410419"/>
      </p:ext>
    </p:extLst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Linear Regression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5" name="Picture 4" descr="Diagram&#10;&#10;Description automatically generated with low confidence">
            <a:extLst>
              <a:ext uri="{FF2B5EF4-FFF2-40B4-BE49-F238E27FC236}">
                <a16:creationId xmlns:a16="http://schemas.microsoft.com/office/drawing/2014/main" id="{E0BFE80A-6BA8-66FF-46F3-96FAFD7149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0045"/>
            <a:ext cx="4610100" cy="2200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159951"/>
      </p:ext>
    </p:extLst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Linear Regression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4" name="Picture 3" descr="Chart, scatter chart&#10;&#10;Description automatically generated">
            <a:extLst>
              <a:ext uri="{FF2B5EF4-FFF2-40B4-BE49-F238E27FC236}">
                <a16:creationId xmlns:a16="http://schemas.microsoft.com/office/drawing/2014/main" id="{92185363-CC13-9F07-93E1-24C6388A44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3854"/>
            <a:ext cx="4610100" cy="2653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286371"/>
      </p:ext>
    </p:extLst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399" y="72202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Linear Regression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4" name="Picture 3" descr="Text&#10;&#10;Description automatically generated with low confidence">
            <a:extLst>
              <a:ext uri="{FF2B5EF4-FFF2-40B4-BE49-F238E27FC236}">
                <a16:creationId xmlns:a16="http://schemas.microsoft.com/office/drawing/2014/main" id="{1A43D40E-059E-AFAF-5E35-45C56D2576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1107"/>
            <a:ext cx="4610100" cy="183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747077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c01506f5-305e-4c16-814a-34df78f45099" xsi:nil="true"/>
    <lcf76f155ced4ddcb4097134ff3c332f xmlns="89fcee1f-ef3f-45b6-92f6-d5fcc1f0d356">
      <Terms xmlns="http://schemas.microsoft.com/office/infopath/2007/PartnerControls"/>
    </lcf76f155ced4ddcb4097134ff3c332f>
    <_ip_UnifiedCompliancePolicyProperties xmlns="http://schemas.microsoft.com/sharepoint/v3" xsi:nil="true"/>
    <_dlc_DocId xmlns="c01506f5-305e-4c16-814a-34df78f45099">M2AVRSERJEAQ-585345103-43154</_dlc_DocId>
    <_dlc_DocIdUrl xmlns="c01506f5-305e-4c16-814a-34df78f45099">
      <Url>https://uab365.sharepoint.com/sites/provost/cas/departments/cis/_layouts/15/DocIdRedir.aspx?ID=M2AVRSERJEAQ-585345103-43154</Url>
      <Description>M2AVRSERJEAQ-585345103-43154</Description>
    </_dlc_DocIdUrl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1541AA9D2DF54EAD9E3EC334D2D1DF" ma:contentTypeVersion="389" ma:contentTypeDescription="Create a new document." ma:contentTypeScope="" ma:versionID="ee9d5b04bdbfe709e97b1d67d5c11c54">
  <xsd:schema xmlns:xsd="http://www.w3.org/2001/XMLSchema" xmlns:xs="http://www.w3.org/2001/XMLSchema" xmlns:p="http://schemas.microsoft.com/office/2006/metadata/properties" xmlns:ns1="http://schemas.microsoft.com/sharepoint/v3" xmlns:ns2="c01506f5-305e-4c16-814a-34df78f45099" xmlns:ns3="89fcee1f-ef3f-45b6-92f6-d5fcc1f0d356" xmlns:ns4="62eb5de7-a296-4932-8c46-6bd9a6968804" targetNamespace="http://schemas.microsoft.com/office/2006/metadata/properties" ma:root="true" ma:fieldsID="f257ade738029761462c5025b24c41f5" ns1:_="" ns2:_="" ns3:_="" ns4:_="">
    <xsd:import namespace="http://schemas.microsoft.com/sharepoint/v3"/>
    <xsd:import namespace="c01506f5-305e-4c16-814a-34df78f45099"/>
    <xsd:import namespace="89fcee1f-ef3f-45b6-92f6-d5fcc1f0d356"/>
    <xsd:import namespace="62eb5de7-a296-4932-8c46-6bd9a696880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1:_ip_UnifiedCompliancePolicyProperties" minOccurs="0"/>
                <xsd:element ref="ns1:_ip_UnifiedCompliancePolicyUIAction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1506f5-305e-4c16-814a-34df78f4509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28" nillable="true" ma:displayName="Taxonomy Catch All Column" ma:hidden="true" ma:list="{bfc68881-a71c-43b4-810a-1656967a577f}" ma:internalName="TaxCatchAll" ma:showField="CatchAllData" ma:web="c01506f5-305e-4c16-814a-34df78f450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cee1f-ef3f-45b6-92f6-d5fcc1f0d3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ecb661bd-580e-4f87-9e86-f3e9db1d3ba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eb5de7-a296-4932-8c46-6bd9a6968804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5D38716-40C6-4253-9B64-0817D81A8E6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c01506f5-305e-4c16-814a-34df78f45099"/>
    <ds:schemaRef ds:uri="89fcee1f-ef3f-45b6-92f6-d5fcc1f0d356"/>
  </ds:schemaRefs>
</ds:datastoreItem>
</file>

<file path=customXml/itemProps2.xml><?xml version="1.0" encoding="utf-8"?>
<ds:datastoreItem xmlns:ds="http://schemas.openxmlformats.org/officeDocument/2006/customXml" ds:itemID="{8B42E1FA-861E-4582-ABAF-7F0AECCCC98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C41B65-F99A-49FA-8519-8A5C1CCE66B8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B4F253E3-84FC-4B20-93C8-922C89B4EC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01506f5-305e-4c16-814a-34df78f45099"/>
    <ds:schemaRef ds:uri="89fcee1f-ef3f-45b6-92f6-d5fcc1f0d356"/>
    <ds:schemaRef ds:uri="62eb5de7-a296-4932-8c46-6bd9a69688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</TotalTime>
  <Words>806</Words>
  <Application>Microsoft Office PowerPoint</Application>
  <PresentationFormat>Custom</PresentationFormat>
  <Paragraphs>193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Book Antiqua</vt:lpstr>
      <vt:lpstr>Bookman Old Style</vt:lpstr>
      <vt:lpstr>Times New Roman</vt:lpstr>
      <vt:lpstr>Office Theme</vt:lpstr>
      <vt:lpstr>PowerPoint Presentation</vt:lpstr>
      <vt:lpstr>Table of Contents</vt:lpstr>
      <vt:lpstr>Copyright Statement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355/555 Probability and Statistics for Computer Scientists</dc:title>
  <dc:creator>Ivan H. Mann III</dc:creator>
  <cp:lastModifiedBy>Geng, Baocheng</cp:lastModifiedBy>
  <cp:revision>4</cp:revision>
  <dcterms:created xsi:type="dcterms:W3CDTF">2023-03-06T22:21:47Z</dcterms:created>
  <dcterms:modified xsi:type="dcterms:W3CDTF">2025-04-16T16:20:56Z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2022-10-06T00:00:00Z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2023-03-06T00:00:00Z</vt:filetime>
  </property>
  <property fmtid="{D5CDD505-2E9C-101B-9397-08002B2CF9AE}" pid="5" name="PTEX.Fullbanner">
    <vt:lpwstr>This is pdfTeX, Version 3.141592653-2.6-1.40.22 (TeX Live 2022/dev/Debian) kpathsea version 6.3.4/dev</vt:lpwstr>
  </property>
  <property fmtid="{D5CDD505-2E9C-101B-9397-08002B2CF9AE}" pid="6" name="Producer">
    <vt:lpwstr>pdfTeX-1.40.22</vt:lpwstr>
  </property>
  <property fmtid="{D5CDD505-2E9C-101B-9397-08002B2CF9AE}" pid="7" name="ContentTypeId">
    <vt:lpwstr>0x0101005E1541AA9D2DF54EAD9E3EC334D2D1DF</vt:lpwstr>
  </property>
  <property fmtid="{D5CDD505-2E9C-101B-9397-08002B2CF9AE}" pid="8" name="_dlc_DocIdItemGuid">
    <vt:lpwstr>5845661d-bc2f-45e1-bd64-a2644e58bc99</vt:lpwstr>
  </property>
  <property fmtid="{D5CDD505-2E9C-101B-9397-08002B2CF9AE}" pid="9" name="MSIP_Label_ae7542bc-63e5-412b-b0a0-d9586028a7d0_Enabled">
    <vt:lpwstr>true</vt:lpwstr>
  </property>
  <property fmtid="{D5CDD505-2E9C-101B-9397-08002B2CF9AE}" pid="10" name="MSIP_Label_ae7542bc-63e5-412b-b0a0-d9586028a7d0_SetDate">
    <vt:lpwstr>2025-04-16T16:20:43Z</vt:lpwstr>
  </property>
  <property fmtid="{D5CDD505-2E9C-101B-9397-08002B2CF9AE}" pid="11" name="MSIP_Label_ae7542bc-63e5-412b-b0a0-d9586028a7d0_Method">
    <vt:lpwstr>Standard</vt:lpwstr>
  </property>
  <property fmtid="{D5CDD505-2E9C-101B-9397-08002B2CF9AE}" pid="12" name="MSIP_Label_ae7542bc-63e5-412b-b0a0-d9586028a7d0_Name">
    <vt:lpwstr>Sensitive</vt:lpwstr>
  </property>
  <property fmtid="{D5CDD505-2E9C-101B-9397-08002B2CF9AE}" pid="13" name="MSIP_Label_ae7542bc-63e5-412b-b0a0-d9586028a7d0_SiteId">
    <vt:lpwstr>d8999fe4-76af-40b3-b435-1d8977abc08c</vt:lpwstr>
  </property>
  <property fmtid="{D5CDD505-2E9C-101B-9397-08002B2CF9AE}" pid="14" name="MSIP_Label_ae7542bc-63e5-412b-b0a0-d9586028a7d0_ActionId">
    <vt:lpwstr>5320bcb2-1d24-43a9-b102-2c378b94546c</vt:lpwstr>
  </property>
  <property fmtid="{D5CDD505-2E9C-101B-9397-08002B2CF9AE}" pid="15" name="MSIP_Label_ae7542bc-63e5-412b-b0a0-d9586028a7d0_ContentBits">
    <vt:lpwstr>0</vt:lpwstr>
  </property>
  <property fmtid="{D5CDD505-2E9C-101B-9397-08002B2CF9AE}" pid="16" name="MSIP_Label_ae7542bc-63e5-412b-b0a0-d9586028a7d0_Tag">
    <vt:lpwstr>10, 3, 0, 1</vt:lpwstr>
  </property>
</Properties>
</file>