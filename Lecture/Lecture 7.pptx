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8" r:id="rId17"/>
    <p:sldId id="267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10" r:id="rId53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25E8D-7F9F-86EC-F38F-FCD472C14E73}" v="8" dt="2024-01-25T04:46:40.255"/>
    <p1510:client id="{E8EC15FB-D88D-4476-B3C4-1F43FA965D76}" v="14" dt="2024-01-25T17:28:57.2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51" autoAdjust="0"/>
    <p:restoredTop sz="92316" autoAdjust="0"/>
  </p:normalViewPr>
  <p:slideViewPr>
    <p:cSldViewPr snapToGrid="0">
      <p:cViewPr varScale="1">
        <p:scale>
          <a:sx n="237" d="100"/>
          <a:sy n="237" d="100"/>
        </p:scale>
        <p:origin x="1882" y="13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5/10/relationships/revisionInfo" Target="revisionInfo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S::bgeng@uab.edu::b4253f3e-c40b-4a70-8207-93818653a34c" providerId="AD" clId="Web-{79725E8D-7F9F-86EC-F38F-FCD472C14E73}"/>
    <pc:docChg chg="delSld modSld">
      <pc:chgData name="Geng, Baocheng" userId="S::bgeng@uab.edu::b4253f3e-c40b-4a70-8207-93818653a34c" providerId="AD" clId="Web-{79725E8D-7F9F-86EC-F38F-FCD472C14E73}" dt="2024-01-25T04:46:40.255" v="3"/>
      <pc:docMkLst>
        <pc:docMk/>
      </pc:docMkLst>
      <pc:sldChg chg="modSp">
        <pc:chgData name="Geng, Baocheng" userId="S::bgeng@uab.edu::b4253f3e-c40b-4a70-8207-93818653a34c" providerId="AD" clId="Web-{79725E8D-7F9F-86EC-F38F-FCD472C14E73}" dt="2024-01-25T04:17:39.964" v="1" actId="20577"/>
        <pc:sldMkLst>
          <pc:docMk/>
          <pc:sldMk cId="0" sldId="256"/>
        </pc:sldMkLst>
        <pc:spChg chg="mod">
          <ac:chgData name="Geng, Baocheng" userId="S::bgeng@uab.edu::b4253f3e-c40b-4a70-8207-93818653a34c" providerId="AD" clId="Web-{79725E8D-7F9F-86EC-F38F-FCD472C14E73}" dt="2024-01-25T04:17:39.964" v="1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del">
        <pc:chgData name="Geng, Baocheng" userId="S::bgeng@uab.edu::b4253f3e-c40b-4a70-8207-93818653a34c" providerId="AD" clId="Web-{79725E8D-7F9F-86EC-F38F-FCD472C14E73}" dt="2024-01-25T04:46:40.255" v="3"/>
        <pc:sldMkLst>
          <pc:docMk/>
          <pc:sldMk cId="0" sldId="290"/>
        </pc:sldMkLst>
        <pc:spChg chg="mod">
          <ac:chgData name="Geng, Baocheng" userId="S::bgeng@uab.edu::b4253f3e-c40b-4a70-8207-93818653a34c" providerId="AD" clId="Web-{79725E8D-7F9F-86EC-F38F-FCD472C14E73}" dt="2024-01-25T04:46:24.911" v="2" actId="1076"/>
          <ac:spMkLst>
            <pc:docMk/>
            <pc:sldMk cId="0" sldId="290"/>
            <ac:spMk id="17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D043E8B6-3D61-49FC-9D56-9C276701C82F}"/>
    <pc:docChg chg="custSel modSld">
      <pc:chgData name="Geng, Baocheng" userId="b4253f3e-c40b-4a70-8207-93818653a34c" providerId="ADAL" clId="{D043E8B6-3D61-49FC-9D56-9C276701C82F}" dt="2023-01-25T16:02:57.752" v="131" actId="20577"/>
      <pc:docMkLst>
        <pc:docMk/>
      </pc:docMkLst>
      <pc:sldChg chg="modSp mod">
        <pc:chgData name="Geng, Baocheng" userId="b4253f3e-c40b-4a70-8207-93818653a34c" providerId="ADAL" clId="{D043E8B6-3D61-49FC-9D56-9C276701C82F}" dt="2023-01-25T15:56:47.663" v="2" actId="20577"/>
        <pc:sldMkLst>
          <pc:docMk/>
          <pc:sldMk cId="0" sldId="262"/>
        </pc:sldMkLst>
        <pc:spChg chg="mod">
          <ac:chgData name="Geng, Baocheng" userId="b4253f3e-c40b-4a70-8207-93818653a34c" providerId="ADAL" clId="{D043E8B6-3D61-49FC-9D56-9C276701C82F}" dt="2023-01-25T15:56:47.663" v="2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D043E8B6-3D61-49FC-9D56-9C276701C82F}" dt="2023-01-25T16:00:26.165" v="48" actId="1076"/>
        <pc:sldMkLst>
          <pc:docMk/>
          <pc:sldMk cId="0" sldId="266"/>
        </pc:sldMkLst>
        <pc:spChg chg="mod">
          <ac:chgData name="Geng, Baocheng" userId="b4253f3e-c40b-4a70-8207-93818653a34c" providerId="ADAL" clId="{D043E8B6-3D61-49FC-9D56-9C276701C82F}" dt="2023-01-25T15:58:38.006" v="14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Geng, Baocheng" userId="b4253f3e-c40b-4a70-8207-93818653a34c" providerId="ADAL" clId="{D043E8B6-3D61-49FC-9D56-9C276701C82F}" dt="2023-01-25T16:00:20.692" v="47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Geng, Baocheng" userId="b4253f3e-c40b-4a70-8207-93818653a34c" providerId="ADAL" clId="{D043E8B6-3D61-49FC-9D56-9C276701C82F}" dt="2023-01-25T16:00:16.004" v="46" actId="107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Geng, Baocheng" userId="b4253f3e-c40b-4a70-8207-93818653a34c" providerId="ADAL" clId="{D043E8B6-3D61-49FC-9D56-9C276701C82F}" dt="2023-01-25T15:58:45.050" v="16" actId="1076"/>
          <ac:spMkLst>
            <pc:docMk/>
            <pc:sldMk cId="0" sldId="266"/>
            <ac:spMk id="25" creationId="{DCD3986B-9FFD-02CA-AE8F-1F61BBB70C51}"/>
          </ac:spMkLst>
        </pc:spChg>
        <pc:spChg chg="mod">
          <ac:chgData name="Geng, Baocheng" userId="b4253f3e-c40b-4a70-8207-93818653a34c" providerId="ADAL" clId="{D043E8B6-3D61-49FC-9D56-9C276701C82F}" dt="2023-01-25T16:00:26.165" v="48" actId="1076"/>
          <ac:spMkLst>
            <pc:docMk/>
            <pc:sldMk cId="0" sldId="266"/>
            <ac:spMk id="26" creationId="{88064402-7F92-7F55-1585-0D0CBFB27837}"/>
          </ac:spMkLst>
        </pc:spChg>
      </pc:sldChg>
      <pc:sldChg chg="modSp mod">
        <pc:chgData name="Geng, Baocheng" userId="b4253f3e-c40b-4a70-8207-93818653a34c" providerId="ADAL" clId="{D043E8B6-3D61-49FC-9D56-9C276701C82F}" dt="2023-01-24T15:24:32.775" v="0" actId="33524"/>
        <pc:sldMkLst>
          <pc:docMk/>
          <pc:sldMk cId="0" sldId="269"/>
        </pc:sldMkLst>
        <pc:spChg chg="mod">
          <ac:chgData name="Geng, Baocheng" userId="b4253f3e-c40b-4a70-8207-93818653a34c" providerId="ADAL" clId="{D043E8B6-3D61-49FC-9D56-9C276701C82F}" dt="2023-01-24T15:24:32.775" v="0" actId="33524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D043E8B6-3D61-49FC-9D56-9C276701C82F}" dt="2023-01-25T16:00:56.319" v="58" actId="20577"/>
        <pc:sldMkLst>
          <pc:docMk/>
          <pc:sldMk cId="0" sldId="270"/>
        </pc:sldMkLst>
        <pc:spChg chg="mod">
          <ac:chgData name="Geng, Baocheng" userId="b4253f3e-c40b-4a70-8207-93818653a34c" providerId="ADAL" clId="{D043E8B6-3D61-49FC-9D56-9C276701C82F}" dt="2023-01-25T16:00:56.319" v="58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D043E8B6-3D61-49FC-9D56-9C276701C82F}" dt="2023-01-25T16:01:11.397" v="68" actId="20577"/>
        <pc:sldMkLst>
          <pc:docMk/>
          <pc:sldMk cId="0" sldId="271"/>
        </pc:sldMkLst>
        <pc:spChg chg="mod">
          <ac:chgData name="Geng, Baocheng" userId="b4253f3e-c40b-4a70-8207-93818653a34c" providerId="ADAL" clId="{D043E8B6-3D61-49FC-9D56-9C276701C82F}" dt="2023-01-25T16:01:11.397" v="68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Geng, Baocheng" userId="b4253f3e-c40b-4a70-8207-93818653a34c" providerId="ADAL" clId="{D043E8B6-3D61-49FC-9D56-9C276701C82F}" dt="2023-01-25T16:02:57.752" v="131" actId="20577"/>
        <pc:sldMkLst>
          <pc:docMk/>
          <pc:sldMk cId="0" sldId="276"/>
        </pc:sldMkLst>
        <pc:spChg chg="mod">
          <ac:chgData name="Geng, Baocheng" userId="b4253f3e-c40b-4a70-8207-93818653a34c" providerId="ADAL" clId="{D043E8B6-3D61-49FC-9D56-9C276701C82F}" dt="2023-01-25T16:02:57.752" v="131" actId="20577"/>
          <ac:spMkLst>
            <pc:docMk/>
            <pc:sldMk cId="0" sldId="276"/>
            <ac:spMk id="3" creationId="{00000000-0000-0000-0000-000000000000}"/>
          </ac:spMkLst>
        </pc:spChg>
      </pc:sldChg>
    </pc:docChg>
  </pc:docChgLst>
  <pc:docChgLst>
    <pc:chgData name="Geng, Baocheng" userId="b4253f3e-c40b-4a70-8207-93818653a34c" providerId="ADAL" clId="{E8EC15FB-D88D-4476-B3C4-1F43FA965D76}"/>
    <pc:docChg chg="undo custSel modSld">
      <pc:chgData name="Geng, Baocheng" userId="b4253f3e-c40b-4a70-8207-93818653a34c" providerId="ADAL" clId="{E8EC15FB-D88D-4476-B3C4-1F43FA965D76}" dt="2024-01-25T17:29:06.003" v="47" actId="1076"/>
      <pc:docMkLst>
        <pc:docMk/>
      </pc:docMkLst>
      <pc:sldChg chg="addSp delSp modSp mod">
        <pc:chgData name="Geng, Baocheng" userId="b4253f3e-c40b-4a70-8207-93818653a34c" providerId="ADAL" clId="{E8EC15FB-D88D-4476-B3C4-1F43FA965D76}" dt="2024-01-25T17:28:31.015" v="39" actId="1076"/>
        <pc:sldMkLst>
          <pc:docMk/>
          <pc:sldMk cId="0" sldId="261"/>
        </pc:sldMkLst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0" creationId="{A5A52704-4C76-AF56-69A5-5E85F71B0F1D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1" creationId="{E585E57E-CECA-92B1-A6A3-3ACEC3E76334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2" creationId="{88F38CD7-A607-06CA-150B-57B4ECD71C85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6" creationId="{9AB1A5F1-E796-D77F-7A0A-3CC280DC3C2A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7" creationId="{5A4AF485-CFFE-FA2A-CC39-27C3CFDE5E7C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8" creationId="{4CD598D8-8D75-F473-39C2-BC0F20AEA04B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19" creationId="{9FE99EF7-F283-3324-37B5-167C4E4D518D}"/>
          </ac:spMkLst>
        </pc:spChg>
        <pc:spChg chg="add del mod">
          <ac:chgData name="Geng, Baocheng" userId="b4253f3e-c40b-4a70-8207-93818653a34c" providerId="ADAL" clId="{E8EC15FB-D88D-4476-B3C4-1F43FA965D76}" dt="2024-01-25T17:28:21.075" v="37" actId="478"/>
          <ac:spMkLst>
            <pc:docMk/>
            <pc:sldMk cId="0" sldId="261"/>
            <ac:spMk id="20" creationId="{8536D761-196F-61CB-2B10-9EB78D831164}"/>
          </ac:spMkLst>
        </pc:spChg>
        <pc:spChg chg="add del mod">
          <ac:chgData name="Geng, Baocheng" userId="b4253f3e-c40b-4a70-8207-93818653a34c" providerId="ADAL" clId="{E8EC15FB-D88D-4476-B3C4-1F43FA965D76}" dt="2024-01-25T17:26:27.302" v="23" actId="478"/>
          <ac:spMkLst>
            <pc:docMk/>
            <pc:sldMk cId="0" sldId="261"/>
            <ac:spMk id="22" creationId="{E050CB03-0D6E-D507-BCCB-834D88F31DF7}"/>
          </ac:spMkLst>
        </pc:spChg>
        <pc:spChg chg="mod">
          <ac:chgData name="Geng, Baocheng" userId="b4253f3e-c40b-4a70-8207-93818653a34c" providerId="ADAL" clId="{E8EC15FB-D88D-4476-B3C4-1F43FA965D76}" dt="2024-01-25T17:28:31.015" v="39" actId="1076"/>
          <ac:spMkLst>
            <pc:docMk/>
            <pc:sldMk cId="0" sldId="261"/>
            <ac:spMk id="23" creationId="{DE4189F3-69FC-7216-41F3-DB89EF477BD6}"/>
          </ac:spMkLst>
        </pc:spChg>
      </pc:sldChg>
      <pc:sldChg chg="addSp modSp mod">
        <pc:chgData name="Geng, Baocheng" userId="b4253f3e-c40b-4a70-8207-93818653a34c" providerId="ADAL" clId="{E8EC15FB-D88D-4476-B3C4-1F43FA965D76}" dt="2024-01-25T17:28:52.627" v="44" actId="1076"/>
        <pc:sldMkLst>
          <pc:docMk/>
          <pc:sldMk cId="0" sldId="262"/>
        </pc:sldMkLst>
        <pc:spChg chg="mod">
          <ac:chgData name="Geng, Baocheng" userId="b4253f3e-c40b-4a70-8207-93818653a34c" providerId="ADAL" clId="{E8EC15FB-D88D-4476-B3C4-1F43FA965D76}" dt="2024-01-25T17:25:07.938" v="17" actId="20577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Geng, Baocheng" userId="b4253f3e-c40b-4a70-8207-93818653a34c" providerId="ADAL" clId="{E8EC15FB-D88D-4476-B3C4-1F43FA965D76}" dt="2024-01-25T17:28:52.627" v="44" actId="1076"/>
          <ac:spMkLst>
            <pc:docMk/>
            <pc:sldMk cId="0" sldId="262"/>
            <ac:spMk id="11" creationId="{D6E4CF85-4745-2443-7FA4-84F59485B99F}"/>
          </ac:spMkLst>
        </pc:spChg>
      </pc:sldChg>
      <pc:sldChg chg="addSp modSp mod">
        <pc:chgData name="Geng, Baocheng" userId="b4253f3e-c40b-4a70-8207-93818653a34c" providerId="ADAL" clId="{E8EC15FB-D88D-4476-B3C4-1F43FA965D76}" dt="2024-01-25T17:29:06.003" v="47" actId="1076"/>
        <pc:sldMkLst>
          <pc:docMk/>
          <pc:sldMk cId="0" sldId="263"/>
        </pc:sldMkLst>
        <pc:spChg chg="mod">
          <ac:chgData name="Geng, Baocheng" userId="b4253f3e-c40b-4a70-8207-93818653a34c" providerId="ADAL" clId="{E8EC15FB-D88D-4476-B3C4-1F43FA965D76}" dt="2024-01-25T17:24:36.512" v="12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Geng, Baocheng" userId="b4253f3e-c40b-4a70-8207-93818653a34c" providerId="ADAL" clId="{E8EC15FB-D88D-4476-B3C4-1F43FA965D76}" dt="2024-01-25T17:23:29.494" v="1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Geng, Baocheng" userId="b4253f3e-c40b-4a70-8207-93818653a34c" providerId="ADAL" clId="{E8EC15FB-D88D-4476-B3C4-1F43FA965D76}" dt="2024-01-25T17:23:53.558" v="5" actId="20577"/>
          <ac:spMkLst>
            <pc:docMk/>
            <pc:sldMk cId="0" sldId="263"/>
            <ac:spMk id="13" creationId="{00000000-0000-0000-0000-000000000000}"/>
          </ac:spMkLst>
        </pc:spChg>
        <pc:spChg chg="add mod">
          <ac:chgData name="Geng, Baocheng" userId="b4253f3e-c40b-4a70-8207-93818653a34c" providerId="ADAL" clId="{E8EC15FB-D88D-4476-B3C4-1F43FA965D76}" dt="2024-01-25T17:29:06.003" v="47" actId="1076"/>
          <ac:spMkLst>
            <pc:docMk/>
            <pc:sldMk cId="0" sldId="263"/>
            <ac:spMk id="14" creationId="{8DC5C297-61CC-677D-DE87-48291682643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762315" y="62407"/>
            <a:ext cx="108546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1983" y="62407"/>
            <a:ext cx="2126132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44" y="551662"/>
            <a:ext cx="4081779" cy="1240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20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slide" Target="slide21.xml"/><Relationship Id="rId18" Type="http://schemas.openxmlformats.org/officeDocument/2006/relationships/slide" Target="slide48.xml"/><Relationship Id="rId3" Type="http://schemas.openxmlformats.org/officeDocument/2006/relationships/slide" Target="slide2.xml"/><Relationship Id="rId7" Type="http://schemas.openxmlformats.org/officeDocument/2006/relationships/slide" Target="slide10.xml"/><Relationship Id="rId12" Type="http://schemas.openxmlformats.org/officeDocument/2006/relationships/slide" Target="slide14.xml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slide" Target="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slide" Target="slide4.xml"/><Relationship Id="rId1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openxmlformats.org/officeDocument/2006/relationships/slide" Target="slide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4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r>
              <a:rPr sz="14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355/555</a:t>
            </a:r>
            <a:endParaRPr sz="1400">
              <a:latin typeface="Times New Roman"/>
              <a:cs typeface="Times New Roman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7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Statistics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CS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1535" y="1715668"/>
            <a:ext cx="1574115" cy="45012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5715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5,</a:t>
            </a:r>
            <a:r>
              <a:rPr sz="800" spc="60" dirty="0">
                <a:latin typeface="Century"/>
                <a:cs typeface="Century"/>
              </a:rPr>
              <a:t> </a:t>
            </a:r>
            <a:r>
              <a:rPr lang="en-US" sz="800" spc="-10" dirty="0">
                <a:latin typeface="Century"/>
                <a:cs typeface="Century"/>
              </a:rPr>
              <a:t>01/31/2025</a:t>
            </a:r>
            <a:endParaRPr sz="800" dirty="0">
              <a:latin typeface="Century"/>
              <a:cs typeface="Century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9777"/>
            <a:ext cx="4608195" cy="106680"/>
            <a:chOff x="0" y="3349777"/>
            <a:chExt cx="4608195" cy="106680"/>
          </a:xfrm>
        </p:grpSpPr>
        <p:sp>
          <p:nvSpPr>
            <p:cNvPr id="9" name="object 9"/>
            <p:cNvSpPr/>
            <p:nvPr/>
          </p:nvSpPr>
          <p:spPr>
            <a:xfrm>
              <a:off x="0" y="3349777"/>
              <a:ext cx="1383030" cy="106680"/>
            </a:xfrm>
            <a:custGeom>
              <a:avLst/>
              <a:gdLst/>
              <a:ahLst/>
              <a:cxnLst/>
              <a:rect l="l" t="t" r="r" b="b"/>
              <a:pathLst>
                <a:path w="1383030" h="106679">
                  <a:moveTo>
                    <a:pt x="1382420" y="0"/>
                  </a:moveTo>
                  <a:lnTo>
                    <a:pt x="0" y="0"/>
                  </a:lnTo>
                  <a:lnTo>
                    <a:pt x="0" y="106222"/>
                  </a:lnTo>
                  <a:lnTo>
                    <a:pt x="1382420" y="106222"/>
                  </a:lnTo>
                  <a:lnTo>
                    <a:pt x="1382420" y="0"/>
                  </a:lnTo>
                  <a:close/>
                </a:path>
              </a:pathLst>
            </a:custGeom>
            <a:solidFill>
              <a:srgbClr val="292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2420" y="3349777"/>
              <a:ext cx="3225800" cy="106680"/>
            </a:xfrm>
            <a:custGeom>
              <a:avLst/>
              <a:gdLst/>
              <a:ahLst/>
              <a:cxnLst/>
              <a:rect l="l" t="t" r="r" b="b"/>
              <a:pathLst>
                <a:path w="3225800" h="106679">
                  <a:moveTo>
                    <a:pt x="0" y="106222"/>
                  </a:moveTo>
                  <a:lnTo>
                    <a:pt x="3225584" y="106222"/>
                  </a:lnTo>
                  <a:lnTo>
                    <a:pt x="3225584" y="0"/>
                  </a:lnTo>
                  <a:lnTo>
                    <a:pt x="0" y="0"/>
                  </a:lnTo>
                  <a:lnTo>
                    <a:pt x="0" y="106222"/>
                  </a:lnTo>
                  <a:close/>
                </a:path>
              </a:pathLst>
            </a:custGeom>
            <a:solidFill>
              <a:srgbClr val="3E3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3405">
              <a:lnSpc>
                <a:spcPct val="100000"/>
              </a:lnSpc>
              <a:spcBef>
                <a:spcPts val="135"/>
              </a:spcBef>
            </a:pPr>
            <a:r>
              <a:rPr spc="5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4904" y="604672"/>
            <a:ext cx="23202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Total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Probability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Bayes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Theorem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969353"/>
            <a:ext cx="155092" cy="1550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8790" y="9655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890" y="937412"/>
            <a:ext cx="7842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239532"/>
            <a:ext cx="155092" cy="15509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8790" y="1207592"/>
            <a:ext cx="12687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>
                <a:solidFill>
                  <a:srgbClr val="EDEDE5"/>
                </a:solidFill>
                <a:latin typeface="Century"/>
                <a:cs typeface="Century"/>
              </a:rPr>
              <a:t>2</a:t>
            </a:r>
            <a:r>
              <a:rPr sz="1200" spc="247" baseline="3472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Birthday</a:t>
            </a:r>
            <a:r>
              <a:rPr sz="1100" spc="55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Paradox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509712"/>
            <a:ext cx="155092" cy="15509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8790" y="150595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890" y="1477772"/>
            <a:ext cx="16560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Total</a:t>
            </a:r>
            <a:r>
              <a:rPr sz="1100" spc="45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Probability</a:t>
            </a:r>
            <a:r>
              <a:rPr sz="1100" spc="45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7" action="ppaction://hlinksldjump"/>
              </a:rPr>
              <a:t>Theorem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30" y="1779892"/>
            <a:ext cx="155092" cy="15509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918" y="2002078"/>
            <a:ext cx="63233" cy="6323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13918" y="2174151"/>
            <a:ext cx="63233" cy="632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830" y="2394229"/>
            <a:ext cx="155092" cy="15509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28790" y="1747951"/>
            <a:ext cx="1142365" cy="806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3355" indent="-161290">
              <a:lnSpc>
                <a:spcPct val="100000"/>
              </a:lnSpc>
              <a:spcBef>
                <a:spcPts val="90"/>
              </a:spcBef>
              <a:buClr>
                <a:srgbClr val="EDEDE5"/>
              </a:buClr>
              <a:buSzPct val="72727"/>
              <a:buFont typeface="Century"/>
              <a:buAutoNum type="arabicPlain" startAt="4"/>
              <a:tabLst>
                <a:tab pos="173990" algn="l"/>
              </a:tabLst>
            </a:pP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12" action="ppaction://hlinksldjump"/>
              </a:rPr>
              <a:t>Examples</a:t>
            </a:r>
            <a:endParaRPr sz="1100">
              <a:latin typeface="Book Antiqua"/>
              <a:cs typeface="Book Antiqu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>
                <a:latin typeface="Book Antiqua"/>
                <a:cs typeface="Book Antiqua"/>
                <a:hlinkClick r:id="rId12" action="ppaction://hlinksldjump"/>
              </a:rPr>
              <a:t>Example</a:t>
            </a:r>
            <a:r>
              <a:rPr sz="1100" spc="25">
                <a:latin typeface="Book Antiqua"/>
                <a:cs typeface="Book Antiqua"/>
                <a:hlinkClick r:id="rId12" action="ppaction://hlinksldjump"/>
              </a:rPr>
              <a:t> </a:t>
            </a:r>
            <a:r>
              <a:rPr sz="1100" spc="-20">
                <a:latin typeface="Book Antiqua"/>
                <a:cs typeface="Book Antiqua"/>
                <a:hlinkClick r:id="rId12" action="ppaction://hlinksldjump"/>
              </a:rPr>
              <a:t>1.14</a:t>
            </a:r>
            <a:endParaRPr sz="1100">
              <a:latin typeface="Book Antiqua"/>
              <a:cs typeface="Book Antiqua"/>
            </a:endParaRPr>
          </a:p>
          <a:p>
            <a:pPr marL="307975">
              <a:lnSpc>
                <a:spcPct val="100000"/>
              </a:lnSpc>
              <a:spcBef>
                <a:spcPts val="35"/>
              </a:spcBef>
            </a:pPr>
            <a:r>
              <a:rPr sz="1100" spc="-10">
                <a:latin typeface="Book Antiqua"/>
                <a:cs typeface="Book Antiqua"/>
                <a:hlinkClick r:id="rId13" action="ppaction://hlinksldjump"/>
              </a:rPr>
              <a:t>Example</a:t>
            </a:r>
            <a:r>
              <a:rPr sz="1100" spc="25">
                <a:latin typeface="Book Antiqua"/>
                <a:cs typeface="Book Antiqua"/>
                <a:hlinkClick r:id="rId13" action="ppaction://hlinksldjump"/>
              </a:rPr>
              <a:t> </a:t>
            </a:r>
            <a:r>
              <a:rPr sz="1100" spc="-20">
                <a:latin typeface="Book Antiqua"/>
                <a:cs typeface="Book Antiqua"/>
                <a:hlinkClick r:id="rId13" action="ppaction://hlinksldjump"/>
              </a:rPr>
              <a:t>1.15</a:t>
            </a:r>
            <a:endParaRPr sz="1100">
              <a:latin typeface="Book Antiqua"/>
              <a:cs typeface="Book Antiqua"/>
            </a:endParaRPr>
          </a:p>
          <a:p>
            <a:pPr marL="173355" indent="-161290">
              <a:lnSpc>
                <a:spcPct val="100000"/>
              </a:lnSpc>
              <a:spcBef>
                <a:spcPts val="805"/>
              </a:spcBef>
              <a:buClr>
                <a:srgbClr val="EDEDE5"/>
              </a:buClr>
              <a:buSzPct val="72727"/>
              <a:buFont typeface="Century"/>
              <a:buAutoNum type="arabicPlain" startAt="5"/>
              <a:tabLst>
                <a:tab pos="173990" algn="l"/>
              </a:tabLst>
            </a:pP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14" action="ppaction://hlinksldjump"/>
              </a:rPr>
              <a:t>Bayes’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14" action="ppaction://hlinksldjump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rId14" action="ppaction://hlinksldjump"/>
              </a:rPr>
              <a:t>Rule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830" y="2664409"/>
            <a:ext cx="155092" cy="15509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8790" y="266065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>
                <a:solidFill>
                  <a:srgbClr val="EDEDE5"/>
                </a:solidFill>
                <a:latin typeface="Century"/>
                <a:cs typeface="Century"/>
              </a:rPr>
              <a:t>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9890" y="2632468"/>
            <a:ext cx="9886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16" action="ppaction://hlinksldjump"/>
              </a:rPr>
              <a:t>Bayes’</a:t>
            </a:r>
            <a:r>
              <a:rPr sz="1100" spc="-25">
                <a:solidFill>
                  <a:srgbClr val="525200"/>
                </a:solidFill>
                <a:latin typeface="Book Antiqua"/>
                <a:cs typeface="Book Antiqua"/>
                <a:hlinkClick r:id="rId16" action="ppaction://hlinksldjump"/>
              </a:rPr>
              <a:t> </a:t>
            </a:r>
            <a:r>
              <a:rPr sz="1100" spc="-10">
                <a:solidFill>
                  <a:srgbClr val="525200"/>
                </a:solidFill>
                <a:latin typeface="Book Antiqua"/>
                <a:cs typeface="Book Antiqua"/>
                <a:hlinkClick r:id="rId16" action="ppaction://hlinksldjump"/>
              </a:rPr>
              <a:t>Example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90830" y="2934589"/>
            <a:ext cx="155092" cy="155092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28790" y="2902648"/>
            <a:ext cx="8407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baseline="3472">
                <a:solidFill>
                  <a:srgbClr val="EDEDE5"/>
                </a:solidFill>
                <a:latin typeface="Century"/>
                <a:cs typeface="Century"/>
              </a:rPr>
              <a:t>7</a:t>
            </a:r>
            <a:r>
              <a:rPr sz="1200" spc="247" baseline="3472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sz="1100">
                <a:solidFill>
                  <a:srgbClr val="525200"/>
                </a:solidFill>
                <a:latin typeface="Book Antiqua"/>
                <a:cs typeface="Book Antiqua"/>
                <a:hlinkClick r:id="rId18" action="ppaction://hlinksldjump"/>
              </a:rPr>
              <a:t>Next</a:t>
            </a:r>
            <a:r>
              <a:rPr sz="1100" spc="60">
                <a:solidFill>
                  <a:srgbClr val="525200"/>
                </a:solidFill>
                <a:latin typeface="Book Antiqua"/>
                <a:cs typeface="Book Antiqua"/>
                <a:hlinkClick r:id="rId18" action="ppaction://hlinksldjump"/>
              </a:rPr>
              <a:t> </a:t>
            </a:r>
            <a:r>
              <a:rPr sz="1100" spc="-20">
                <a:solidFill>
                  <a:srgbClr val="525200"/>
                </a:solidFill>
                <a:latin typeface="Book Antiqua"/>
                <a:cs typeface="Book Antiqua"/>
                <a:hlinkClick r:id="rId18" action="ppaction://hlinksldjump"/>
              </a:rPr>
              <a:t>Time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18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3840">
              <a:lnSpc>
                <a:spcPct val="100000"/>
              </a:lnSpc>
              <a:spcBef>
                <a:spcPts val="135"/>
              </a:spcBef>
            </a:pPr>
            <a:r>
              <a:rPr spc="45"/>
              <a:t>Copyright</a:t>
            </a:r>
            <a:r>
              <a:rPr spc="125"/>
              <a:t> </a:t>
            </a:r>
            <a:r>
              <a:rPr spc="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Copyright</a:t>
            </a:r>
            <a:r>
              <a:rPr sz="1200" spc="2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Materials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prepared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and/or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included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protected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by </a:t>
            </a:r>
            <a:r>
              <a:rPr sz="1100" spc="-30">
                <a:latin typeface="Book Antiqua"/>
                <a:cs typeface="Book Antiqua"/>
              </a:rPr>
              <a:t>copyright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law.</a:t>
            </a:r>
            <a:r>
              <a:rPr sz="1100" spc="1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intended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used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only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students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enrolled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during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current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term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should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further </a:t>
            </a:r>
            <a:r>
              <a:rPr sz="1100" spc="-30">
                <a:latin typeface="Book Antiqua"/>
                <a:cs typeface="Book Antiqua"/>
              </a:rPr>
              <a:t>disseminated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without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prior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permission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course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3264"/>
            <a:ext cx="4065904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Given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people,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same </a:t>
            </a:r>
            <a:r>
              <a:rPr sz="1100">
                <a:latin typeface="Book Antiqua"/>
                <a:cs typeface="Book Antiqua"/>
              </a:rPr>
              <a:t>birthday?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(ignore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leap</a:t>
            </a:r>
            <a:r>
              <a:rPr sz="1100" spc="-10">
                <a:latin typeface="Book Antiqua"/>
                <a:cs typeface="Book Antiqua"/>
              </a:rPr>
              <a:t> year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birthdays)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different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00059" y="2081771"/>
            <a:ext cx="585470" cy="0"/>
          </a:xfrm>
          <a:custGeom>
            <a:avLst/>
            <a:gdLst/>
            <a:ahLst/>
            <a:cxnLst/>
            <a:rect l="l" t="t" r="r" b="b"/>
            <a:pathLst>
              <a:path w="585469">
                <a:moveTo>
                  <a:pt x="0" y="0"/>
                </a:moveTo>
                <a:lnTo>
                  <a:pt x="58497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25992" y="1965159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87359" y="1871434"/>
            <a:ext cx="1033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12165" algn="l"/>
              </a:tabLst>
            </a:pPr>
            <a:r>
              <a:rPr sz="1100">
                <a:latin typeface="Book Antiqua"/>
                <a:cs typeface="Book Antiqua"/>
              </a:rPr>
              <a:t>365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5">
                <a:latin typeface="Book Antiqua"/>
                <a:cs typeface="Book Antiqua"/>
              </a:rPr>
              <a:t>364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364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00121" y="208177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787359" y="2060194"/>
            <a:ext cx="1033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12165" algn="l"/>
              </a:tabLst>
            </a:pPr>
            <a:r>
              <a:rPr sz="1100">
                <a:latin typeface="Book Antiqua"/>
                <a:cs typeface="Book Antiqua"/>
              </a:rPr>
              <a:t>365</a:t>
            </a:r>
            <a:r>
              <a:rPr sz="1100" spc="-5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spc="-25">
                <a:latin typeface="Book Antiqua"/>
                <a:cs typeface="Book Antiqua"/>
              </a:rPr>
              <a:t>365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365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7887"/>
            <a:ext cx="410845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Given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three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people,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same </a:t>
            </a:r>
            <a:r>
              <a:rPr sz="1100" spc="-10">
                <a:latin typeface="Book Antiqua"/>
                <a:cs typeface="Book Antiqua"/>
              </a:rPr>
              <a:t>birthday?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different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77365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84883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2388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15310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18449" y="1969782"/>
            <a:ext cx="1371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35025" algn="l"/>
                <a:tab pos="1250315" algn="l"/>
              </a:tabLst>
            </a:pP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4665" y="1876044"/>
            <a:ext cx="18789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250315" algn="l"/>
                <a:tab pos="1657985" algn="l"/>
              </a:tabLst>
            </a:pP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363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363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22815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64665" y="2064816"/>
            <a:ext cx="187896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250315" algn="l"/>
                <a:tab pos="1657985" algn="l"/>
              </a:tabLst>
            </a:pP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5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77887"/>
            <a:ext cx="4043045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Given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four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people,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same </a:t>
            </a:r>
            <a:r>
              <a:rPr sz="1100" spc="-10">
                <a:latin typeface="Book Antiqua"/>
                <a:cs typeface="Book Antiqua"/>
              </a:rPr>
              <a:t>birthday?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different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92579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00097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33663" y="1969782"/>
            <a:ext cx="5410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</a:tabLst>
            </a:pP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spc="-50">
                <a:latin typeface="Lucida Sans Unicode"/>
                <a:cs typeface="Lucida Sans Unicode"/>
              </a:rPr>
              <a:t>×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9879" y="1876044"/>
            <a:ext cx="1048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</a:tabLst>
            </a:pPr>
            <a:r>
              <a:rPr sz="1100" spc="-25" dirty="0">
                <a:latin typeface="Book Antiqua"/>
                <a:cs typeface="Book Antiqua"/>
              </a:rPr>
              <a:t>364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363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362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07602" y="2086381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779879" y="2064816"/>
            <a:ext cx="1048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</a:tabLst>
            </a:pP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6</a:t>
            </a:fld>
            <a:r>
              <a:t>/39</a:t>
            </a:r>
            <a:r>
              <a:rPr spc="29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4189F3-69FC-7216-41F3-DB89EF477BD6}"/>
                  </a:ext>
                </a:extLst>
              </p:cNvPr>
              <p:cNvSpPr txBox="1"/>
              <p:nvPr/>
            </p:nvSpPr>
            <p:spPr>
              <a:xfrm>
                <a:off x="1330312" y="1922568"/>
                <a:ext cx="620134" cy="309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365</m:t>
                        </m:r>
                      </m:num>
                      <m:den>
                        <m:r>
                          <a:rPr lang="en-US" sz="1400" i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US" sz="1400" spc="-50" dirty="0">
                    <a:latin typeface="Lucida Sans Unicode"/>
                    <a:cs typeface="Lucida Sans Unicode"/>
                  </a:rPr>
                  <a:t> ×</a:t>
                </a:r>
                <a:endParaRPr 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4189F3-69FC-7216-41F3-DB89EF477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12" y="1922568"/>
                <a:ext cx="620134" cy="309059"/>
              </a:xfrm>
              <a:prstGeom prst="rect">
                <a:avLst/>
              </a:prstGeom>
              <a:blipFill>
                <a:blip r:embed="rId3"/>
                <a:stretch>
                  <a:fillRect l="-686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81265"/>
            <a:ext cx="388874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Given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people,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two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same </a:t>
            </a:r>
            <a:r>
              <a:rPr sz="1100" spc="-10" dirty="0">
                <a:latin typeface="Book Antiqua"/>
                <a:cs typeface="Book Antiqua"/>
              </a:rPr>
              <a:t>birthday?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probability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all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different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birthdays?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3329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0847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8364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84413" y="1773161"/>
            <a:ext cx="994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19785" algn="l"/>
              </a:tabLst>
            </a:pP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0629" y="1679435"/>
            <a:ext cx="217011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273175" algn="l"/>
              </a:tabLst>
            </a:pPr>
            <a:r>
              <a:rPr sz="1100" spc="-25" dirty="0">
                <a:latin typeface="Book Antiqua"/>
                <a:cs typeface="Book Antiqua"/>
              </a:rPr>
              <a:t>364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363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362</a:t>
            </a:r>
            <a:r>
              <a:rPr sz="1100" dirty="0">
                <a:latin typeface="Book Antiqua"/>
                <a:cs typeface="Book Antiqua"/>
              </a:rPr>
              <a:t>	365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lang="en-US" sz="1100" spc="-105" dirty="0">
                <a:latin typeface="Lucida Sans Unicode"/>
                <a:cs typeface="Lucida Sans Unicode"/>
              </a:rPr>
              <a:t>(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lang="en-US" sz="1100" b="0" i="1" spc="-50" dirty="0">
                <a:latin typeface="Bookman Old Style"/>
                <a:cs typeface="Bookman Old Style"/>
              </a:rPr>
              <a:t>-1)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04363" y="1889772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>
                <a:moveTo>
                  <a:pt x="0" y="0"/>
                </a:moveTo>
                <a:lnTo>
                  <a:pt x="4603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30629" y="1868195"/>
            <a:ext cx="1620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399540" algn="l"/>
              </a:tabLst>
            </a:pP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365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7/39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E4CF85-4745-2443-7FA4-84F59485B99F}"/>
                  </a:ext>
                </a:extLst>
              </p:cNvPr>
              <p:cNvSpPr txBox="1"/>
              <p:nvPr/>
            </p:nvSpPr>
            <p:spPr>
              <a:xfrm>
                <a:off x="916339" y="1730375"/>
                <a:ext cx="620134" cy="309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365</m:t>
                        </m:r>
                      </m:num>
                      <m:den>
                        <m:r>
                          <a:rPr lang="en-US" sz="1400" i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US" sz="1400" spc="-50" dirty="0">
                    <a:latin typeface="Lucida Sans Unicode"/>
                    <a:cs typeface="Lucida Sans Unicode"/>
                  </a:rPr>
                  <a:t> ×</a:t>
                </a:r>
                <a:endParaRPr lang="en-US" sz="1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E4CF85-4745-2443-7FA4-84F59485B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339" y="1730375"/>
                <a:ext cx="620134" cy="309059"/>
              </a:xfrm>
              <a:prstGeom prst="rect">
                <a:avLst/>
              </a:prstGeom>
              <a:blipFill>
                <a:blip r:embed="rId3"/>
                <a:stretch>
                  <a:fillRect l="-6863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81265"/>
            <a:ext cx="3888740" cy="7162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Given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i="1">
                <a:latin typeface="Arial"/>
                <a:cs typeface="Arial"/>
              </a:rPr>
              <a:t>n</a:t>
            </a:r>
            <a:r>
              <a:rPr sz="1100" i="1" spc="70">
                <a:latin typeface="Arial"/>
                <a:cs typeface="Arial"/>
              </a:rPr>
              <a:t> </a:t>
            </a:r>
            <a:r>
              <a:rPr sz="1100" spc="-25">
                <a:latin typeface="Book Antiqua"/>
                <a:cs typeface="Book Antiqua"/>
              </a:rPr>
              <a:t>people,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same </a:t>
            </a:r>
            <a:r>
              <a:rPr sz="1100" spc="-10">
                <a:latin typeface="Book Antiqua"/>
                <a:cs typeface="Book Antiqua"/>
              </a:rPr>
              <a:t>birthday?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they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all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different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3329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50847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58364" y="1889772"/>
            <a:ext cx="208279" cy="0"/>
          </a:xfrm>
          <a:custGeom>
            <a:avLst/>
            <a:gdLst/>
            <a:ahLst/>
            <a:cxnLst/>
            <a:rect l="l" t="t" r="r" b="b"/>
            <a:pathLst>
              <a:path w="208280">
                <a:moveTo>
                  <a:pt x="0" y="0"/>
                </a:moveTo>
                <a:lnTo>
                  <a:pt x="20782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84413" y="1773161"/>
            <a:ext cx="994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19785" algn="l"/>
              </a:tabLst>
            </a:pP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spc="-50">
                <a:latin typeface="Lucida Sans Unicode"/>
                <a:cs typeface="Lucida Sans Unicode"/>
              </a:rPr>
              <a:t>×</a:t>
            </a:r>
            <a:r>
              <a:rPr sz="1100">
                <a:latin typeface="Lucida Sans Unicode"/>
                <a:cs typeface="Lucida Sans Unicode"/>
              </a:rPr>
              <a:t>	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b="0" i="1" spc="-50">
                <a:latin typeface="Bookman Old Style"/>
                <a:cs typeface="Bookman Old Style"/>
              </a:rPr>
              <a:t>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0629" y="1679435"/>
            <a:ext cx="2122739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273175" algn="l"/>
              </a:tabLst>
            </a:pPr>
            <a:r>
              <a:rPr sz="1100" spc="-25" dirty="0">
                <a:latin typeface="Book Antiqua"/>
                <a:cs typeface="Book Antiqua"/>
              </a:rPr>
              <a:t>364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363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362</a:t>
            </a:r>
            <a:r>
              <a:rPr sz="1100" dirty="0">
                <a:latin typeface="Book Antiqua"/>
                <a:cs typeface="Book Antiqua"/>
              </a:rPr>
              <a:t>	365</a:t>
            </a:r>
            <a:r>
              <a:rPr sz="1100" spc="-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lang="en-US" sz="1100" spc="-105" dirty="0">
                <a:latin typeface="Lucida Sans Unicode"/>
                <a:cs typeface="Lucida Sans Unicode"/>
              </a:rPr>
              <a:t>(</a:t>
            </a:r>
            <a:r>
              <a:rPr sz="1100" b="0" i="1" spc="-50" dirty="0">
                <a:latin typeface="Bookman Old Style"/>
                <a:cs typeface="Bookman Old Style"/>
              </a:rPr>
              <a:t>n</a:t>
            </a:r>
            <a:r>
              <a:rPr lang="en-US" sz="1100" b="0" i="1" spc="-50" dirty="0">
                <a:latin typeface="Bookman Old Style"/>
                <a:cs typeface="Bookman Old Style"/>
              </a:rPr>
              <a:t>-1)</a:t>
            </a:r>
            <a:endParaRPr sz="1100" dirty="0">
              <a:latin typeface="Bookman Old Style"/>
              <a:cs typeface="Bookman Old Styl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04363" y="1889772"/>
            <a:ext cx="460375" cy="0"/>
          </a:xfrm>
          <a:custGeom>
            <a:avLst/>
            <a:gdLst/>
            <a:ahLst/>
            <a:cxnLst/>
            <a:rect l="l" t="t" r="r" b="b"/>
            <a:pathLst>
              <a:path w="460375">
                <a:moveTo>
                  <a:pt x="0" y="0"/>
                </a:moveTo>
                <a:lnTo>
                  <a:pt x="4603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30629" y="1868195"/>
            <a:ext cx="16205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19734" algn="l"/>
                <a:tab pos="827405" algn="l"/>
                <a:tab pos="1399540" algn="l"/>
              </a:tabLst>
            </a:pPr>
            <a:r>
              <a:rPr sz="1100" spc="-25">
                <a:latin typeface="Book Antiqua"/>
                <a:cs typeface="Book Antiqua"/>
              </a:rPr>
              <a:t>365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365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365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365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41270" y="2136343"/>
            <a:ext cx="27178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Book Antiqua"/>
                <a:cs typeface="Book Antiqua"/>
              </a:rPr>
              <a:t>36</a:t>
            </a:r>
            <a:r>
              <a:rPr lang="en-US" sz="1100" spc="-20" dirty="0">
                <a:latin typeface="Book Antiqua"/>
                <a:cs typeface="Book Antiqua"/>
              </a:rPr>
              <a:t>5</a:t>
            </a:r>
            <a:r>
              <a:rPr sz="1100" spc="-20" dirty="0">
                <a:latin typeface="Book Antiqua"/>
                <a:cs typeface="Book Antiqua"/>
              </a:rPr>
              <a:t>!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03412" y="2346680"/>
            <a:ext cx="748030" cy="0"/>
          </a:xfrm>
          <a:custGeom>
            <a:avLst/>
            <a:gdLst/>
            <a:ahLst/>
            <a:cxnLst/>
            <a:rect l="l" t="t" r="r" b="b"/>
            <a:pathLst>
              <a:path w="748030">
                <a:moveTo>
                  <a:pt x="0" y="0"/>
                </a:moveTo>
                <a:lnTo>
                  <a:pt x="74740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807125" y="2277511"/>
            <a:ext cx="1110755" cy="27828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sz="1100" spc="180" dirty="0">
                <a:latin typeface="Book Antiqua"/>
                <a:cs typeface="Book Antiqua"/>
              </a:rPr>
              <a:t>=</a:t>
            </a:r>
            <a:endParaRPr sz="1100" dirty="0">
              <a:latin typeface="Book Antiqua"/>
              <a:cs typeface="Book Antiqua"/>
            </a:endParaRPr>
          </a:p>
          <a:p>
            <a:pPr marL="199390">
              <a:lnSpc>
                <a:spcPts val="1035"/>
              </a:lnSpc>
            </a:pPr>
            <a:r>
              <a:rPr sz="1100" dirty="0">
                <a:latin typeface="Book Antiqua"/>
                <a:cs typeface="Book Antiqua"/>
              </a:rPr>
              <a:t>365</a:t>
            </a:r>
            <a:r>
              <a:rPr sz="1200" b="0" i="1" baseline="20833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lang="en-US" sz="1100" dirty="0">
                <a:latin typeface="Book Antiqua"/>
                <a:cs typeface="Book Antiqua"/>
              </a:rPr>
              <a:t>365</a:t>
            </a:r>
            <a:r>
              <a:rPr lang="en-US" sz="1100" b="0" i="1" spc="-6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lang="en-US" sz="1100" spc="-35" dirty="0">
                <a:latin typeface="Lucida Sans Unicode"/>
                <a:cs typeface="Lucida Sans Unicode"/>
              </a:rPr>
              <a:t> </a:t>
            </a:r>
            <a:r>
              <a:rPr lang="en-US" sz="1100" b="0" i="1" spc="-50" dirty="0">
                <a:latin typeface="Bookman Old Style"/>
                <a:cs typeface="Bookman Old Style"/>
              </a:rPr>
              <a:t>n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)!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7/39</a:t>
            </a:r>
            <a:r>
              <a:rPr sz="600" b="0" spc="28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C5C297-61CC-677D-DE87-482916826437}"/>
                  </a:ext>
                </a:extLst>
              </p:cNvPr>
              <p:cNvSpPr txBox="1"/>
              <p:nvPr/>
            </p:nvSpPr>
            <p:spPr>
              <a:xfrm>
                <a:off x="938297" y="1705150"/>
                <a:ext cx="620134" cy="3090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latin typeface="Cambria Math" panose="02040503050406030204" pitchFamily="18" charset="0"/>
                          </a:rPr>
                          <m:t>365</m:t>
                        </m:r>
                      </m:num>
                      <m:den>
                        <m:r>
                          <a:rPr lang="en-US" sz="1400" i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US" sz="1400" spc="-50" dirty="0">
                    <a:latin typeface="Lucida Sans Unicode"/>
                    <a:cs typeface="Lucida Sans Unicode"/>
                  </a:rPr>
                  <a:t> ×</a:t>
                </a:r>
                <a:endParaRPr lang="en-US" sz="1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C5C297-61CC-677D-DE87-482916826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297" y="1705150"/>
                <a:ext cx="620134" cy="309059"/>
              </a:xfrm>
              <a:prstGeom prst="rect">
                <a:avLst/>
              </a:prstGeom>
              <a:blipFill>
                <a:blip r:embed="rId3"/>
                <a:stretch>
                  <a:fillRect l="-7843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35"/>
              </a:spcBef>
            </a:pPr>
            <a:r>
              <a:rPr spc="60"/>
              <a:t>Birthday</a:t>
            </a:r>
            <a:r>
              <a:rPr spc="130"/>
              <a:t> </a:t>
            </a:r>
            <a:r>
              <a:rPr spc="50"/>
              <a:t>Paradox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910996"/>
            <a:ext cx="35725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Calculate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odds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there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are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two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same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birthday: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90471" y="1215707"/>
          <a:ext cx="826769" cy="105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0.4114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20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0.4457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21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0.4757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22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0.5073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23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0.5383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24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0.9992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70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8/39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83" y="62407"/>
            <a:ext cx="21240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>
                <a:solidFill>
                  <a:srgbClr val="FFFFFF"/>
                </a:solidFill>
                <a:latin typeface="Times New Roman"/>
                <a:cs typeface="Times New Roman"/>
              </a:rPr>
              <a:t>Theorem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739775"/>
            <a:ext cx="3544554" cy="186446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9/39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Total</a:t>
            </a:r>
            <a:r>
              <a:rPr spc="145"/>
              <a:t> </a:t>
            </a:r>
            <a:r>
              <a:rPr spc="55"/>
              <a:t>Probability</a:t>
            </a:r>
            <a:r>
              <a:rPr spc="145"/>
              <a:t> </a:t>
            </a:r>
            <a:r>
              <a:rPr spc="40"/>
              <a:t>Theorem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7489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29562" y="1004554"/>
            <a:ext cx="1748789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200" spc="3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2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Theorem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122" y="1176468"/>
            <a:ext cx="415607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 b="0" i="1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.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35">
                <a:latin typeface="Bookman Old Style"/>
                <a:cs typeface="Bookman Old Style"/>
              </a:rPr>
              <a:t>,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-10416">
                <a:latin typeface="Bookman Old Style"/>
                <a:cs typeface="Bookman Old Style"/>
              </a:rPr>
              <a:t>n</a:t>
            </a:r>
            <a:r>
              <a:rPr sz="1200" b="0" i="1" spc="232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disjoint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events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partition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Ω.</a:t>
            </a:r>
            <a:r>
              <a:rPr sz="1100" spc="19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Then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5">
                <a:latin typeface="Bookman Old Style"/>
                <a:cs typeface="Bookman Old Style"/>
              </a:rPr>
              <a:t> </a:t>
            </a:r>
            <a:r>
              <a:rPr sz="1100">
                <a:latin typeface="Lucida Sans Unicode"/>
                <a:cs typeface="Lucida Sans Unicode"/>
              </a:rPr>
              <a:t>⊂</a:t>
            </a:r>
            <a:r>
              <a:rPr sz="1100" spc="-55">
                <a:latin typeface="Lucida Sans Unicode"/>
                <a:cs typeface="Lucida Sans Unicode"/>
              </a:rPr>
              <a:t> </a:t>
            </a:r>
            <a:r>
              <a:rPr sz="1100" spc="-50">
                <a:latin typeface="Book Antiqua"/>
                <a:cs typeface="Book Antiqua"/>
              </a:rPr>
              <a:t>Ω</a:t>
            </a:r>
            <a:endParaRPr sz="1100">
              <a:latin typeface="Book Antiqua"/>
              <a:cs typeface="Book Antiqua"/>
            </a:endParaRPr>
          </a:p>
          <a:p>
            <a:pPr marR="144145" algn="ctr">
              <a:lnSpc>
                <a:spcPct val="100000"/>
              </a:lnSpc>
              <a:spcBef>
                <a:spcPts val="840"/>
              </a:spcBef>
            </a:pP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3553" y="1642656"/>
            <a:ext cx="495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6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43925" y="1601766"/>
            <a:ext cx="173442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35330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0">
                <a:latin typeface="Bookman Old Style"/>
                <a:cs typeface="Bookman Old Style"/>
              </a:rPr>
              <a:t> </a:t>
            </a:r>
            <a:r>
              <a:rPr sz="1100" spc="65">
                <a:latin typeface="Book Antiqua"/>
                <a:cs typeface="Book Antiqua"/>
              </a:rPr>
              <a:t>(</a:t>
            </a:r>
            <a:r>
              <a:rPr sz="1100" b="0" i="1" spc="65">
                <a:latin typeface="Bookman Old Style"/>
                <a:cs typeface="Bookman Old Style"/>
              </a:rPr>
              <a:t>B</a:t>
            </a:r>
            <a:r>
              <a:rPr sz="1100" spc="65">
                <a:latin typeface="Book Antiqua"/>
                <a:cs typeface="Book Antiqua"/>
              </a:rPr>
              <a:t>)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lang="en-US" sz="1100">
                <a:latin typeface="Book Antiqua"/>
                <a:cs typeface="Book Antiqua"/>
              </a:rPr>
              <a:t>    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2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∩</a:t>
            </a:r>
            <a:r>
              <a:rPr sz="1100" spc="-95">
                <a:latin typeface="Lucida Sans Unicode"/>
                <a:cs typeface="Lucida Sans Unicode"/>
              </a:rPr>
              <a:t> </a:t>
            </a:r>
            <a:r>
              <a:rPr sz="1100" b="0" i="1" spc="45">
                <a:latin typeface="Bookman Old Style"/>
                <a:cs typeface="Bookman Old Style"/>
              </a:rPr>
              <a:t>B</a:t>
            </a:r>
            <a:r>
              <a:rPr sz="1100" spc="4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57926" y="2221724"/>
            <a:ext cx="562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13080" algn="l"/>
              </a:tabLst>
            </a:pPr>
            <a:r>
              <a:rPr sz="800" b="0" i="1" spc="10">
                <a:latin typeface="Bookman Old Style"/>
                <a:cs typeface="Bookman Old Style"/>
              </a:rPr>
              <a:t>i</a:t>
            </a:r>
            <a:r>
              <a:rPr sz="800" b="0" i="1">
                <a:latin typeface="Bookman Old Style"/>
                <a:cs typeface="Bookman Old Style"/>
              </a:rPr>
              <a:t>	</a:t>
            </a:r>
            <a:r>
              <a:rPr sz="800" b="0" i="1" spc="1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10118" y="2199204"/>
            <a:ext cx="162687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368935" algn="l"/>
              </a:tabLst>
            </a:pP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lang="en-US" sz="1100">
                <a:latin typeface="Book Antiqua"/>
                <a:cs typeface="Book Antiqua"/>
              </a:rPr>
              <a:t>     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8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 b="0" i="1" spc="8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10/39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D3986B-9FFD-02CA-AE8F-1F61BBB70C51}"/>
                  </a:ext>
                </a:extLst>
              </p:cNvPr>
              <p:cNvSpPr txBox="1"/>
              <p:nvPr/>
            </p:nvSpPr>
            <p:spPr>
              <a:xfrm>
                <a:off x="1905783" y="1553162"/>
                <a:ext cx="488339" cy="2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bSup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CD3986B-9FFD-02CA-AE8F-1F61BBB70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783" y="1553162"/>
                <a:ext cx="488339" cy="278025"/>
              </a:xfrm>
              <a:prstGeom prst="rect">
                <a:avLst/>
              </a:prstGeom>
              <a:blipFill>
                <a:blip r:embed="rId3"/>
                <a:stretch>
                  <a:fillRect l="-10000" r="-2500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064402-7F92-7F55-1585-0D0CBFB27837}"/>
                  </a:ext>
                </a:extLst>
              </p:cNvPr>
              <p:cNvSpPr txBox="1"/>
              <p:nvPr/>
            </p:nvSpPr>
            <p:spPr>
              <a:xfrm>
                <a:off x="1952175" y="2130601"/>
                <a:ext cx="744819" cy="278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/>
                  <a:t>    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8064402-7F92-7F55-1585-0D0CBFB27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175" y="2130601"/>
                <a:ext cx="744819" cy="278025"/>
              </a:xfrm>
              <a:prstGeom prst="rect">
                <a:avLst/>
              </a:prstGeom>
              <a:blipFill>
                <a:blip r:embed="rId4"/>
                <a:stretch>
                  <a:fillRect l="-10656" b="-2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83" y="62407"/>
            <a:ext cx="21240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>
                <a:solidFill>
                  <a:srgbClr val="FFFFFF"/>
                </a:solidFill>
                <a:latin typeface="Times New Roman"/>
                <a:cs typeface="Times New Roman"/>
              </a:rPr>
              <a:t>Theorem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433" y="780313"/>
            <a:ext cx="3505200" cy="180848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12/39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1983" y="62407"/>
            <a:ext cx="21240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Total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Probability</a:t>
            </a:r>
            <a:r>
              <a:rPr sz="1400" spc="1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>
                <a:solidFill>
                  <a:srgbClr val="FFFFFF"/>
                </a:solidFill>
                <a:latin typeface="Times New Roman"/>
                <a:cs typeface="Times New Roman"/>
              </a:rPr>
              <a:t>Theorem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92174"/>
            <a:ext cx="6743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Remember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55648" y="1402461"/>
            <a:ext cx="641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25941" y="1308735"/>
            <a:ext cx="611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7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∩</a:t>
            </a:r>
            <a:r>
              <a:rPr sz="1100" spc="-85">
                <a:latin typeface="Lucida Sans Unicode"/>
                <a:cs typeface="Lucida Sans Unicode"/>
              </a:rPr>
              <a:t> </a:t>
            </a:r>
            <a:r>
              <a:rPr sz="1100" b="0" i="1" spc="45">
                <a:latin typeface="Bookman Old Style"/>
                <a:cs typeface="Bookman Old Style"/>
              </a:rPr>
              <a:t>B</a:t>
            </a:r>
            <a:r>
              <a:rPr sz="1100" spc="4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38641" y="1519072"/>
            <a:ext cx="586105" cy="0"/>
          </a:xfrm>
          <a:custGeom>
            <a:avLst/>
            <a:gdLst/>
            <a:ahLst/>
            <a:cxnLst/>
            <a:rect l="l" t="t" r="r" b="b"/>
            <a:pathLst>
              <a:path w="586105">
                <a:moveTo>
                  <a:pt x="0" y="0"/>
                </a:moveTo>
                <a:lnTo>
                  <a:pt x="58583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58923" y="1497495"/>
            <a:ext cx="345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spc="25">
                <a:latin typeface="Book Antiqua"/>
                <a:cs typeface="Book Antiqua"/>
              </a:rPr>
              <a:t>(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5844" y="1686674"/>
            <a:ext cx="149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so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0906" y="1858746"/>
            <a:ext cx="1586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45">
                <a:latin typeface="Bookman Old Style"/>
                <a:cs typeface="Bookman Old Style"/>
              </a:rPr>
              <a:t> </a:t>
            </a:r>
            <a:r>
              <a:rPr sz="1100" spc="-155">
                <a:latin typeface="Lucida Sans Unicode"/>
                <a:cs typeface="Lucida Sans Unicode"/>
              </a:rPr>
              <a:t>∩</a:t>
            </a:r>
            <a:r>
              <a:rPr sz="1100" spc="-6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8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 spc="-20">
                <a:latin typeface="Book Antiqua"/>
                <a:cs typeface="Book Antiqua"/>
              </a:rPr>
              <a:t>(</a:t>
            </a:r>
            <a:r>
              <a:rPr sz="1100" b="0" i="1" spc="-20">
                <a:latin typeface="Bookman Old Style"/>
                <a:cs typeface="Bookman Old Style"/>
              </a:rPr>
              <a:t>B</a:t>
            </a:r>
            <a:r>
              <a:rPr sz="1100" spc="-20">
                <a:latin typeface="Lucida Sans Unicode"/>
                <a:cs typeface="Lucida Sans Unicode"/>
              </a:rPr>
              <a:t>|</a:t>
            </a:r>
            <a:r>
              <a:rPr sz="1100" b="0" i="1" spc="-20">
                <a:latin typeface="Bookman Old Style"/>
                <a:cs typeface="Bookman Old Style"/>
              </a:rPr>
              <a:t>A</a:t>
            </a:r>
            <a:r>
              <a:rPr sz="1100" spc="-2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11/39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551662"/>
            <a:ext cx="4005579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roll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fair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lang="en-US" sz="1100" spc="-10">
                <a:latin typeface="Book Antiqua"/>
                <a:cs typeface="Book Antiqua"/>
              </a:rPr>
              <a:t>four-sided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die,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sides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number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1,2,3,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4.</a:t>
            </a:r>
            <a:endParaRPr sz="1100">
              <a:latin typeface="Book Antiqua"/>
              <a:cs typeface="Book Antiqua"/>
            </a:endParaRPr>
          </a:p>
          <a:p>
            <a:pPr marL="12700" marR="5080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result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2,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roll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again</a:t>
            </a:r>
            <a:r>
              <a:rPr lang="en-US" sz="1100">
                <a:latin typeface="Book Antiqua"/>
                <a:cs typeface="Book Antiqua"/>
              </a:rPr>
              <a:t> and stop</a:t>
            </a:r>
            <a:r>
              <a:rPr sz="1100">
                <a:latin typeface="Book Antiqua"/>
                <a:cs typeface="Book Antiqua"/>
              </a:rPr>
              <a:t>.</a:t>
            </a:r>
            <a:r>
              <a:rPr sz="1100" spc="1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the </a:t>
            </a:r>
            <a:r>
              <a:rPr sz="1100">
                <a:latin typeface="Book Antiqua"/>
                <a:cs typeface="Book Antiqua"/>
              </a:rPr>
              <a:t>roll(s)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total</a:t>
            </a:r>
            <a:r>
              <a:rPr sz="1100" spc="9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9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least</a:t>
            </a:r>
            <a:r>
              <a:rPr sz="1100" spc="9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4?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044" y="551662"/>
            <a:ext cx="4363606" cy="11892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t>I</a:t>
            </a:r>
            <a:r>
              <a:rPr spc="15"/>
              <a:t> </a:t>
            </a:r>
            <a:r>
              <a:t>roll</a:t>
            </a:r>
            <a:r>
              <a:rPr spc="20"/>
              <a:t> </a:t>
            </a:r>
            <a:r>
              <a:t>a</a:t>
            </a:r>
            <a:r>
              <a:rPr spc="20"/>
              <a:t> </a:t>
            </a:r>
            <a:r>
              <a:t>fair</a:t>
            </a:r>
            <a:r>
              <a:rPr spc="20"/>
              <a:t> </a:t>
            </a:r>
            <a:r>
              <a:rPr spc="-10"/>
              <a:t>four</a:t>
            </a:r>
            <a:r>
              <a:rPr spc="15"/>
              <a:t> </a:t>
            </a:r>
            <a:r>
              <a:rPr spc="-30"/>
              <a:t>sided</a:t>
            </a:r>
            <a:r>
              <a:rPr spc="20"/>
              <a:t> </a:t>
            </a:r>
            <a:r>
              <a:t>die,</a:t>
            </a:r>
            <a:r>
              <a:rPr spc="15"/>
              <a:t> </a:t>
            </a:r>
            <a:r>
              <a:rPr spc="-10"/>
              <a:t>with</a:t>
            </a:r>
            <a:r>
              <a:rPr spc="20"/>
              <a:t> </a:t>
            </a:r>
            <a:r>
              <a:rPr spc="-25"/>
              <a:t>sides</a:t>
            </a:r>
            <a:r>
              <a:rPr spc="15"/>
              <a:t> </a:t>
            </a:r>
            <a:r>
              <a:rPr spc="-30"/>
              <a:t>number</a:t>
            </a:r>
            <a:r>
              <a:rPr spc="20"/>
              <a:t> </a:t>
            </a:r>
            <a:r>
              <a:t>1,2,3,</a:t>
            </a:r>
            <a:r>
              <a:rPr spc="15"/>
              <a:t> </a:t>
            </a:r>
            <a:r>
              <a:t>and</a:t>
            </a:r>
            <a:r>
              <a:rPr spc="20"/>
              <a:t> </a:t>
            </a:r>
            <a:r>
              <a:rPr spc="-25"/>
              <a:t>4.</a:t>
            </a:r>
          </a:p>
          <a:p>
            <a:pPr marL="63500" marR="30480">
              <a:lnSpc>
                <a:spcPct val="102600"/>
              </a:lnSpc>
            </a:pPr>
            <a:r>
              <a:t>If</a:t>
            </a:r>
            <a:r>
              <a:rPr spc="45"/>
              <a:t> </a:t>
            </a:r>
            <a:r>
              <a:t>the</a:t>
            </a:r>
            <a:r>
              <a:rPr spc="50"/>
              <a:t> </a:t>
            </a:r>
            <a:r>
              <a:t>result</a:t>
            </a:r>
            <a:r>
              <a:rPr spc="50"/>
              <a:t> </a:t>
            </a:r>
            <a:r>
              <a:t>is</a:t>
            </a:r>
            <a:r>
              <a:rPr spc="45"/>
              <a:t> </a:t>
            </a:r>
            <a:r>
              <a:t>1</a:t>
            </a:r>
            <a:r>
              <a:rPr spc="45"/>
              <a:t> </a:t>
            </a:r>
            <a:r>
              <a:t>or</a:t>
            </a:r>
            <a:r>
              <a:rPr spc="50"/>
              <a:t> </a:t>
            </a:r>
            <a:r>
              <a:t>2,</a:t>
            </a:r>
            <a:r>
              <a:rPr spc="45"/>
              <a:t> </a:t>
            </a:r>
            <a:r>
              <a:t>roll</a:t>
            </a:r>
            <a:r>
              <a:rPr spc="50"/>
              <a:t> </a:t>
            </a:r>
            <a:r>
              <a:t>again.</a:t>
            </a:r>
            <a:r>
              <a:rPr spc="160"/>
              <a:t> </a:t>
            </a:r>
            <a:r>
              <a:t>What</a:t>
            </a:r>
            <a:r>
              <a:rPr spc="50"/>
              <a:t> </a:t>
            </a:r>
            <a:r>
              <a:t>is</a:t>
            </a:r>
            <a:r>
              <a:rPr spc="45"/>
              <a:t> </a:t>
            </a:r>
            <a:r>
              <a:t>the</a:t>
            </a:r>
            <a:r>
              <a:rPr spc="50"/>
              <a:t> </a:t>
            </a:r>
            <a:r>
              <a:rPr spc="-10"/>
              <a:t>probability</a:t>
            </a:r>
            <a:r>
              <a:rPr spc="50"/>
              <a:t> </a:t>
            </a:r>
            <a:r>
              <a:t>that</a:t>
            </a:r>
            <a:r>
              <a:rPr spc="45"/>
              <a:t> </a:t>
            </a:r>
            <a:r>
              <a:rPr spc="-25"/>
              <a:t>the </a:t>
            </a:r>
            <a:r>
              <a:t>roll(s)</a:t>
            </a:r>
            <a:r>
              <a:rPr spc="90"/>
              <a:t> </a:t>
            </a:r>
            <a:r>
              <a:t>total</a:t>
            </a:r>
            <a:r>
              <a:rPr spc="95"/>
              <a:t> </a:t>
            </a:r>
            <a:r>
              <a:t>to</a:t>
            </a:r>
            <a:r>
              <a:rPr spc="90"/>
              <a:t> </a:t>
            </a:r>
            <a:r>
              <a:t>at</a:t>
            </a:r>
            <a:r>
              <a:rPr spc="90"/>
              <a:t> </a:t>
            </a:r>
            <a:r>
              <a:t>least</a:t>
            </a:r>
            <a:r>
              <a:rPr spc="95"/>
              <a:t> </a:t>
            </a:r>
            <a:r>
              <a:rPr spc="-25"/>
              <a:t>4?</a:t>
            </a:r>
          </a:p>
          <a:p>
            <a:pPr marL="63500" marR="1478915">
              <a:lnSpc>
                <a:spcPct val="210000"/>
              </a:lnSpc>
            </a:pPr>
            <a:r>
              <a:t>Let</a:t>
            </a:r>
            <a:r>
              <a:rPr spc="60"/>
              <a:t> </a:t>
            </a:r>
            <a:r>
              <a:rPr b="0" i="1" spc="50">
                <a:latin typeface="Bookman Old Style"/>
                <a:cs typeface="Bookman Old Style"/>
              </a:rPr>
              <a:t>A</a:t>
            </a:r>
            <a:r>
              <a:rPr sz="1200" b="0" i="1" spc="75" baseline="-10416">
                <a:latin typeface="Bookman Old Style"/>
                <a:cs typeface="Bookman Old Style"/>
              </a:rPr>
              <a:t>i</a:t>
            </a:r>
            <a:r>
              <a:rPr sz="1200" b="0" i="1" spc="209" baseline="-10416">
                <a:latin typeface="Bookman Old Style"/>
                <a:cs typeface="Bookman Old Style"/>
              </a:rPr>
              <a:t> </a:t>
            </a:r>
            <a:r>
              <a:rPr sz="1100"/>
              <a:t>be</a:t>
            </a:r>
            <a:r>
              <a:rPr sz="1100" spc="60"/>
              <a:t> </a:t>
            </a:r>
            <a:r>
              <a:rPr sz="1100"/>
              <a:t>the</a:t>
            </a:r>
            <a:r>
              <a:rPr sz="1100" spc="60"/>
              <a:t> </a:t>
            </a:r>
            <a:r>
              <a:rPr sz="1100" spc="-20"/>
              <a:t>event</a:t>
            </a:r>
            <a:r>
              <a:rPr sz="1100" spc="60"/>
              <a:t> </a:t>
            </a:r>
            <a:r>
              <a:rPr sz="1100"/>
              <a:t>that</a:t>
            </a:r>
            <a:r>
              <a:rPr sz="1100" spc="60"/>
              <a:t> </a:t>
            </a:r>
            <a:r>
              <a:rPr sz="1100"/>
              <a:t>the</a:t>
            </a:r>
            <a:r>
              <a:rPr sz="1100" spc="65"/>
              <a:t> </a:t>
            </a:r>
            <a:r>
              <a:rPr sz="1100"/>
              <a:t>first</a:t>
            </a:r>
            <a:r>
              <a:rPr sz="1100" spc="60"/>
              <a:t> </a:t>
            </a:r>
            <a:r>
              <a:rPr sz="1100"/>
              <a:t>roll</a:t>
            </a:r>
            <a:r>
              <a:rPr sz="1100" spc="60"/>
              <a:t> </a:t>
            </a:r>
            <a:r>
              <a:rPr sz="1100"/>
              <a:t>is</a:t>
            </a:r>
            <a:r>
              <a:rPr sz="1100" spc="60"/>
              <a:t> </a:t>
            </a:r>
            <a:r>
              <a:rPr sz="1100" b="0" i="1" spc="-25">
                <a:latin typeface="Bookman Old Style"/>
                <a:cs typeface="Bookman Old Style"/>
              </a:rPr>
              <a:t>i</a:t>
            </a:r>
            <a:r>
              <a:rPr sz="1100" spc="-25"/>
              <a:t>. </a:t>
            </a:r>
            <a:r>
              <a:rPr sz="1100"/>
              <a:t>Let</a:t>
            </a:r>
            <a:r>
              <a:rPr sz="1100" spc="85"/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85">
                <a:latin typeface="Bookman Old Style"/>
                <a:cs typeface="Bookman Old Style"/>
              </a:rPr>
              <a:t> </a:t>
            </a:r>
            <a:r>
              <a:rPr sz="1100"/>
              <a:t>be</a:t>
            </a:r>
            <a:r>
              <a:rPr sz="1100" spc="85"/>
              <a:t> </a:t>
            </a:r>
            <a:r>
              <a:rPr sz="1100"/>
              <a:t>the</a:t>
            </a:r>
            <a:r>
              <a:rPr sz="1100" spc="85"/>
              <a:t> </a:t>
            </a:r>
            <a:r>
              <a:rPr sz="1100" spc="-20"/>
              <a:t>event</a:t>
            </a:r>
            <a:r>
              <a:rPr sz="1100" spc="85"/>
              <a:t> </a:t>
            </a:r>
            <a:r>
              <a:rPr sz="1100"/>
              <a:t>that</a:t>
            </a:r>
            <a:r>
              <a:rPr sz="1100" spc="85"/>
              <a:t> </a:t>
            </a:r>
            <a:r>
              <a:rPr sz="1100"/>
              <a:t>the</a:t>
            </a:r>
            <a:r>
              <a:rPr sz="1100" spc="90"/>
              <a:t> </a:t>
            </a:r>
            <a:r>
              <a:rPr sz="1100"/>
              <a:t>total</a:t>
            </a:r>
            <a:r>
              <a:rPr sz="1100" spc="85"/>
              <a:t> </a:t>
            </a:r>
            <a:r>
              <a:rPr sz="1100"/>
              <a:t>is</a:t>
            </a:r>
            <a:r>
              <a:rPr sz="1100" spc="85"/>
              <a:t> </a:t>
            </a:r>
            <a:r>
              <a:rPr lang="en-US" sz="1100" spc="85"/>
              <a:t>at least </a:t>
            </a:r>
            <a:r>
              <a:rPr sz="1100" spc="-25"/>
              <a:t>4.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5044" y="551662"/>
            <a:ext cx="4287406" cy="11892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t>I</a:t>
            </a:r>
            <a:r>
              <a:rPr spc="15"/>
              <a:t> </a:t>
            </a:r>
            <a:r>
              <a:t>roll</a:t>
            </a:r>
            <a:r>
              <a:rPr spc="20"/>
              <a:t> </a:t>
            </a:r>
            <a:r>
              <a:t>a</a:t>
            </a:r>
            <a:r>
              <a:rPr spc="20"/>
              <a:t> </a:t>
            </a:r>
            <a:r>
              <a:t>fair</a:t>
            </a:r>
            <a:r>
              <a:rPr spc="20"/>
              <a:t> </a:t>
            </a:r>
            <a:r>
              <a:rPr spc="-10"/>
              <a:t>four</a:t>
            </a:r>
            <a:r>
              <a:rPr spc="15"/>
              <a:t> </a:t>
            </a:r>
            <a:r>
              <a:rPr spc="-30"/>
              <a:t>sided</a:t>
            </a:r>
            <a:r>
              <a:rPr spc="20"/>
              <a:t> </a:t>
            </a:r>
            <a:r>
              <a:t>die,</a:t>
            </a:r>
            <a:r>
              <a:rPr spc="15"/>
              <a:t> </a:t>
            </a:r>
            <a:r>
              <a:rPr spc="-10"/>
              <a:t>with</a:t>
            </a:r>
            <a:r>
              <a:rPr spc="20"/>
              <a:t> </a:t>
            </a:r>
            <a:r>
              <a:rPr spc="-25"/>
              <a:t>sides</a:t>
            </a:r>
            <a:r>
              <a:rPr spc="15"/>
              <a:t> </a:t>
            </a:r>
            <a:r>
              <a:rPr spc="-30"/>
              <a:t>number</a:t>
            </a:r>
            <a:r>
              <a:rPr spc="20"/>
              <a:t> </a:t>
            </a:r>
            <a:r>
              <a:t>1,2,3,</a:t>
            </a:r>
            <a:r>
              <a:rPr spc="15"/>
              <a:t> </a:t>
            </a:r>
            <a:r>
              <a:t>and</a:t>
            </a:r>
            <a:r>
              <a:rPr spc="20"/>
              <a:t> </a:t>
            </a:r>
            <a:r>
              <a:rPr spc="-25"/>
              <a:t>4.</a:t>
            </a:r>
          </a:p>
          <a:p>
            <a:pPr marL="63500" marR="30480">
              <a:lnSpc>
                <a:spcPct val="102600"/>
              </a:lnSpc>
            </a:pPr>
            <a:r>
              <a:t>If</a:t>
            </a:r>
            <a:r>
              <a:rPr spc="45"/>
              <a:t> </a:t>
            </a:r>
            <a:r>
              <a:t>the</a:t>
            </a:r>
            <a:r>
              <a:rPr spc="50"/>
              <a:t> </a:t>
            </a:r>
            <a:r>
              <a:t>result</a:t>
            </a:r>
            <a:r>
              <a:rPr spc="50"/>
              <a:t> </a:t>
            </a:r>
            <a:r>
              <a:t>is</a:t>
            </a:r>
            <a:r>
              <a:rPr spc="45"/>
              <a:t> </a:t>
            </a:r>
            <a:r>
              <a:t>1</a:t>
            </a:r>
            <a:r>
              <a:rPr spc="45"/>
              <a:t> </a:t>
            </a:r>
            <a:r>
              <a:t>or</a:t>
            </a:r>
            <a:r>
              <a:rPr spc="50"/>
              <a:t> </a:t>
            </a:r>
            <a:r>
              <a:t>2,</a:t>
            </a:r>
            <a:r>
              <a:rPr spc="45"/>
              <a:t> </a:t>
            </a:r>
            <a:r>
              <a:t>roll</a:t>
            </a:r>
            <a:r>
              <a:rPr spc="50"/>
              <a:t> </a:t>
            </a:r>
            <a:r>
              <a:t>again.</a:t>
            </a:r>
            <a:r>
              <a:rPr spc="160"/>
              <a:t> </a:t>
            </a:r>
            <a:r>
              <a:t>What</a:t>
            </a:r>
            <a:r>
              <a:rPr spc="50"/>
              <a:t> </a:t>
            </a:r>
            <a:r>
              <a:t>is</a:t>
            </a:r>
            <a:r>
              <a:rPr spc="45"/>
              <a:t> </a:t>
            </a:r>
            <a:r>
              <a:t>the</a:t>
            </a:r>
            <a:r>
              <a:rPr spc="50"/>
              <a:t> </a:t>
            </a:r>
            <a:r>
              <a:rPr spc="-10"/>
              <a:t>probability</a:t>
            </a:r>
            <a:r>
              <a:rPr spc="50"/>
              <a:t> </a:t>
            </a:r>
            <a:r>
              <a:t>that</a:t>
            </a:r>
            <a:r>
              <a:rPr spc="45"/>
              <a:t> </a:t>
            </a:r>
            <a:r>
              <a:rPr spc="-25"/>
              <a:t>the </a:t>
            </a:r>
            <a:r>
              <a:t>roll(s)</a:t>
            </a:r>
            <a:r>
              <a:rPr spc="90"/>
              <a:t> </a:t>
            </a:r>
            <a:r>
              <a:t>total</a:t>
            </a:r>
            <a:r>
              <a:rPr spc="95"/>
              <a:t> </a:t>
            </a:r>
            <a:r>
              <a:t>to</a:t>
            </a:r>
            <a:r>
              <a:rPr spc="90"/>
              <a:t> </a:t>
            </a:r>
            <a:r>
              <a:t>at</a:t>
            </a:r>
            <a:r>
              <a:rPr spc="90"/>
              <a:t> </a:t>
            </a:r>
            <a:r>
              <a:t>least</a:t>
            </a:r>
            <a:r>
              <a:rPr spc="95"/>
              <a:t> </a:t>
            </a:r>
            <a:r>
              <a:rPr spc="-25"/>
              <a:t>4?</a:t>
            </a:r>
          </a:p>
          <a:p>
            <a:pPr marL="63500" marR="1478915">
              <a:lnSpc>
                <a:spcPct val="210000"/>
              </a:lnSpc>
            </a:pPr>
            <a:r>
              <a:t>Let</a:t>
            </a:r>
            <a:r>
              <a:rPr spc="60"/>
              <a:t> </a:t>
            </a:r>
            <a:r>
              <a:rPr b="0" i="1" spc="50">
                <a:latin typeface="Bookman Old Style"/>
                <a:cs typeface="Bookman Old Style"/>
              </a:rPr>
              <a:t>A</a:t>
            </a:r>
            <a:r>
              <a:rPr sz="1200" b="0" i="1" spc="75" baseline="-10416">
                <a:latin typeface="Bookman Old Style"/>
                <a:cs typeface="Bookman Old Style"/>
              </a:rPr>
              <a:t>i</a:t>
            </a:r>
            <a:r>
              <a:rPr sz="1200" b="0" i="1" spc="209" baseline="-10416">
                <a:latin typeface="Bookman Old Style"/>
                <a:cs typeface="Bookman Old Style"/>
              </a:rPr>
              <a:t> </a:t>
            </a:r>
            <a:r>
              <a:rPr sz="1100"/>
              <a:t>be</a:t>
            </a:r>
            <a:r>
              <a:rPr sz="1100" spc="60"/>
              <a:t> </a:t>
            </a:r>
            <a:r>
              <a:rPr sz="1100"/>
              <a:t>the</a:t>
            </a:r>
            <a:r>
              <a:rPr sz="1100" spc="60"/>
              <a:t> </a:t>
            </a:r>
            <a:r>
              <a:rPr sz="1100" spc="-20"/>
              <a:t>event</a:t>
            </a:r>
            <a:r>
              <a:rPr sz="1100" spc="60"/>
              <a:t> </a:t>
            </a:r>
            <a:r>
              <a:rPr sz="1100"/>
              <a:t>that</a:t>
            </a:r>
            <a:r>
              <a:rPr sz="1100" spc="60"/>
              <a:t> </a:t>
            </a:r>
            <a:r>
              <a:rPr sz="1100"/>
              <a:t>the</a:t>
            </a:r>
            <a:r>
              <a:rPr sz="1100" spc="65"/>
              <a:t> </a:t>
            </a:r>
            <a:r>
              <a:rPr sz="1100"/>
              <a:t>first</a:t>
            </a:r>
            <a:r>
              <a:rPr sz="1100" spc="60"/>
              <a:t> </a:t>
            </a:r>
            <a:r>
              <a:rPr sz="1100"/>
              <a:t>roll</a:t>
            </a:r>
            <a:r>
              <a:rPr sz="1100" spc="60"/>
              <a:t> </a:t>
            </a:r>
            <a:r>
              <a:rPr sz="1100"/>
              <a:t>is</a:t>
            </a:r>
            <a:r>
              <a:rPr sz="1100" spc="60"/>
              <a:t> </a:t>
            </a:r>
            <a:r>
              <a:rPr sz="1100" b="0" i="1" spc="-25">
                <a:latin typeface="Bookman Old Style"/>
                <a:cs typeface="Bookman Old Style"/>
              </a:rPr>
              <a:t>i</a:t>
            </a:r>
            <a:r>
              <a:rPr sz="1100" spc="-25"/>
              <a:t>. </a:t>
            </a:r>
            <a:r>
              <a:rPr sz="1100"/>
              <a:t>Let</a:t>
            </a:r>
            <a:r>
              <a:rPr sz="1100" spc="85"/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85">
                <a:latin typeface="Bookman Old Style"/>
                <a:cs typeface="Bookman Old Style"/>
              </a:rPr>
              <a:t> </a:t>
            </a:r>
            <a:r>
              <a:rPr sz="1100"/>
              <a:t>be</a:t>
            </a:r>
            <a:r>
              <a:rPr sz="1100" spc="85"/>
              <a:t> </a:t>
            </a:r>
            <a:r>
              <a:rPr sz="1100"/>
              <a:t>the</a:t>
            </a:r>
            <a:r>
              <a:rPr sz="1100" spc="85"/>
              <a:t> </a:t>
            </a:r>
            <a:r>
              <a:rPr sz="1100" spc="-20"/>
              <a:t>event</a:t>
            </a:r>
            <a:r>
              <a:rPr sz="1100" spc="85"/>
              <a:t> </a:t>
            </a:r>
            <a:r>
              <a:rPr sz="1100"/>
              <a:t>that</a:t>
            </a:r>
            <a:r>
              <a:rPr sz="1100" spc="85"/>
              <a:t> </a:t>
            </a:r>
            <a:r>
              <a:rPr sz="1100"/>
              <a:t>the</a:t>
            </a:r>
            <a:r>
              <a:rPr sz="1100" spc="90"/>
              <a:t> </a:t>
            </a:r>
            <a:r>
              <a:rPr sz="1100"/>
              <a:t>total</a:t>
            </a:r>
            <a:r>
              <a:rPr sz="1100" spc="85"/>
              <a:t> </a:t>
            </a:r>
            <a:r>
              <a:rPr sz="1100"/>
              <a:t>is</a:t>
            </a:r>
            <a:r>
              <a:rPr sz="1100" spc="85"/>
              <a:t> </a:t>
            </a:r>
            <a:r>
              <a:rPr lang="en-US" sz="1100" spc="85"/>
              <a:t>at least </a:t>
            </a:r>
            <a:r>
              <a:rPr sz="1100" spc="-25"/>
              <a:t>4.</a:t>
            </a:r>
            <a:endParaRPr sz="1100">
              <a:latin typeface="Bookman Old Style"/>
              <a:cs typeface="Bookman Old Styl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562239" y="2057730"/>
          <a:ext cx="1477644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spc="25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37" baseline="-10416">
                          <a:latin typeface="Bookman Old Style"/>
                          <a:cs typeface="Bookman Old Style"/>
                        </a:rPr>
                        <a:t>i</a:t>
                      </a:r>
                      <a:endParaRPr sz="1200" baseline="-10416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45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45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67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45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-15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1.14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63599" y="1136535"/>
          <a:ext cx="2674619" cy="1109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 spc="25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37" baseline="-10416">
                          <a:latin typeface="Bookman Old Style"/>
                          <a:cs typeface="Bookman Old Style"/>
                        </a:rPr>
                        <a:t>i</a:t>
                      </a:r>
                      <a:endParaRPr sz="1200" baseline="-10416">
                        <a:latin typeface="Bookman Old Style"/>
                        <a:cs typeface="Bookman Old Style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45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45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67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45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-15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6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65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65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97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65">
                          <a:latin typeface="Book Antiqua"/>
                          <a:cs typeface="Book Antiqua"/>
                        </a:rPr>
                        <a:t>)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35">
                          <a:latin typeface="Lucida Sans Unicode"/>
                          <a:cs typeface="Lucida Sans Unicode"/>
                        </a:rPr>
                        <a:t>×</a:t>
                      </a:r>
                      <a:r>
                        <a:rPr sz="1100" spc="-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6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spc="-15" baseline="-10416">
                          <a:latin typeface="Bookman Old Style"/>
                          <a:cs typeface="Bookman Old Style"/>
                        </a:rPr>
                        <a:t>i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8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r>
                        <a:rPr sz="800" u="sng" spc="50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0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800">
                          <a:latin typeface="Century"/>
                          <a:cs typeface="Century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spc="5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800" u="sng" spc="-5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9</a:t>
                      </a:r>
                      <a:r>
                        <a:rPr sz="800" u="sng" spc="50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 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spc="-25">
                          <a:latin typeface="Century"/>
                          <a:cs typeface="Century"/>
                        </a:rPr>
                        <a:t>16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14/39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1.14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36064" y="1217510"/>
          <a:ext cx="1130296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15/39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1.14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43697" y="1065555"/>
          <a:ext cx="1315716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16/39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1.14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643697" y="1065555"/>
          <a:ext cx="1315716" cy="90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3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R="4445" algn="ctr">
                        <a:lnSpc>
                          <a:spcPts val="12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1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2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3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R="4445"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4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Segoe UI Symbol"/>
                          <a:cs typeface="Segoe UI Symbol"/>
                        </a:rPr>
                        <a:t>✓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2366010" y="226343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21929" y="2146820"/>
            <a:ext cx="95694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35660" algn="l"/>
              </a:tabLst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>
                <a:latin typeface="Lucida Sans Unicode"/>
                <a:cs typeface="Lucida Sans Unicode"/>
              </a:rPr>
              <a:t>≥</a:t>
            </a:r>
            <a:r>
              <a:rPr sz="1100" spc="-5">
                <a:latin typeface="Lucida Sans Unicode"/>
                <a:cs typeface="Lucida Sans Unicode"/>
              </a:rPr>
              <a:t> </a:t>
            </a:r>
            <a:r>
              <a:rPr sz="1100">
                <a:latin typeface="Book Antiqua"/>
                <a:cs typeface="Book Antiqua"/>
              </a:rPr>
              <a:t>4)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4854" y="2053094"/>
            <a:ext cx="4718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9255" algn="l"/>
              </a:tabLst>
            </a:pPr>
            <a:r>
              <a:rPr sz="1100" spc="190">
                <a:latin typeface="Book Antiqua"/>
                <a:cs typeface="Book Antiqua"/>
              </a:rPr>
              <a:t>#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5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19641" y="2263432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53310" y="2241854"/>
            <a:ext cx="51815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>
                <a:latin typeface="Book Antiqua"/>
                <a:cs typeface="Book Antiqua"/>
              </a:rPr>
              <a:t>16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spc="-25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16/39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65797"/>
            <a:ext cx="4356735" cy="193790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75285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Alice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taking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class.</a:t>
            </a:r>
            <a:r>
              <a:rPr sz="1100" spc="10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end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each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55">
                <a:latin typeface="Book Antiqua"/>
                <a:cs typeface="Book Antiqua"/>
              </a:rPr>
              <a:t>week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is </a:t>
            </a:r>
            <a:r>
              <a:rPr sz="1100" spc="-10">
                <a:latin typeface="Book Antiqua"/>
                <a:cs typeface="Book Antiqua"/>
              </a:rPr>
              <a:t>caught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-10">
                <a:latin typeface="Book Antiqua"/>
                <a:cs typeface="Book Antiqua"/>
              </a:rPr>
              <a:t> behind.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245110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beginning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week,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remains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to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.8.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5080">
              <a:lnSpc>
                <a:spcPct val="102699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up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beginning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week,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becomes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up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to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with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.4.</a:t>
            </a:r>
            <a:endParaRPr lang="en-US" sz="1100" spc="-25">
              <a:latin typeface="Book Antiqua"/>
              <a:cs typeface="Book Antiqua"/>
            </a:endParaRPr>
          </a:p>
          <a:p>
            <a:pPr marL="12700" marR="5080">
              <a:lnSpc>
                <a:spcPct val="102699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US" sz="1150">
                <a:latin typeface="Book Antiqua"/>
                <a:cs typeface="Book Antiqua"/>
              </a:rPr>
              <a:t>The probability that she is up at the end of first week is .8.</a:t>
            </a: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after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three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weeks?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17/39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81760"/>
            <a:ext cx="4265930" cy="11347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558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behind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at </a:t>
            </a:r>
            <a:r>
              <a:rPr sz="1100" spc="-55">
                <a:latin typeface="Book Antiqua"/>
                <a:cs typeface="Book Antiqua"/>
              </a:rPr>
              <a:t>week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i</a:t>
            </a:r>
            <a:r>
              <a:rPr sz="1100" spc="-25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Book Antiqua"/>
              <a:cs typeface="Book Antiqua"/>
            </a:endParaRPr>
          </a:p>
          <a:p>
            <a:pPr marL="191770" algn="ctr">
              <a:lnSpc>
                <a:spcPct val="100000"/>
              </a:lnSpc>
              <a:spcBef>
                <a:spcPts val="5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3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2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3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lang="en-US"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3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Book Antiqua"/>
              <a:cs typeface="Book Antiqua"/>
            </a:endParaRPr>
          </a:p>
          <a:p>
            <a:pPr marL="192405"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7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18/39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5883" y="1158176"/>
            <a:ext cx="2716530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7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19/39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883" y="1158176"/>
            <a:ext cx="2716530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7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3726" y="2190953"/>
            <a:ext cx="2180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4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64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08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72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19/39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81760"/>
            <a:ext cx="4265930" cy="11347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558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behind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at </a:t>
            </a:r>
            <a:r>
              <a:rPr sz="1100" spc="-55">
                <a:latin typeface="Book Antiqua"/>
                <a:cs typeface="Book Antiqua"/>
              </a:rPr>
              <a:t>week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i</a:t>
            </a:r>
            <a:r>
              <a:rPr sz="1100" spc="-25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Book Antiqua"/>
              <a:cs typeface="Book Antiqua"/>
            </a:endParaRPr>
          </a:p>
          <a:p>
            <a:pPr marL="191770" algn="ctr">
              <a:lnSpc>
                <a:spcPct val="100000"/>
              </a:lnSpc>
              <a:spcBef>
                <a:spcPts val="5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3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3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Book Antiqua"/>
                <a:cs typeface="Book Antiqua"/>
              </a:rPr>
              <a:t>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3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Book Antiqua"/>
              <a:cs typeface="Book Antiqua"/>
            </a:endParaRPr>
          </a:p>
          <a:p>
            <a:pPr marL="192405"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72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8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-1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80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4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20/39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0147" y="1158176"/>
            <a:ext cx="2747645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3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7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21/39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147" y="1158176"/>
            <a:ext cx="2747645" cy="618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3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2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1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6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70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1</a:t>
            </a:r>
            <a:r>
              <a:rPr sz="1100">
                <a:latin typeface="Book Antiqua"/>
                <a:cs typeface="Book Antiqua"/>
              </a:rPr>
              <a:t>)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6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3726" y="2190953"/>
            <a:ext cx="2180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-1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6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16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12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28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21/39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44" y="1090993"/>
            <a:ext cx="4265930" cy="11347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3500" marR="558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Let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="0" i="1" baseline="-10416">
                <a:latin typeface="Bookman Old Style"/>
                <a:cs typeface="Bookman Old Style"/>
              </a:rPr>
              <a:t>i</a:t>
            </a:r>
            <a:r>
              <a:rPr sz="1200" b="0" i="1" spc="187" baseline="-10416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be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up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date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or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behind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at </a:t>
            </a:r>
            <a:r>
              <a:rPr sz="1100" spc="-55">
                <a:latin typeface="Book Antiqua"/>
                <a:cs typeface="Book Antiqua"/>
              </a:rPr>
              <a:t>week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i</a:t>
            </a:r>
            <a:r>
              <a:rPr sz="1100" spc="-25">
                <a:latin typeface="Book Antiqua"/>
                <a:cs typeface="Book Antiqua"/>
              </a:rPr>
              <a:t>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Book Antiqua"/>
              <a:cs typeface="Book Antiqua"/>
            </a:endParaRPr>
          </a:p>
          <a:p>
            <a:pPr marL="191770" algn="ctr">
              <a:lnSpc>
                <a:spcPct val="100000"/>
              </a:lnSpc>
              <a:spcBef>
                <a:spcPts val="5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3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U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3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Book Antiqua"/>
                <a:cs typeface="Book Antiqua"/>
              </a:rPr>
              <a:t>)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200" baseline="-10416">
                <a:latin typeface="Century"/>
                <a:cs typeface="Century"/>
              </a:rPr>
              <a:t>2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U</a:t>
            </a:r>
            <a:r>
              <a:rPr sz="1200" spc="-15" baseline="-10416">
                <a:latin typeface="Century"/>
                <a:cs typeface="Century"/>
              </a:rPr>
              <a:t>3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B</a:t>
            </a:r>
            <a:r>
              <a:rPr sz="1200" spc="-15" baseline="-10416">
                <a:latin typeface="Century"/>
                <a:cs typeface="Century"/>
              </a:rPr>
              <a:t>2</a:t>
            </a:r>
            <a:r>
              <a:rPr sz="1100" spc="-1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>
              <a:latin typeface="Book Antiqua"/>
              <a:cs typeface="Book Antiqua"/>
            </a:endParaRPr>
          </a:p>
          <a:p>
            <a:pPr marL="192405" algn="ctr">
              <a:lnSpc>
                <a:spcPct val="100000"/>
              </a:lnSpc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72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8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28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4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688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22/39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94803"/>
            <a:ext cx="1046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Do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Excel: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47114" y="1472577"/>
          <a:ext cx="2308860" cy="52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=A1*.8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B1*.4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=A1*.2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B1*.6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99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194803"/>
            <a:ext cx="10464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Do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Excel: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47114" y="1472577"/>
          <a:ext cx="2308860" cy="529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4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=A1*.8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B1*.4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=A1*.2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B1*.6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=A2*.8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B2*.4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>
                          <a:latin typeface="Book Antiqua"/>
                          <a:cs typeface="Book Antiqua"/>
                        </a:rPr>
                        <a:t>=A2*.2</a:t>
                      </a:r>
                      <a:r>
                        <a:rPr sz="1100" spc="21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180">
                          <a:latin typeface="Book Antiqua"/>
                          <a:cs typeface="Book Antiqua"/>
                        </a:rPr>
                        <a:t>+</a:t>
                      </a:r>
                      <a:r>
                        <a:rPr sz="1100" spc="225">
                          <a:latin typeface="Book Antiqua"/>
                          <a:cs typeface="Book Antiqua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B2*.6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29767"/>
            <a:ext cx="23323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What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happens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Alice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after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8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weeks?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87703" y="1134478"/>
          <a:ext cx="1628138" cy="1412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0.8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0.2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0.72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0.28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0.688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0.6752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0.3248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0.67008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0.32992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0.668032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0.331968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0.6672128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0.3327872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0.66688512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>
                          <a:latin typeface="Book Antiqua"/>
                          <a:cs typeface="Book Antiqua"/>
                        </a:rPr>
                        <a:t>0.33311488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24/39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82550">
              <a:lnSpc>
                <a:spcPct val="100000"/>
              </a:lnSpc>
              <a:spcBef>
                <a:spcPts val="135"/>
              </a:spcBef>
            </a:pPr>
            <a:r>
              <a:t>Bayes’</a:t>
            </a:r>
            <a:r>
              <a:rPr spc="130"/>
              <a:t> </a:t>
            </a:r>
            <a:r>
              <a:rPr spc="-2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8723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31378" y="1316910"/>
            <a:ext cx="94551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Thomas</a:t>
            </a:r>
            <a:r>
              <a:rPr sz="12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0">
                <a:solidFill>
                  <a:srgbClr val="FFFFFF"/>
                </a:solidFill>
                <a:latin typeface="Times New Roman"/>
                <a:cs typeface="Times New Roman"/>
              </a:rPr>
              <a:t>Bayes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87513"/>
            <a:ext cx="443293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3660" marR="167640" indent="269875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c.</a:t>
            </a:r>
            <a:r>
              <a:rPr sz="1100" spc="17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1701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–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7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April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1761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English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statistician,</a:t>
            </a:r>
            <a:r>
              <a:rPr sz="1100" spc="6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philosopher,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and </a:t>
            </a:r>
            <a:r>
              <a:rPr sz="1100" spc="-10">
                <a:latin typeface="Book Antiqua"/>
                <a:cs typeface="Book Antiqua"/>
              </a:rPr>
              <a:t>Presbyterian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minister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5">
                <a:latin typeface="Book Antiqua"/>
                <a:cs typeface="Book Antiqua"/>
              </a:rPr>
              <a:t>who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known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formulating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specific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case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of</a:t>
            </a:r>
            <a:endParaRPr sz="1100">
              <a:latin typeface="Book Antiqua"/>
              <a:cs typeface="Book Antiqua"/>
            </a:endParaRPr>
          </a:p>
          <a:p>
            <a:pPr marL="640080">
              <a:lnSpc>
                <a:spcPct val="100000"/>
              </a:lnSpc>
              <a:spcBef>
                <a:spcPts val="35"/>
              </a:spcBef>
            </a:pP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theorem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bears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name: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Bayes’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theorem.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25/39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2444" y="62407"/>
            <a:ext cx="943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Bayes’</a:t>
            </a:r>
            <a:r>
              <a:rPr sz="14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34324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1624" y="1372905"/>
            <a:ext cx="765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Bayes’</a:t>
            </a:r>
            <a:r>
              <a:rPr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6476" y="1644929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3731" y="1551203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30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40">
                <a:latin typeface="Lucida Sans Unicode"/>
                <a:cs typeface="Lucida Sans Unicode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5">
                <a:latin typeface="Bookman Old Style"/>
                <a:cs typeface="Bookman Old Style"/>
              </a:rPr>
              <a:t> </a:t>
            </a:r>
            <a:r>
              <a:rPr sz="1100" spc="25">
                <a:latin typeface="Book Antiqua"/>
                <a:cs typeface="Book Antiqua"/>
              </a:rPr>
              <a:t>(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236431" y="1761540"/>
            <a:ext cx="867410" cy="0"/>
          </a:xfrm>
          <a:custGeom>
            <a:avLst/>
            <a:gdLst/>
            <a:ahLst/>
            <a:cxnLst/>
            <a:rect l="l" t="t" r="r" b="b"/>
            <a:pathLst>
              <a:path w="867410">
                <a:moveTo>
                  <a:pt x="0" y="0"/>
                </a:moveTo>
                <a:lnTo>
                  <a:pt x="867206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93340" y="1739963"/>
            <a:ext cx="353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45">
                <a:latin typeface="Bookman Old Style"/>
                <a:cs typeface="Bookman Old Style"/>
              </a:rPr>
              <a:t> </a:t>
            </a:r>
            <a:r>
              <a:rPr sz="1100" spc="40">
                <a:latin typeface="Book Antiqua"/>
                <a:cs typeface="Book Antiqua"/>
              </a:rPr>
              <a:t>(</a:t>
            </a:r>
            <a:r>
              <a:rPr sz="1100" b="0" i="1" spc="40">
                <a:latin typeface="Bookman Old Style"/>
                <a:cs typeface="Bookman Old Style"/>
              </a:rPr>
              <a:t>B</a:t>
            </a:r>
            <a:r>
              <a:rPr sz="1100" spc="4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26/39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2444" y="62407"/>
            <a:ext cx="9436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Times New Roman"/>
                <a:cs typeface="Times New Roman"/>
              </a:rPr>
              <a:t>Bayes’</a:t>
            </a:r>
            <a:r>
              <a:rPr sz="14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46264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1624" y="1492310"/>
            <a:ext cx="765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Bayes’</a:t>
            </a:r>
            <a:r>
              <a:rPr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2" y="1605420"/>
            <a:ext cx="4432935" cy="441795"/>
            <a:chOff x="87743" y="1648358"/>
            <a:chExt cx="4432935" cy="4417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648358"/>
              <a:ext cx="44325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692643"/>
              <a:ext cx="4432935" cy="397510"/>
            </a:xfrm>
            <a:custGeom>
              <a:avLst/>
              <a:gdLst/>
              <a:ahLst/>
              <a:cxnLst/>
              <a:rect l="l" t="t" r="r" b="b"/>
              <a:pathLst>
                <a:path w="4432935" h="397510">
                  <a:moveTo>
                    <a:pt x="4432566" y="0"/>
                  </a:moveTo>
                  <a:lnTo>
                    <a:pt x="0" y="0"/>
                  </a:lnTo>
                  <a:lnTo>
                    <a:pt x="0" y="346240"/>
                  </a:lnTo>
                  <a:lnTo>
                    <a:pt x="4008" y="365964"/>
                  </a:lnTo>
                  <a:lnTo>
                    <a:pt x="14922" y="382117"/>
                  </a:lnTo>
                  <a:lnTo>
                    <a:pt x="31075" y="393031"/>
                  </a:lnTo>
                  <a:lnTo>
                    <a:pt x="50800" y="397040"/>
                  </a:lnTo>
                  <a:lnTo>
                    <a:pt x="4381766" y="397040"/>
                  </a:lnTo>
                  <a:lnTo>
                    <a:pt x="4401491" y="393031"/>
                  </a:lnTo>
                  <a:lnTo>
                    <a:pt x="4417644" y="382117"/>
                  </a:lnTo>
                  <a:lnTo>
                    <a:pt x="4428558" y="365964"/>
                  </a:lnTo>
                  <a:lnTo>
                    <a:pt x="4432566" y="34624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5000" y="1880946"/>
              <a:ext cx="1930400" cy="0"/>
            </a:xfrm>
            <a:custGeom>
              <a:avLst/>
              <a:gdLst/>
              <a:ahLst/>
              <a:cxnLst/>
              <a:rect l="l" t="t" r="r" b="b"/>
              <a:pathLst>
                <a:path w="1930400">
                  <a:moveTo>
                    <a:pt x="0" y="0"/>
                  </a:moveTo>
                  <a:lnTo>
                    <a:pt x="1930069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0444" y="1183195"/>
            <a:ext cx="4509135" cy="8680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25">
                <a:latin typeface="Book Antiqua"/>
                <a:cs typeface="Book Antiqua"/>
              </a:rPr>
              <a:t>Using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Law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Total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00">
              <a:latin typeface="Book Antiqua"/>
              <a:cs typeface="Book Antiqua"/>
            </a:endParaRPr>
          </a:p>
          <a:p>
            <a:pPr marL="629920" algn="ctr">
              <a:lnSpc>
                <a:spcPts val="1030"/>
              </a:lnSpc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60">
                <a:latin typeface="Lucida Sans Unicode"/>
                <a:cs typeface="Lucida Sans Unicode"/>
              </a:rPr>
              <a:t> 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  <a:p>
            <a:pPr marL="857250">
              <a:lnSpc>
                <a:spcPts val="745"/>
              </a:lnSpc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  <a:p>
            <a:pPr marL="629920" algn="ctr">
              <a:lnSpc>
                <a:spcPts val="1035"/>
              </a:lnSpc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0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27/39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10"/>
              <a:t>1.18</a:t>
            </a:r>
            <a:r>
              <a:rPr sz="1500" spc="-15" baseline="27777">
                <a:latin typeface="Book Antiqua"/>
                <a:cs typeface="Book Antiqua"/>
              </a:rPr>
              <a:t>1</a:t>
            </a:r>
            <a:endParaRPr sz="1500" baseline="27777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17169"/>
            <a:ext cx="4285615" cy="176466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Given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virus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virus,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suppose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correct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95%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the </a:t>
            </a:r>
            <a:r>
              <a:rPr sz="1100" spc="-10" dirty="0">
                <a:latin typeface="Book Antiqua"/>
                <a:cs typeface="Book Antiqua"/>
              </a:rPr>
              <a:t>time.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Book Antiqua"/>
                <a:cs typeface="Book Antiqua"/>
              </a:rPr>
              <a:t>That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virus,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says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95%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 dirty="0">
              <a:latin typeface="Book Antiqua"/>
              <a:cs typeface="Book Antiqua"/>
            </a:endParaRPr>
          </a:p>
          <a:p>
            <a:pPr marL="12700" marR="95250">
              <a:lnSpc>
                <a:spcPct val="102600"/>
              </a:lnSpc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does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have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virus,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test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says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does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have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it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95%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of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time.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 dirty="0">
              <a:latin typeface="Book Antiqua"/>
              <a:cs typeface="Book Antiqua"/>
            </a:endParaRPr>
          </a:p>
          <a:p>
            <a:pPr marL="12700" marR="381635">
              <a:lnSpc>
                <a:spcPct val="102600"/>
              </a:lnSpc>
            </a:pP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person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drawn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population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has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virus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with </a:t>
            </a:r>
            <a:r>
              <a:rPr sz="1100" spc="-10" dirty="0" err="1">
                <a:latin typeface="Book Antiqua"/>
                <a:cs typeface="Book Antiqua"/>
              </a:rPr>
              <a:t>probablity</a:t>
            </a:r>
            <a:r>
              <a:rPr sz="1100" spc="-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.001.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3794" y="3181153"/>
            <a:ext cx="1975485" cy="1593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00" b="0" baseline="37037">
                <a:latin typeface="Bookman Old Style"/>
                <a:cs typeface="Bookman Old Style"/>
              </a:rPr>
              <a:t>1</a:t>
            </a:r>
            <a:r>
              <a:rPr sz="900">
                <a:latin typeface="Book Antiqua"/>
                <a:cs typeface="Book Antiqua"/>
              </a:rPr>
              <a:t>Note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the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book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was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published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 spc="-20">
                <a:latin typeface="Book Antiqua"/>
                <a:cs typeface="Book Antiqua"/>
              </a:rPr>
              <a:t>2002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29/39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10"/>
              <a:t>1.18</a:t>
            </a:r>
            <a:r>
              <a:rPr sz="1500" spc="-15" baseline="27777">
                <a:latin typeface="Book Antiqua"/>
                <a:cs typeface="Book Antiqua"/>
              </a:rPr>
              <a:t>1</a:t>
            </a:r>
            <a:endParaRPr sz="1500" baseline="27777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17169"/>
            <a:ext cx="4285615" cy="22885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10">
                <a:latin typeface="Book Antiqua"/>
                <a:cs typeface="Book Antiqua"/>
              </a:rPr>
              <a:t>Given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for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35">
                <a:latin typeface="Book Antiqua"/>
                <a:cs typeface="Book Antiqua"/>
              </a:rPr>
              <a:t>suppose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correct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the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>
                <a:latin typeface="Book Antiqua"/>
                <a:cs typeface="Book Antiqua"/>
              </a:rPr>
              <a:t>That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if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says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95250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does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says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does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have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of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381635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random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person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drawn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from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population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with </a:t>
            </a:r>
            <a:r>
              <a:rPr sz="1100" spc="-10">
                <a:latin typeface="Book Antiqua"/>
                <a:cs typeface="Book Antiqua"/>
              </a:rPr>
              <a:t>probablity</a:t>
            </a:r>
            <a:r>
              <a:rPr sz="1100" spc="-2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.001.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521970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person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takes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positive,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what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the </a:t>
            </a:r>
            <a:r>
              <a:rPr sz="1100" spc="-10">
                <a:latin typeface="Book Antiqua"/>
                <a:cs typeface="Book Antiqua"/>
              </a:rPr>
              <a:t>probability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that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8544" y="3166313"/>
            <a:ext cx="1732914" cy="0"/>
          </a:xfrm>
          <a:custGeom>
            <a:avLst/>
            <a:gdLst/>
            <a:ahLst/>
            <a:cxnLst/>
            <a:rect l="l" t="t" r="r" b="b"/>
            <a:pathLst>
              <a:path w="1732914">
                <a:moveTo>
                  <a:pt x="0" y="0"/>
                </a:moveTo>
                <a:lnTo>
                  <a:pt x="1732343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3794" y="3181153"/>
            <a:ext cx="1975485" cy="15938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900" b="0" baseline="37037">
                <a:latin typeface="Bookman Old Style"/>
                <a:cs typeface="Bookman Old Style"/>
              </a:rPr>
              <a:t>1</a:t>
            </a:r>
            <a:r>
              <a:rPr sz="900">
                <a:latin typeface="Book Antiqua"/>
                <a:cs typeface="Book Antiqua"/>
              </a:rPr>
              <a:t>Note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the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book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was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published</a:t>
            </a:r>
            <a:r>
              <a:rPr sz="900" spc="4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</a:t>
            </a:r>
            <a:r>
              <a:rPr sz="900" spc="40">
                <a:latin typeface="Book Antiqua"/>
                <a:cs typeface="Book Antiqua"/>
              </a:rPr>
              <a:t> </a:t>
            </a:r>
            <a:r>
              <a:rPr sz="900" spc="-20">
                <a:latin typeface="Book Antiqua"/>
                <a:cs typeface="Book Antiqua"/>
              </a:rPr>
              <a:t>2002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29/39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000379"/>
            <a:ext cx="3526154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says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35">
                <a:latin typeface="Bookman Old Style"/>
                <a:cs typeface="Bookman Old Style"/>
              </a:rPr>
              <a:t>False</a:t>
            </a:r>
            <a:r>
              <a:rPr sz="1100" b="1" spc="-5">
                <a:latin typeface="Bookman Old Style"/>
                <a:cs typeface="Bookman Old Style"/>
              </a:rPr>
              <a:t> </a:t>
            </a:r>
            <a:r>
              <a:rPr sz="1100" b="1" spc="-40">
                <a:latin typeface="Bookman Old Style"/>
                <a:cs typeface="Bookman Old Style"/>
              </a:rPr>
              <a:t>negative</a:t>
            </a:r>
            <a:r>
              <a:rPr sz="1100" b="1" spc="-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rate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5%.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30/39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000379"/>
            <a:ext cx="4195445" cy="14204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says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has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of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35">
                <a:latin typeface="Bookman Old Style"/>
                <a:cs typeface="Bookman Old Style"/>
              </a:rPr>
              <a:t>False</a:t>
            </a:r>
            <a:r>
              <a:rPr sz="1100" b="1" spc="-5">
                <a:latin typeface="Bookman Old Style"/>
                <a:cs typeface="Bookman Old Style"/>
              </a:rPr>
              <a:t> </a:t>
            </a:r>
            <a:r>
              <a:rPr sz="1100" b="1" spc="-40">
                <a:latin typeface="Bookman Old Style"/>
                <a:cs typeface="Bookman Old Style"/>
              </a:rPr>
              <a:t>negative</a:t>
            </a:r>
            <a:r>
              <a:rPr sz="1100" b="1" spc="-5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rate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5%.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Book Antiqua"/>
              <a:cs typeface="Book Antiqua"/>
            </a:endParaRPr>
          </a:p>
          <a:p>
            <a:pPr marL="12700" marR="5080">
              <a:lnSpc>
                <a:spcPct val="102600"/>
              </a:lnSpc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does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have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virus,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says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does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have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it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95%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of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time.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 b="1" spc="-35">
                <a:latin typeface="Bookman Old Style"/>
                <a:cs typeface="Bookman Old Style"/>
              </a:rPr>
              <a:t>False</a:t>
            </a:r>
            <a:r>
              <a:rPr sz="1100" b="1">
                <a:latin typeface="Bookman Old Style"/>
                <a:cs typeface="Bookman Old Style"/>
              </a:rPr>
              <a:t> </a:t>
            </a:r>
            <a:r>
              <a:rPr sz="1100" b="1" spc="-40">
                <a:latin typeface="Bookman Old Style"/>
                <a:cs typeface="Bookman Old Style"/>
              </a:rPr>
              <a:t>positive</a:t>
            </a:r>
            <a:r>
              <a:rPr sz="1100" b="1" spc="-4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rate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5%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30/39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42695"/>
            <a:ext cx="1450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Let’s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apply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Bayes’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rule.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3731" y="1131328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60">
                <a:latin typeface="Lucida Sans Unicode"/>
                <a:cs typeface="Lucida Sans Unicode"/>
              </a:rPr>
              <a:t> 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05000" y="1341666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>
                <a:moveTo>
                  <a:pt x="0" y="0"/>
                </a:moveTo>
                <a:lnTo>
                  <a:pt x="193006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9645" y="1225054"/>
            <a:ext cx="2753995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  <a:p>
            <a:pPr marL="784860">
              <a:lnSpc>
                <a:spcPts val="1035"/>
              </a:lnSpc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0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844" y="1545844"/>
            <a:ext cx="579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We</a:t>
            </a:r>
            <a:r>
              <a:rPr sz="1100" spc="-25">
                <a:latin typeface="Book Antiqua"/>
                <a:cs typeface="Book Antiqua"/>
              </a:rPr>
              <a:t> need: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869389" y="1823605"/>
          <a:ext cx="864234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P(A)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8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04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0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20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31/39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1.18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842695"/>
            <a:ext cx="14509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Let’s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apply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Bayes’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rule.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3731" y="1131328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60">
                <a:latin typeface="Lucida Sans Unicode"/>
                <a:cs typeface="Lucida Sans Unicode"/>
              </a:rPr>
              <a:t> 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05000" y="1341666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>
                <a:moveTo>
                  <a:pt x="0" y="0"/>
                </a:moveTo>
                <a:lnTo>
                  <a:pt x="193006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19645" y="1225054"/>
            <a:ext cx="2753995" cy="2870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5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  <a:p>
            <a:pPr marL="784860">
              <a:lnSpc>
                <a:spcPts val="1035"/>
              </a:lnSpc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0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844" y="1545844"/>
            <a:ext cx="579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>
                <a:latin typeface="Book Antiqua"/>
                <a:cs typeface="Book Antiqua"/>
              </a:rPr>
              <a:t>We</a:t>
            </a:r>
            <a:r>
              <a:rPr sz="1100" spc="-25">
                <a:latin typeface="Book Antiqua"/>
                <a:cs typeface="Book Antiqua"/>
              </a:rPr>
              <a:t> need: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746237" y="1823605"/>
          <a:ext cx="111061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P(A)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.001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.95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8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04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.999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0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20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.05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32/39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2315" y="62407"/>
            <a:ext cx="10833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0">
                <a:solidFill>
                  <a:srgbClr val="FFFFFF"/>
                </a:solidFill>
                <a:latin typeface="Times New Roman"/>
                <a:cs typeface="Times New Roman"/>
              </a:rPr>
              <a:t>1.18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46237" y="887628"/>
          <a:ext cx="111061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P(A)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.001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.95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8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04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.999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0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20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.05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32750" y="1772183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006" y="1678457"/>
            <a:ext cx="618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95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2706" y="1888782"/>
            <a:ext cx="1355090" cy="0"/>
          </a:xfrm>
          <a:custGeom>
            <a:avLst/>
            <a:gdLst/>
            <a:ahLst/>
            <a:cxnLst/>
            <a:rect l="l" t="t" r="r" b="b"/>
            <a:pathLst>
              <a:path w="1355089">
                <a:moveTo>
                  <a:pt x="0" y="0"/>
                </a:moveTo>
                <a:lnTo>
                  <a:pt x="13546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0006" y="1867217"/>
            <a:ext cx="1380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95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999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05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3276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0"/>
              <a:t>1.18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746237" y="887628"/>
          <a:ext cx="1110615" cy="70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P(A)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.001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4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 spc="-1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 spc="-10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100" spc="-1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.95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85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04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>
                          <a:latin typeface="Book Antiqua"/>
                          <a:cs typeface="Book Antiqua"/>
                        </a:rPr>
                        <a:t>.999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b="0" i="1">
                          <a:latin typeface="Bookman Old Style"/>
                          <a:cs typeface="Bookman Old Style"/>
                        </a:rPr>
                        <a:t>P</a:t>
                      </a:r>
                      <a:r>
                        <a:rPr sz="1100" b="0" i="1" spc="-10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B</a:t>
                      </a:r>
                      <a:r>
                        <a:rPr sz="1100">
                          <a:latin typeface="Lucida Sans Unicode"/>
                          <a:cs typeface="Lucida Sans Unicode"/>
                        </a:rPr>
                        <a:t>|</a:t>
                      </a:r>
                      <a:r>
                        <a:rPr sz="1100" b="0" i="1">
                          <a:latin typeface="Bookman Old Style"/>
                          <a:cs typeface="Bookman Old Style"/>
                        </a:rPr>
                        <a:t>A</a:t>
                      </a:r>
                      <a:r>
                        <a:rPr sz="1200" b="0" i="1" baseline="27777">
                          <a:latin typeface="Bookman Old Style"/>
                          <a:cs typeface="Bookman Old Style"/>
                        </a:rPr>
                        <a:t>C</a:t>
                      </a:r>
                      <a:r>
                        <a:rPr sz="1200" b="0" i="1" spc="-120" baseline="27777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>
                          <a:latin typeface="Book Antiqua"/>
                          <a:cs typeface="Book Antiqua"/>
                        </a:rPr>
                        <a:t>)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>
                          <a:latin typeface="Book Antiqua"/>
                          <a:cs typeface="Book Antiqua"/>
                        </a:rPr>
                        <a:t>.05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32750" y="1772183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1006" y="1678457"/>
            <a:ext cx="618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95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92706" y="1888782"/>
            <a:ext cx="1355090" cy="0"/>
          </a:xfrm>
          <a:custGeom>
            <a:avLst/>
            <a:gdLst/>
            <a:ahLst/>
            <a:cxnLst/>
            <a:rect l="l" t="t" r="r" b="b"/>
            <a:pathLst>
              <a:path w="1355089">
                <a:moveTo>
                  <a:pt x="0" y="0"/>
                </a:moveTo>
                <a:lnTo>
                  <a:pt x="13546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80006" y="1867217"/>
            <a:ext cx="1380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95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999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05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0447" y="2402154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50403" y="2518765"/>
            <a:ext cx="939165" cy="0"/>
          </a:xfrm>
          <a:custGeom>
            <a:avLst/>
            <a:gdLst/>
            <a:ahLst/>
            <a:cxnLst/>
            <a:rect l="l" t="t" r="r" b="b"/>
            <a:pathLst>
              <a:path w="939164">
                <a:moveTo>
                  <a:pt x="0" y="0"/>
                </a:moveTo>
                <a:lnTo>
                  <a:pt x="93902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30398" y="240215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14791" y="2308428"/>
            <a:ext cx="1287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9635" algn="l"/>
              </a:tabLst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00095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00095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04528" y="2518765"/>
            <a:ext cx="385445" cy="0"/>
          </a:xfrm>
          <a:custGeom>
            <a:avLst/>
            <a:gdLst/>
            <a:ahLst/>
            <a:cxnLst/>
            <a:rect l="l" t="t" r="r" b="b"/>
            <a:pathLst>
              <a:path w="385444">
                <a:moveTo>
                  <a:pt x="0" y="0"/>
                </a:moveTo>
                <a:lnTo>
                  <a:pt x="38484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37703" y="2497201"/>
            <a:ext cx="1530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200785" algn="l"/>
              </a:tabLst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00095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04995</a:t>
            </a:r>
            <a:r>
              <a:rPr sz="1100">
                <a:latin typeface="Book Antiqua"/>
                <a:cs typeface="Book Antiqua"/>
              </a:rPr>
              <a:t>	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0509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30346" y="2402154"/>
            <a:ext cx="48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b="0" i="1" spc="-20">
                <a:latin typeface="Bookman Old Style"/>
                <a:cs typeface="Bookman Old Style"/>
              </a:rPr>
              <a:t>.</a:t>
            </a:r>
            <a:r>
              <a:rPr sz="1100" spc="-20">
                <a:latin typeface="Book Antiqua"/>
                <a:cs typeface="Book Antiqua"/>
              </a:rPr>
              <a:t>0187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33/39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1.9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5482" y="1658594"/>
            <a:ext cx="9144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100,000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people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2151" y="1112189"/>
            <a:ext cx="7251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100</a:t>
            </a:r>
            <a:r>
              <a:rPr sz="900" spc="10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infections</a:t>
            </a:r>
            <a:endParaRPr sz="9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4071" y="2264168"/>
            <a:ext cx="9817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99000</a:t>
            </a:r>
            <a:r>
              <a:rPr sz="900" spc="5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5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22197" y="1299078"/>
            <a:ext cx="279400" cy="368935"/>
            <a:chOff x="1322197" y="1299078"/>
            <a:chExt cx="279400" cy="368935"/>
          </a:xfrm>
        </p:grpSpPr>
        <p:sp>
          <p:nvSpPr>
            <p:cNvPr id="7" name="object 7"/>
            <p:cNvSpPr/>
            <p:nvPr/>
          </p:nvSpPr>
          <p:spPr>
            <a:xfrm>
              <a:off x="1327257" y="1314660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347725"/>
                  </a:moveTo>
                  <a:lnTo>
                    <a:pt x="260858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322197" y="1882964"/>
            <a:ext cx="279400" cy="368935"/>
            <a:chOff x="1322197" y="1882964"/>
            <a:chExt cx="279400" cy="368935"/>
          </a:xfrm>
        </p:grpSpPr>
        <p:sp>
          <p:nvSpPr>
            <p:cNvPr id="11" name="object 11"/>
            <p:cNvSpPr/>
            <p:nvPr/>
          </p:nvSpPr>
          <p:spPr>
            <a:xfrm>
              <a:off x="1327257" y="1888025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0"/>
                  </a:moveTo>
                  <a:lnTo>
                    <a:pt x="260858" y="34772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54932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sz="1400" spc="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>
                <a:solidFill>
                  <a:srgbClr val="FFFFFF"/>
                </a:solidFill>
                <a:latin typeface="Times New Roman"/>
                <a:cs typeface="Times New Roman"/>
              </a:rPr>
              <a:t>1.9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4071" y="2264168"/>
            <a:ext cx="9817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99000</a:t>
            </a:r>
            <a:r>
              <a:rPr sz="900" spc="5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5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2197" y="1299078"/>
            <a:ext cx="279400" cy="368935"/>
            <a:chOff x="1322197" y="1299078"/>
            <a:chExt cx="279400" cy="368935"/>
          </a:xfrm>
        </p:grpSpPr>
        <p:sp>
          <p:nvSpPr>
            <p:cNvPr id="5" name="object 5"/>
            <p:cNvSpPr/>
            <p:nvPr/>
          </p:nvSpPr>
          <p:spPr>
            <a:xfrm>
              <a:off x="1327257" y="1314660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347725"/>
                  </a:moveTo>
                  <a:lnTo>
                    <a:pt x="260858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85482" y="811682"/>
            <a:ext cx="2587625" cy="103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5780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95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30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positive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Book Antiqua"/>
              <a:cs typeface="Book Antiqua"/>
            </a:endParaRPr>
          </a:p>
          <a:p>
            <a:pPr marL="539115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100</a:t>
            </a:r>
            <a:r>
              <a:rPr sz="900" spc="10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infections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Book Antiqua"/>
              <a:cs typeface="Book Antiqua"/>
            </a:endParaRPr>
          </a:p>
          <a:p>
            <a:pPr marL="1810385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negative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100,000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people</a:t>
            </a:r>
            <a:endParaRPr sz="1100">
              <a:latin typeface="Book Antiqua"/>
              <a:cs typeface="Book Antiqu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22197" y="1882964"/>
            <a:ext cx="279400" cy="368935"/>
            <a:chOff x="1322197" y="1882964"/>
            <a:chExt cx="279400" cy="368935"/>
          </a:xfrm>
        </p:grpSpPr>
        <p:sp>
          <p:nvSpPr>
            <p:cNvPr id="10" name="object 10"/>
            <p:cNvSpPr/>
            <p:nvPr/>
          </p:nvSpPr>
          <p:spPr>
            <a:xfrm>
              <a:off x="1327257" y="1888025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0"/>
                  </a:moveTo>
                  <a:lnTo>
                    <a:pt x="260858" y="34772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54932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070718" y="998251"/>
            <a:ext cx="447675" cy="116839"/>
            <a:chOff x="2070718" y="998251"/>
            <a:chExt cx="447675" cy="116839"/>
          </a:xfrm>
        </p:grpSpPr>
        <p:sp>
          <p:nvSpPr>
            <p:cNvPr id="14" name="object 14"/>
            <p:cNvSpPr/>
            <p:nvPr/>
          </p:nvSpPr>
          <p:spPr>
            <a:xfrm>
              <a:off x="2075779" y="1015615"/>
              <a:ext cx="424815" cy="94615"/>
            </a:xfrm>
            <a:custGeom>
              <a:avLst/>
              <a:gdLst/>
              <a:ahLst/>
              <a:cxnLst/>
              <a:rect l="l" t="t" r="r" b="b"/>
              <a:pathLst>
                <a:path w="424814" h="94615">
                  <a:moveTo>
                    <a:pt x="0" y="94386"/>
                  </a:moveTo>
                  <a:lnTo>
                    <a:pt x="42437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56986" y="1003311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0" y="0"/>
                  </a:move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56986" y="1003311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3" y="9451"/>
                  </a:move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070718" y="1283253"/>
            <a:ext cx="462280" cy="120650"/>
            <a:chOff x="2070718" y="1283253"/>
            <a:chExt cx="462280" cy="120650"/>
          </a:xfrm>
        </p:grpSpPr>
        <p:sp>
          <p:nvSpPr>
            <p:cNvPr id="18" name="object 18"/>
            <p:cNvSpPr/>
            <p:nvPr/>
          </p:nvSpPr>
          <p:spPr>
            <a:xfrm>
              <a:off x="2075779" y="1288314"/>
              <a:ext cx="439420" cy="97790"/>
            </a:xfrm>
            <a:custGeom>
              <a:avLst/>
              <a:gdLst/>
              <a:ahLst/>
              <a:cxnLst/>
              <a:rect l="l" t="t" r="r" b="b"/>
              <a:pathLst>
                <a:path w="439419" h="97790">
                  <a:moveTo>
                    <a:pt x="0" y="0"/>
                  </a:moveTo>
                  <a:lnTo>
                    <a:pt x="439305" y="9773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1919" y="135660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9288" y="0"/>
                  </a:move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71919" y="135660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4" y="32303"/>
                  </a:move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21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5"/>
              <a:t>1.9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2197" y="1299078"/>
            <a:ext cx="279400" cy="368935"/>
            <a:chOff x="1322197" y="1299078"/>
            <a:chExt cx="279400" cy="368935"/>
          </a:xfrm>
        </p:grpSpPr>
        <p:sp>
          <p:nvSpPr>
            <p:cNvPr id="4" name="object 4"/>
            <p:cNvSpPr/>
            <p:nvPr/>
          </p:nvSpPr>
          <p:spPr>
            <a:xfrm>
              <a:off x="1327257" y="1314660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347725"/>
                  </a:moveTo>
                  <a:lnTo>
                    <a:pt x="260858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47319" y="1304139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22197" y="1882964"/>
            <a:ext cx="279400" cy="368935"/>
            <a:chOff x="1322197" y="1882964"/>
            <a:chExt cx="279400" cy="368935"/>
          </a:xfrm>
        </p:grpSpPr>
        <p:sp>
          <p:nvSpPr>
            <p:cNvPr id="8" name="object 8"/>
            <p:cNvSpPr/>
            <p:nvPr/>
          </p:nvSpPr>
          <p:spPr>
            <a:xfrm>
              <a:off x="1327257" y="1888025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0"/>
                  </a:moveTo>
                  <a:lnTo>
                    <a:pt x="260858" y="34772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7319" y="2191340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54932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070718" y="998251"/>
            <a:ext cx="447675" cy="116839"/>
            <a:chOff x="2070718" y="998251"/>
            <a:chExt cx="447675" cy="116839"/>
          </a:xfrm>
        </p:grpSpPr>
        <p:sp>
          <p:nvSpPr>
            <p:cNvPr id="12" name="object 12"/>
            <p:cNvSpPr/>
            <p:nvPr/>
          </p:nvSpPr>
          <p:spPr>
            <a:xfrm>
              <a:off x="2075779" y="1015615"/>
              <a:ext cx="424815" cy="94615"/>
            </a:xfrm>
            <a:custGeom>
              <a:avLst/>
              <a:gdLst/>
              <a:ahLst/>
              <a:cxnLst/>
              <a:rect l="l" t="t" r="r" b="b"/>
              <a:pathLst>
                <a:path w="424814" h="94615">
                  <a:moveTo>
                    <a:pt x="0" y="94386"/>
                  </a:moveTo>
                  <a:lnTo>
                    <a:pt x="42437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6986" y="1003311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0" y="0"/>
                  </a:move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6986" y="1003311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3" y="9451"/>
                  </a:move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070718" y="1283253"/>
            <a:ext cx="462280" cy="120650"/>
            <a:chOff x="2070718" y="1283253"/>
            <a:chExt cx="462280" cy="120650"/>
          </a:xfrm>
        </p:grpSpPr>
        <p:sp>
          <p:nvSpPr>
            <p:cNvPr id="16" name="object 16"/>
            <p:cNvSpPr/>
            <p:nvPr/>
          </p:nvSpPr>
          <p:spPr>
            <a:xfrm>
              <a:off x="2075779" y="1288314"/>
              <a:ext cx="439420" cy="97790"/>
            </a:xfrm>
            <a:custGeom>
              <a:avLst/>
              <a:gdLst/>
              <a:ahLst/>
              <a:cxnLst/>
              <a:rect l="l" t="t" r="r" b="b"/>
              <a:pathLst>
                <a:path w="439419" h="97790">
                  <a:moveTo>
                    <a:pt x="0" y="0"/>
                  </a:moveTo>
                  <a:lnTo>
                    <a:pt x="439305" y="9773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1919" y="135660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9288" y="0"/>
                  </a:move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1919" y="135660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4" y="32303"/>
                  </a:move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85482" y="811682"/>
            <a:ext cx="3037205" cy="1891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2865" algn="ctr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95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30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positive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Book Antiqua"/>
              <a:cs typeface="Book Antiqua"/>
            </a:endParaRPr>
          </a:p>
          <a:p>
            <a:pPr marR="125095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100</a:t>
            </a:r>
            <a:r>
              <a:rPr sz="900" spc="10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infections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Book Antiqua"/>
              <a:cs typeface="Book Antiqua"/>
            </a:endParaRPr>
          </a:p>
          <a:p>
            <a:pPr marL="133350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negative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100,000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people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Book Antiqua"/>
              <a:cs typeface="Book Antiqua"/>
            </a:endParaRPr>
          </a:p>
          <a:p>
            <a:pPr marL="1332865" algn="ctr">
              <a:lnSpc>
                <a:spcPct val="100000"/>
              </a:lnSpc>
              <a:spcBef>
                <a:spcPts val="5"/>
              </a:spcBef>
            </a:pPr>
            <a:r>
              <a:rPr sz="900">
                <a:latin typeface="Book Antiqua"/>
                <a:cs typeface="Book Antiqua"/>
              </a:rPr>
              <a:t>9950</a:t>
            </a:r>
            <a:r>
              <a:rPr sz="900" spc="7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infection,</a:t>
            </a:r>
            <a:r>
              <a:rPr sz="900" spc="7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positive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Book Antiqua"/>
              <a:cs typeface="Book Antiqua"/>
            </a:endParaRPr>
          </a:p>
          <a:p>
            <a:pPr marR="125095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99000</a:t>
            </a:r>
            <a:r>
              <a:rPr sz="900" spc="5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5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Book Antiqua"/>
              <a:cs typeface="Book Antiqua"/>
            </a:endParaRPr>
          </a:p>
          <a:p>
            <a:pPr marL="1332865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94050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infection,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negative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8141" y="2154386"/>
            <a:ext cx="422275" cy="111125"/>
            <a:chOff x="2078141" y="2154386"/>
            <a:chExt cx="422275" cy="111125"/>
          </a:xfrm>
        </p:grpSpPr>
        <p:sp>
          <p:nvSpPr>
            <p:cNvPr id="21" name="object 21"/>
            <p:cNvSpPr/>
            <p:nvPr/>
          </p:nvSpPr>
          <p:spPr>
            <a:xfrm>
              <a:off x="2083202" y="2171758"/>
              <a:ext cx="399415" cy="88900"/>
            </a:xfrm>
            <a:custGeom>
              <a:avLst/>
              <a:gdLst/>
              <a:ahLst/>
              <a:cxnLst/>
              <a:rect l="l" t="t" r="r" b="b"/>
              <a:pathLst>
                <a:path w="399414" h="88900">
                  <a:moveTo>
                    <a:pt x="0" y="88684"/>
                  </a:moveTo>
                  <a:lnTo>
                    <a:pt x="399097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39133" y="215944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0" y="0"/>
                  </a:move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9133" y="215944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9461"/>
                  </a:move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78048" y="2436943"/>
            <a:ext cx="422275" cy="111125"/>
            <a:chOff x="2078048" y="2436943"/>
            <a:chExt cx="422275" cy="111125"/>
          </a:xfrm>
        </p:grpSpPr>
        <p:sp>
          <p:nvSpPr>
            <p:cNvPr id="25" name="object 25"/>
            <p:cNvSpPr/>
            <p:nvPr/>
          </p:nvSpPr>
          <p:spPr>
            <a:xfrm>
              <a:off x="2083109" y="2442004"/>
              <a:ext cx="399415" cy="88900"/>
            </a:xfrm>
            <a:custGeom>
              <a:avLst/>
              <a:gdLst/>
              <a:ahLst/>
              <a:cxnLst/>
              <a:rect l="l" t="t" r="r" b="b"/>
              <a:pathLst>
                <a:path w="399414" h="88900">
                  <a:moveTo>
                    <a:pt x="0" y="0"/>
                  </a:moveTo>
                  <a:lnTo>
                    <a:pt x="399186" y="8868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9133" y="250124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9275" y="0"/>
                  </a:moveTo>
                  <a:lnTo>
                    <a:pt x="17759" y="12996"/>
                  </a:lnTo>
                  <a:lnTo>
                    <a:pt x="19086" y="24086"/>
                  </a:lnTo>
                  <a:lnTo>
                    <a:pt x="13188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8" y="34276"/>
                  </a:lnTo>
                  <a:lnTo>
                    <a:pt x="43245" y="32638"/>
                  </a:lnTo>
                  <a:lnTo>
                    <a:pt x="56011" y="32288"/>
                  </a:lnTo>
                  <a:lnTo>
                    <a:pt x="44594" y="26567"/>
                  </a:lnTo>
                  <a:lnTo>
                    <a:pt x="33177" y="19424"/>
                  </a:lnTo>
                  <a:lnTo>
                    <a:pt x="21493" y="10641"/>
                  </a:lnTo>
                  <a:lnTo>
                    <a:pt x="9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39133" y="250124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32288"/>
                  </a:moveTo>
                  <a:lnTo>
                    <a:pt x="44594" y="26567"/>
                  </a:lnTo>
                  <a:lnTo>
                    <a:pt x="33177" y="19424"/>
                  </a:lnTo>
                  <a:lnTo>
                    <a:pt x="21493" y="10641"/>
                  </a:lnTo>
                  <a:lnTo>
                    <a:pt x="9275" y="0"/>
                  </a:lnTo>
                  <a:lnTo>
                    <a:pt x="17759" y="12996"/>
                  </a:lnTo>
                  <a:lnTo>
                    <a:pt x="19086" y="24086"/>
                  </a:lnTo>
                  <a:lnTo>
                    <a:pt x="13188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8" y="34276"/>
                  </a:lnTo>
                  <a:lnTo>
                    <a:pt x="43245" y="32638"/>
                  </a:lnTo>
                  <a:lnTo>
                    <a:pt x="56011" y="32288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34/39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215">
              <a:lnSpc>
                <a:spcPct val="100000"/>
              </a:lnSpc>
              <a:spcBef>
                <a:spcPts val="135"/>
              </a:spcBef>
            </a:pPr>
            <a:r>
              <a:rPr spc="50"/>
              <a:t>Example</a:t>
            </a:r>
            <a:r>
              <a:rPr spc="135"/>
              <a:t> </a:t>
            </a:r>
            <a:r>
              <a:rPr spc="-25"/>
              <a:t>1.9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22197" y="1130625"/>
            <a:ext cx="279400" cy="368935"/>
            <a:chOff x="1322197" y="1130625"/>
            <a:chExt cx="279400" cy="368935"/>
          </a:xfrm>
        </p:grpSpPr>
        <p:sp>
          <p:nvSpPr>
            <p:cNvPr id="4" name="object 4"/>
            <p:cNvSpPr/>
            <p:nvPr/>
          </p:nvSpPr>
          <p:spPr>
            <a:xfrm>
              <a:off x="1327257" y="1146208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347725"/>
                  </a:moveTo>
                  <a:lnTo>
                    <a:pt x="260858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7319" y="113568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0" y="29264"/>
                  </a:move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47319" y="1135686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0"/>
                  </a:moveTo>
                  <a:lnTo>
                    <a:pt x="38768" y="8041"/>
                  </a:lnTo>
                  <a:lnTo>
                    <a:pt x="27553" y="15497"/>
                  </a:lnTo>
                  <a:lnTo>
                    <a:pt x="14733" y="22520"/>
                  </a:lnTo>
                  <a:lnTo>
                    <a:pt x="0" y="29264"/>
                  </a:lnTo>
                  <a:lnTo>
                    <a:pt x="15339" y="26894"/>
                  </a:lnTo>
                  <a:lnTo>
                    <a:pt x="25989" y="30258"/>
                  </a:lnTo>
                  <a:lnTo>
                    <a:pt x="32199" y="39542"/>
                  </a:lnTo>
                  <a:lnTo>
                    <a:pt x="34215" y="54932"/>
                  </a:lnTo>
                  <a:lnTo>
                    <a:pt x="36567" y="38900"/>
                  </a:lnTo>
                  <a:lnTo>
                    <a:pt x="39723" y="24627"/>
                  </a:lnTo>
                  <a:lnTo>
                    <a:pt x="43743" y="11773"/>
                  </a:lnTo>
                  <a:lnTo>
                    <a:pt x="48689" y="0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322197" y="1714511"/>
            <a:ext cx="279400" cy="368935"/>
            <a:chOff x="1322197" y="1714511"/>
            <a:chExt cx="279400" cy="368935"/>
          </a:xfrm>
        </p:grpSpPr>
        <p:sp>
          <p:nvSpPr>
            <p:cNvPr id="8" name="object 8"/>
            <p:cNvSpPr/>
            <p:nvPr/>
          </p:nvSpPr>
          <p:spPr>
            <a:xfrm>
              <a:off x="1327257" y="1719572"/>
              <a:ext cx="260985" cy="347980"/>
            </a:xfrm>
            <a:custGeom>
              <a:avLst/>
              <a:gdLst/>
              <a:ahLst/>
              <a:cxnLst/>
              <a:rect l="l" t="t" r="r" b="b"/>
              <a:pathLst>
                <a:path w="260984" h="347980">
                  <a:moveTo>
                    <a:pt x="0" y="0"/>
                  </a:moveTo>
                  <a:lnTo>
                    <a:pt x="260858" y="347726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47319" y="2022887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34215" y="0"/>
                  </a:move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47319" y="2022887"/>
              <a:ext cx="48895" cy="55244"/>
            </a:xfrm>
            <a:custGeom>
              <a:avLst/>
              <a:gdLst/>
              <a:ahLst/>
              <a:cxnLst/>
              <a:rect l="l" t="t" r="r" b="b"/>
              <a:pathLst>
                <a:path w="48894" h="55244">
                  <a:moveTo>
                    <a:pt x="48689" y="54932"/>
                  </a:moveTo>
                  <a:lnTo>
                    <a:pt x="43743" y="43158"/>
                  </a:lnTo>
                  <a:lnTo>
                    <a:pt x="39723" y="30304"/>
                  </a:lnTo>
                  <a:lnTo>
                    <a:pt x="36567" y="16031"/>
                  </a:lnTo>
                  <a:lnTo>
                    <a:pt x="34215" y="0"/>
                  </a:lnTo>
                  <a:lnTo>
                    <a:pt x="32199" y="15389"/>
                  </a:lnTo>
                  <a:lnTo>
                    <a:pt x="25989" y="24673"/>
                  </a:lnTo>
                  <a:lnTo>
                    <a:pt x="15339" y="28037"/>
                  </a:lnTo>
                  <a:lnTo>
                    <a:pt x="0" y="25667"/>
                  </a:lnTo>
                  <a:lnTo>
                    <a:pt x="14733" y="32411"/>
                  </a:lnTo>
                  <a:lnTo>
                    <a:pt x="27553" y="39434"/>
                  </a:lnTo>
                  <a:lnTo>
                    <a:pt x="38768" y="46890"/>
                  </a:lnTo>
                  <a:lnTo>
                    <a:pt x="48689" y="54932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070718" y="829798"/>
            <a:ext cx="447675" cy="116839"/>
            <a:chOff x="2070718" y="829798"/>
            <a:chExt cx="447675" cy="116839"/>
          </a:xfrm>
        </p:grpSpPr>
        <p:sp>
          <p:nvSpPr>
            <p:cNvPr id="12" name="object 12"/>
            <p:cNvSpPr/>
            <p:nvPr/>
          </p:nvSpPr>
          <p:spPr>
            <a:xfrm>
              <a:off x="2075779" y="847162"/>
              <a:ext cx="424815" cy="94615"/>
            </a:xfrm>
            <a:custGeom>
              <a:avLst/>
              <a:gdLst/>
              <a:ahLst/>
              <a:cxnLst/>
              <a:rect l="l" t="t" r="r" b="b"/>
              <a:pathLst>
                <a:path w="424814" h="94615">
                  <a:moveTo>
                    <a:pt x="0" y="94386"/>
                  </a:moveTo>
                  <a:lnTo>
                    <a:pt x="424370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56986" y="83485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0" y="0"/>
                  </a:move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56986" y="834859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3" y="9451"/>
                  </a:moveTo>
                  <a:lnTo>
                    <a:pt x="43248" y="9105"/>
                  </a:lnTo>
                  <a:lnTo>
                    <a:pt x="29880" y="7470"/>
                  </a:lnTo>
                  <a:lnTo>
                    <a:pt x="15576" y="4463"/>
                  </a:lnTo>
                  <a:lnTo>
                    <a:pt x="0" y="0"/>
                  </a:lnTo>
                  <a:lnTo>
                    <a:pt x="13190" y="8179"/>
                  </a:lnTo>
                  <a:lnTo>
                    <a:pt x="19090" y="17662"/>
                  </a:lnTo>
                  <a:lnTo>
                    <a:pt x="17766" y="28752"/>
                  </a:lnTo>
                  <a:lnTo>
                    <a:pt x="9284" y="41751"/>
                  </a:lnTo>
                  <a:lnTo>
                    <a:pt x="21501" y="31107"/>
                  </a:lnTo>
                  <a:lnTo>
                    <a:pt x="33183" y="22321"/>
                  </a:lnTo>
                  <a:lnTo>
                    <a:pt x="44598" y="15175"/>
                  </a:lnTo>
                  <a:lnTo>
                    <a:pt x="56013" y="945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070718" y="1114801"/>
            <a:ext cx="462280" cy="120650"/>
            <a:chOff x="2070718" y="1114801"/>
            <a:chExt cx="462280" cy="120650"/>
          </a:xfrm>
        </p:grpSpPr>
        <p:sp>
          <p:nvSpPr>
            <p:cNvPr id="16" name="object 16"/>
            <p:cNvSpPr/>
            <p:nvPr/>
          </p:nvSpPr>
          <p:spPr>
            <a:xfrm>
              <a:off x="2075779" y="1119861"/>
              <a:ext cx="439420" cy="97790"/>
            </a:xfrm>
            <a:custGeom>
              <a:avLst/>
              <a:gdLst/>
              <a:ahLst/>
              <a:cxnLst/>
              <a:rect l="l" t="t" r="r" b="b"/>
              <a:pathLst>
                <a:path w="439419" h="97790">
                  <a:moveTo>
                    <a:pt x="0" y="0"/>
                  </a:moveTo>
                  <a:lnTo>
                    <a:pt x="439305" y="97739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1919" y="118815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9288" y="0"/>
                  </a:move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1919" y="1188157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09">
                  <a:moveTo>
                    <a:pt x="56014" y="32303"/>
                  </a:moveTo>
                  <a:lnTo>
                    <a:pt x="44599" y="26578"/>
                  </a:lnTo>
                  <a:lnTo>
                    <a:pt x="33185" y="19432"/>
                  </a:lnTo>
                  <a:lnTo>
                    <a:pt x="21503" y="10645"/>
                  </a:lnTo>
                  <a:lnTo>
                    <a:pt x="9288" y="0"/>
                  </a:lnTo>
                  <a:lnTo>
                    <a:pt x="17768" y="12999"/>
                  </a:lnTo>
                  <a:lnTo>
                    <a:pt x="19092" y="24089"/>
                  </a:lnTo>
                  <a:lnTo>
                    <a:pt x="13191" y="33572"/>
                  </a:lnTo>
                  <a:lnTo>
                    <a:pt x="0" y="41750"/>
                  </a:lnTo>
                  <a:lnTo>
                    <a:pt x="15576" y="37288"/>
                  </a:lnTo>
                  <a:lnTo>
                    <a:pt x="29881" y="34282"/>
                  </a:lnTo>
                  <a:lnTo>
                    <a:pt x="43249" y="32649"/>
                  </a:lnTo>
                  <a:lnTo>
                    <a:pt x="56014" y="32303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85482" y="643216"/>
            <a:ext cx="3037205" cy="1891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2865" algn="ctr">
              <a:lnSpc>
                <a:spcPct val="100000"/>
              </a:lnSpc>
              <a:spcBef>
                <a:spcPts val="95"/>
              </a:spcBef>
            </a:pPr>
            <a:r>
              <a:rPr sz="900">
                <a:latin typeface="Book Antiqua"/>
                <a:cs typeface="Book Antiqua"/>
              </a:rPr>
              <a:t>95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30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positive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Book Antiqua"/>
              <a:cs typeface="Book Antiqua"/>
            </a:endParaRPr>
          </a:p>
          <a:p>
            <a:pPr marR="125095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100</a:t>
            </a:r>
            <a:r>
              <a:rPr sz="900" spc="10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infections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50">
              <a:latin typeface="Book Antiqua"/>
              <a:cs typeface="Book Antiqua"/>
            </a:endParaRPr>
          </a:p>
          <a:p>
            <a:pPr marL="133350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5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12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negative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100">
                <a:latin typeface="Book Antiqua"/>
                <a:cs typeface="Book Antiqua"/>
              </a:rPr>
              <a:t>100,000</a:t>
            </a:r>
            <a:r>
              <a:rPr sz="1100" spc="4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people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850">
              <a:latin typeface="Book Antiqua"/>
              <a:cs typeface="Book Antiqua"/>
            </a:endParaRPr>
          </a:p>
          <a:p>
            <a:pPr marL="1332865" algn="ctr">
              <a:lnSpc>
                <a:spcPct val="100000"/>
              </a:lnSpc>
              <a:spcBef>
                <a:spcPts val="5"/>
              </a:spcBef>
            </a:pPr>
            <a:r>
              <a:rPr sz="900">
                <a:latin typeface="Book Antiqua"/>
                <a:cs typeface="Book Antiqua"/>
              </a:rPr>
              <a:t>4995</a:t>
            </a:r>
            <a:r>
              <a:rPr sz="900" spc="7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infection,</a:t>
            </a:r>
            <a:r>
              <a:rPr sz="900" spc="7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positive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Book Antiqua"/>
              <a:cs typeface="Book Antiqua"/>
            </a:endParaRPr>
          </a:p>
          <a:p>
            <a:pPr marR="1250950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99900</a:t>
            </a:r>
            <a:r>
              <a:rPr sz="900" spc="50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5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infection</a:t>
            </a:r>
            <a:endParaRPr sz="9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850">
              <a:latin typeface="Book Antiqua"/>
              <a:cs typeface="Book Antiqua"/>
            </a:endParaRPr>
          </a:p>
          <a:p>
            <a:pPr marL="1332865" algn="ctr">
              <a:lnSpc>
                <a:spcPct val="100000"/>
              </a:lnSpc>
            </a:pPr>
            <a:r>
              <a:rPr sz="900">
                <a:latin typeface="Book Antiqua"/>
                <a:cs typeface="Book Antiqua"/>
              </a:rPr>
              <a:t>94905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No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infection,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>
                <a:latin typeface="Book Antiqua"/>
                <a:cs typeface="Book Antiqua"/>
              </a:rPr>
              <a:t>test</a:t>
            </a:r>
            <a:r>
              <a:rPr sz="900" spc="75">
                <a:latin typeface="Book Antiqua"/>
                <a:cs typeface="Book Antiqua"/>
              </a:rPr>
              <a:t> </a:t>
            </a:r>
            <a:r>
              <a:rPr sz="900" spc="-10">
                <a:latin typeface="Book Antiqua"/>
                <a:cs typeface="Book Antiqua"/>
              </a:rPr>
              <a:t>negative</a:t>
            </a:r>
            <a:endParaRPr sz="900">
              <a:latin typeface="Book Antiqua"/>
              <a:cs typeface="Book Antiqu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078141" y="1985934"/>
            <a:ext cx="422275" cy="111125"/>
            <a:chOff x="2078141" y="1985934"/>
            <a:chExt cx="422275" cy="111125"/>
          </a:xfrm>
        </p:grpSpPr>
        <p:sp>
          <p:nvSpPr>
            <p:cNvPr id="21" name="object 21"/>
            <p:cNvSpPr/>
            <p:nvPr/>
          </p:nvSpPr>
          <p:spPr>
            <a:xfrm>
              <a:off x="2083202" y="2003305"/>
              <a:ext cx="399415" cy="88900"/>
            </a:xfrm>
            <a:custGeom>
              <a:avLst/>
              <a:gdLst/>
              <a:ahLst/>
              <a:cxnLst/>
              <a:rect l="l" t="t" r="r" b="b"/>
              <a:pathLst>
                <a:path w="399414" h="88900">
                  <a:moveTo>
                    <a:pt x="0" y="88684"/>
                  </a:moveTo>
                  <a:lnTo>
                    <a:pt x="399097" y="0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39133" y="199099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0" y="0"/>
                  </a:move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9133" y="1990994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9461"/>
                  </a:moveTo>
                  <a:lnTo>
                    <a:pt x="43246" y="9112"/>
                  </a:lnTo>
                  <a:lnTo>
                    <a:pt x="29879" y="7475"/>
                  </a:lnTo>
                  <a:lnTo>
                    <a:pt x="15575" y="4466"/>
                  </a:lnTo>
                  <a:lnTo>
                    <a:pt x="0" y="0"/>
                  </a:lnTo>
                  <a:lnTo>
                    <a:pt x="13189" y="8181"/>
                  </a:lnTo>
                  <a:lnTo>
                    <a:pt x="19087" y="17666"/>
                  </a:lnTo>
                  <a:lnTo>
                    <a:pt x="17760" y="28755"/>
                  </a:lnTo>
                  <a:lnTo>
                    <a:pt x="9277" y="41753"/>
                  </a:lnTo>
                  <a:lnTo>
                    <a:pt x="21495" y="31111"/>
                  </a:lnTo>
                  <a:lnTo>
                    <a:pt x="33179" y="22327"/>
                  </a:lnTo>
                  <a:lnTo>
                    <a:pt x="44595" y="15183"/>
                  </a:lnTo>
                  <a:lnTo>
                    <a:pt x="56011" y="946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2078048" y="2268490"/>
            <a:ext cx="422275" cy="111125"/>
            <a:chOff x="2078048" y="2268490"/>
            <a:chExt cx="422275" cy="111125"/>
          </a:xfrm>
        </p:grpSpPr>
        <p:sp>
          <p:nvSpPr>
            <p:cNvPr id="25" name="object 25"/>
            <p:cNvSpPr/>
            <p:nvPr/>
          </p:nvSpPr>
          <p:spPr>
            <a:xfrm>
              <a:off x="2083109" y="2273551"/>
              <a:ext cx="399415" cy="88900"/>
            </a:xfrm>
            <a:custGeom>
              <a:avLst/>
              <a:gdLst/>
              <a:ahLst/>
              <a:cxnLst/>
              <a:rect l="l" t="t" r="r" b="b"/>
              <a:pathLst>
                <a:path w="399414" h="88900">
                  <a:moveTo>
                    <a:pt x="0" y="0"/>
                  </a:moveTo>
                  <a:lnTo>
                    <a:pt x="399186" y="88684"/>
                  </a:lnTo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439133" y="2332796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9275" y="0"/>
                  </a:moveTo>
                  <a:lnTo>
                    <a:pt x="17759" y="12996"/>
                  </a:lnTo>
                  <a:lnTo>
                    <a:pt x="19086" y="24086"/>
                  </a:lnTo>
                  <a:lnTo>
                    <a:pt x="13188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8" y="34276"/>
                  </a:lnTo>
                  <a:lnTo>
                    <a:pt x="43245" y="32638"/>
                  </a:lnTo>
                  <a:lnTo>
                    <a:pt x="56011" y="32288"/>
                  </a:lnTo>
                  <a:lnTo>
                    <a:pt x="44594" y="26567"/>
                  </a:lnTo>
                  <a:lnTo>
                    <a:pt x="33177" y="19424"/>
                  </a:lnTo>
                  <a:lnTo>
                    <a:pt x="21493" y="10641"/>
                  </a:lnTo>
                  <a:lnTo>
                    <a:pt x="9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39133" y="2332796"/>
              <a:ext cx="56515" cy="41910"/>
            </a:xfrm>
            <a:custGeom>
              <a:avLst/>
              <a:gdLst/>
              <a:ahLst/>
              <a:cxnLst/>
              <a:rect l="l" t="t" r="r" b="b"/>
              <a:pathLst>
                <a:path w="56514" h="41910">
                  <a:moveTo>
                    <a:pt x="56011" y="32288"/>
                  </a:moveTo>
                  <a:lnTo>
                    <a:pt x="44594" y="26567"/>
                  </a:lnTo>
                  <a:lnTo>
                    <a:pt x="33177" y="19424"/>
                  </a:lnTo>
                  <a:lnTo>
                    <a:pt x="21493" y="10641"/>
                  </a:lnTo>
                  <a:lnTo>
                    <a:pt x="9275" y="0"/>
                  </a:lnTo>
                  <a:lnTo>
                    <a:pt x="17759" y="12996"/>
                  </a:lnTo>
                  <a:lnTo>
                    <a:pt x="19086" y="24086"/>
                  </a:lnTo>
                  <a:lnTo>
                    <a:pt x="13188" y="33571"/>
                  </a:lnTo>
                  <a:lnTo>
                    <a:pt x="0" y="41753"/>
                  </a:lnTo>
                  <a:lnTo>
                    <a:pt x="15575" y="37286"/>
                  </a:lnTo>
                  <a:lnTo>
                    <a:pt x="29878" y="34276"/>
                  </a:lnTo>
                  <a:lnTo>
                    <a:pt x="43245" y="32638"/>
                  </a:lnTo>
                  <a:lnTo>
                    <a:pt x="56011" y="32288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07423" y="2787332"/>
            <a:ext cx="431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>
                <a:latin typeface="Century"/>
                <a:cs typeface="Century"/>
              </a:rPr>
              <a:t>95+4995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0444" y="2702229"/>
            <a:ext cx="39262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325495" algn="l"/>
              </a:tabLst>
            </a:pPr>
            <a:r>
              <a:rPr sz="1100" spc="-30">
                <a:latin typeface="Book Antiqua"/>
                <a:cs typeface="Book Antiqua"/>
              </a:rPr>
              <a:t>Suppose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7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positive:</a:t>
            </a:r>
            <a:r>
              <a:rPr sz="1100" spc="19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infected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Positive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35">
                <a:latin typeface="Book Antiqua"/>
                <a:cs typeface="Book Antiqua"/>
              </a:rPr>
              <a:t> </a:t>
            </a:r>
            <a:r>
              <a:rPr sz="1200" u="sng" spc="547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u="sng" spc="-52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95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r>
              <a:rPr sz="1200" spc="270" baseline="31250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</a:t>
            </a:r>
            <a:r>
              <a:rPr sz="1100" b="0" i="1">
                <a:latin typeface="Bookman Old Style"/>
                <a:cs typeface="Bookman Old Style"/>
              </a:rPr>
              <a:t>.</a:t>
            </a:r>
            <a:r>
              <a:rPr sz="1100">
                <a:latin typeface="Book Antiqua"/>
                <a:cs typeface="Book Antiqua"/>
              </a:rPr>
              <a:t>87%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3311931" y="2978086"/>
            <a:ext cx="431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>
                <a:latin typeface="Century"/>
                <a:cs typeface="Century"/>
              </a:rPr>
              <a:t>94905+5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0444" y="2892983"/>
            <a:ext cx="42303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0">
                <a:latin typeface="Book Antiqua"/>
                <a:cs typeface="Book Antiqua"/>
              </a:rPr>
              <a:t>Suppose</a:t>
            </a:r>
            <a:r>
              <a:rPr sz="1100" spc="3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test</a:t>
            </a:r>
            <a:r>
              <a:rPr sz="1100" spc="6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negative:</a:t>
            </a:r>
            <a:r>
              <a:rPr sz="1100" spc="17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-10">
                <a:latin typeface="Book Antiqua"/>
                <a:cs typeface="Book Antiqua"/>
              </a:rPr>
              <a:t>(</a:t>
            </a:r>
            <a:r>
              <a:rPr sz="1100" b="0" i="1" spc="-10">
                <a:latin typeface="Bookman Old Style"/>
                <a:cs typeface="Bookman Old Style"/>
              </a:rPr>
              <a:t>not</a:t>
            </a:r>
            <a:r>
              <a:rPr sz="1100" b="0" i="1" spc="-150">
                <a:latin typeface="Bookman Old Style"/>
                <a:cs typeface="Bookman Old Styl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infected</a:t>
            </a:r>
            <a:r>
              <a:rPr sz="1100" spc="-10">
                <a:latin typeface="Lucida Sans Unicode"/>
                <a:cs typeface="Lucida Sans Unicode"/>
              </a:rPr>
              <a:t>|</a:t>
            </a:r>
            <a:r>
              <a:rPr sz="1100" b="0" i="1" spc="-10">
                <a:latin typeface="Bookman Old Style"/>
                <a:cs typeface="Bookman Old Style"/>
              </a:rPr>
              <a:t>Negative</a:t>
            </a:r>
            <a:r>
              <a:rPr sz="1100" spc="-10">
                <a:latin typeface="Book Antiqua"/>
                <a:cs typeface="Book Antiqua"/>
              </a:rPr>
              <a:t>)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114">
                <a:latin typeface="Book Antiqua"/>
                <a:cs typeface="Book Antiqua"/>
              </a:rPr>
              <a:t> </a:t>
            </a:r>
            <a:r>
              <a:rPr sz="1200" u="sng" spc="450" baseline="312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00" u="sng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94905</a:t>
            </a:r>
            <a:r>
              <a:rPr sz="1200" u="sng" spc="419" baseline="3125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r>
              <a:rPr sz="1200" spc="254" baseline="31250">
                <a:latin typeface="Century"/>
                <a:cs typeface="Century"/>
              </a:rPr>
              <a:t> </a:t>
            </a:r>
            <a:r>
              <a:rPr sz="1100" spc="180">
                <a:latin typeface="Book Antiqua"/>
                <a:cs typeface="Book Antiqua"/>
              </a:rPr>
              <a:t>=</a:t>
            </a:r>
            <a:r>
              <a:rPr sz="1100" spc="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99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9%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35/39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02615">
              <a:lnSpc>
                <a:spcPct val="100000"/>
              </a:lnSpc>
              <a:spcBef>
                <a:spcPts val="135"/>
              </a:spcBef>
            </a:pPr>
            <a:r>
              <a:t>Bayes’</a:t>
            </a:r>
            <a:r>
              <a:rPr spc="130"/>
              <a:t> </a:t>
            </a:r>
            <a:r>
              <a:rPr spc="-20"/>
              <a:t>Rule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1286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21624" y="842540"/>
            <a:ext cx="765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>
                <a:solidFill>
                  <a:srgbClr val="FFFFFF"/>
                </a:solidFill>
                <a:latin typeface="Times New Roman"/>
                <a:cs typeface="Times New Roman"/>
              </a:rPr>
              <a:t>Bayes’</a:t>
            </a:r>
            <a:r>
              <a:rPr sz="12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20">
                <a:solidFill>
                  <a:srgbClr val="FFFFFF"/>
                </a:solidFill>
                <a:latin typeface="Times New Roman"/>
                <a:cs typeface="Times New Roman"/>
              </a:rPr>
              <a:t>Rule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1115" y="1133057"/>
            <a:ext cx="4432935" cy="1216482"/>
            <a:chOff x="87743" y="998575"/>
            <a:chExt cx="4432935" cy="1216482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8575"/>
              <a:ext cx="4432566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042847"/>
              <a:ext cx="4432935" cy="1172210"/>
            </a:xfrm>
            <a:custGeom>
              <a:avLst/>
              <a:gdLst/>
              <a:ahLst/>
              <a:cxnLst/>
              <a:rect l="l" t="t" r="r" b="b"/>
              <a:pathLst>
                <a:path w="4432935" h="1172210">
                  <a:moveTo>
                    <a:pt x="4432566" y="0"/>
                  </a:moveTo>
                  <a:lnTo>
                    <a:pt x="0" y="0"/>
                  </a:lnTo>
                  <a:lnTo>
                    <a:pt x="0" y="1121092"/>
                  </a:lnTo>
                  <a:lnTo>
                    <a:pt x="4008" y="1140817"/>
                  </a:lnTo>
                  <a:lnTo>
                    <a:pt x="14922" y="1156970"/>
                  </a:lnTo>
                  <a:lnTo>
                    <a:pt x="31075" y="1167884"/>
                  </a:lnTo>
                  <a:lnTo>
                    <a:pt x="50800" y="1171892"/>
                  </a:lnTo>
                  <a:lnTo>
                    <a:pt x="4381766" y="1171892"/>
                  </a:lnTo>
                  <a:lnTo>
                    <a:pt x="4401491" y="1167884"/>
                  </a:lnTo>
                  <a:lnTo>
                    <a:pt x="4417644" y="1156970"/>
                  </a:lnTo>
                  <a:lnTo>
                    <a:pt x="4428558" y="1140817"/>
                  </a:lnTo>
                  <a:lnTo>
                    <a:pt x="4432566" y="1121092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BEB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45045" y="1266393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3731" y="1172667"/>
            <a:ext cx="8928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3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 b="0" i="1" spc="150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60">
                <a:latin typeface="Lucida Sans Unicode"/>
                <a:cs typeface="Lucida Sans Unicode"/>
              </a:rPr>
              <a:t> </a:t>
            </a:r>
            <a:r>
              <a:rPr sz="1100" b="0" i="1" spc="25">
                <a:latin typeface="Bookman Old Style"/>
                <a:cs typeface="Bookman Old Style"/>
              </a:rPr>
              <a:t>A</a:t>
            </a:r>
            <a:r>
              <a:rPr sz="1100" spc="25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05000" y="1383004"/>
            <a:ext cx="1930400" cy="0"/>
          </a:xfrm>
          <a:custGeom>
            <a:avLst/>
            <a:gdLst/>
            <a:ahLst/>
            <a:cxnLst/>
            <a:rect l="l" t="t" r="r" b="b"/>
            <a:pathLst>
              <a:path w="1930400">
                <a:moveTo>
                  <a:pt x="0" y="0"/>
                </a:moveTo>
                <a:lnTo>
                  <a:pt x="1930069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66900" y="1361427"/>
            <a:ext cx="20066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00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100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95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(</a:t>
            </a:r>
            <a:r>
              <a:rPr sz="1100" b="0" i="1">
                <a:latin typeface="Bookman Old Style"/>
                <a:cs typeface="Bookman Old Style"/>
              </a:rPr>
              <a:t>B</a:t>
            </a:r>
            <a:r>
              <a:rPr sz="1100">
                <a:latin typeface="Lucida Sans Unicode"/>
                <a:cs typeface="Lucida Sans Unicode"/>
              </a:rPr>
              <a:t>|</a:t>
            </a:r>
            <a:r>
              <a:rPr sz="1100" b="0" i="1">
                <a:latin typeface="Bookman Old Style"/>
                <a:cs typeface="Bookman Old Style"/>
              </a:rPr>
              <a:t>A</a:t>
            </a:r>
            <a:r>
              <a:rPr sz="1200" b="0" i="1" baseline="20833">
                <a:latin typeface="Bookman Old Style"/>
                <a:cs typeface="Bookman Old Style"/>
              </a:rPr>
              <a:t>C</a:t>
            </a:r>
            <a:r>
              <a:rPr sz="1200" b="0" i="1" spc="-112" baseline="20833">
                <a:latin typeface="Bookman Old Style"/>
                <a:cs typeface="Bookman Old Style"/>
              </a:rPr>
              <a:t> </a:t>
            </a:r>
            <a:r>
              <a:rPr sz="1100">
                <a:latin typeface="Book Antiqua"/>
                <a:cs typeface="Book Antiqua"/>
              </a:rPr>
              <a:t>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232750" y="1912493"/>
            <a:ext cx="719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75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b="0" i="1" spc="-15">
                <a:latin typeface="Bookman Old Style"/>
                <a:cs typeface="Bookman Old Style"/>
              </a:rPr>
              <a:t> </a:t>
            </a:r>
            <a:r>
              <a:rPr sz="1100" spc="-120">
                <a:latin typeface="Lucida Sans Unicode"/>
                <a:cs typeface="Lucida Sans Unicode"/>
              </a:rPr>
              <a:t>|</a:t>
            </a:r>
            <a:r>
              <a:rPr sz="1100" spc="-30">
                <a:latin typeface="Lucida Sans Unicode"/>
                <a:cs typeface="Lucida Sans Unicode"/>
              </a:rPr>
              <a:t> </a:t>
            </a:r>
            <a:r>
              <a:rPr sz="1100" b="0" i="1" spc="70">
                <a:latin typeface="Bookman Old Style"/>
                <a:cs typeface="Bookman Old Style"/>
              </a:rPr>
              <a:t>B</a:t>
            </a:r>
            <a:r>
              <a:rPr sz="1100" spc="70">
                <a:latin typeface="Book Antiqua"/>
                <a:cs typeface="Book Antiqua"/>
              </a:rPr>
              <a:t>)</a:t>
            </a:r>
            <a:r>
              <a:rPr sz="1100" spc="40">
                <a:latin typeface="Book Antiqua"/>
                <a:cs typeface="Book Antiqua"/>
              </a:rPr>
              <a:t> </a:t>
            </a:r>
            <a:r>
              <a:rPr sz="1100" spc="13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1006" y="1818754"/>
            <a:ext cx="618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45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95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992706" y="2029091"/>
            <a:ext cx="1355090" cy="0"/>
          </a:xfrm>
          <a:custGeom>
            <a:avLst/>
            <a:gdLst/>
            <a:ahLst/>
            <a:cxnLst/>
            <a:rect l="l" t="t" r="r" b="b"/>
            <a:pathLst>
              <a:path w="1355089">
                <a:moveTo>
                  <a:pt x="0" y="0"/>
                </a:moveTo>
                <a:lnTo>
                  <a:pt x="135467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80006" y="2007527"/>
            <a:ext cx="1380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001</a:t>
            </a:r>
            <a:r>
              <a:rPr sz="1100" spc="-5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95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180">
                <a:latin typeface="Book Antiqua"/>
                <a:cs typeface="Book Antiqua"/>
              </a:rPr>
              <a:t>+</a:t>
            </a:r>
            <a:r>
              <a:rPr sz="1100" spc="-35">
                <a:latin typeface="Book Antiqua"/>
                <a:cs typeface="Book Antiqua"/>
              </a:rPr>
              <a:t> </a:t>
            </a:r>
            <a:r>
              <a:rPr sz="1100" b="0" i="1" spc="-10">
                <a:latin typeface="Bookman Old Style"/>
                <a:cs typeface="Bookman Old Style"/>
              </a:rPr>
              <a:t>.</a:t>
            </a:r>
            <a:r>
              <a:rPr sz="1100" spc="-10">
                <a:latin typeface="Book Antiqua"/>
                <a:cs typeface="Book Antiqua"/>
              </a:rPr>
              <a:t>999</a:t>
            </a:r>
            <a:r>
              <a:rPr sz="1100" spc="-40">
                <a:latin typeface="Book Antiqua"/>
                <a:cs typeface="Book Antiqua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×</a:t>
            </a:r>
            <a:r>
              <a:rPr sz="1100" spc="-105">
                <a:latin typeface="Lucida Sans Unicode"/>
                <a:cs typeface="Lucida Sans Unicode"/>
              </a:rPr>
              <a:t> </a:t>
            </a:r>
            <a:r>
              <a:rPr sz="1100" b="0" i="1" spc="-25">
                <a:latin typeface="Bookman Old Style"/>
                <a:cs typeface="Bookman Old Style"/>
              </a:rPr>
              <a:t>.</a:t>
            </a:r>
            <a:r>
              <a:rPr sz="1100" spc="-25">
                <a:latin typeface="Book Antiqua"/>
                <a:cs typeface="Book Antiqua"/>
              </a:rPr>
              <a:t>05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5844" y="2466225"/>
            <a:ext cx="418782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>
                <a:latin typeface="Book Antiqua"/>
                <a:cs typeface="Book Antiqua"/>
              </a:rPr>
              <a:t>If</a:t>
            </a:r>
            <a:r>
              <a:rPr sz="1100" spc="-5">
                <a:latin typeface="Book Antiqua"/>
                <a:cs typeface="Book Antiqua"/>
              </a:rPr>
              <a:t> </a:t>
            </a:r>
            <a:r>
              <a:rPr sz="1100" b="0" i="1">
                <a:latin typeface="Bookman Old Style"/>
                <a:cs typeface="Bookman Old Style"/>
              </a:rPr>
              <a:t>P</a:t>
            </a:r>
            <a:r>
              <a:rPr sz="1100" b="0" i="1" spc="-180">
                <a:latin typeface="Bookman Old Style"/>
                <a:cs typeface="Bookman Old Style"/>
              </a:rPr>
              <a:t> </a:t>
            </a:r>
            <a:r>
              <a:rPr sz="1100" spc="50">
                <a:latin typeface="Book Antiqua"/>
                <a:cs typeface="Book Antiqua"/>
              </a:rPr>
              <a:t>(</a:t>
            </a:r>
            <a:r>
              <a:rPr sz="1100" b="0" i="1" spc="50">
                <a:latin typeface="Bookman Old Style"/>
                <a:cs typeface="Bookman Old Style"/>
              </a:rPr>
              <a:t>A</a:t>
            </a:r>
            <a:r>
              <a:rPr sz="1100" spc="50">
                <a:latin typeface="Book Antiqua"/>
                <a:cs typeface="Book Antiqua"/>
              </a:rPr>
              <a:t>)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small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and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false</a:t>
            </a:r>
            <a:r>
              <a:rPr sz="1100" spc="30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positive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not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small,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the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fraction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is</a:t>
            </a:r>
            <a:r>
              <a:rPr sz="1100" spc="25">
                <a:latin typeface="Book Antiqua"/>
                <a:cs typeface="Book Antiqua"/>
              </a:rPr>
              <a:t> </a:t>
            </a:r>
            <a:r>
              <a:rPr sz="1100" spc="-50">
                <a:latin typeface="Book Antiqua"/>
                <a:cs typeface="Book Antiqua"/>
              </a:rPr>
              <a:t>a </a:t>
            </a:r>
            <a:r>
              <a:rPr sz="1100" spc="-10">
                <a:latin typeface="Book Antiqua"/>
                <a:cs typeface="Book Antiqua"/>
              </a:rPr>
              <a:t>small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number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40">
                <a:latin typeface="Book Antiqua"/>
                <a:cs typeface="Book Antiqua"/>
              </a:rPr>
              <a:t>divided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by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small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number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 spc="-20">
                <a:latin typeface="Book Antiqua"/>
                <a:cs typeface="Book Antiqua"/>
              </a:rPr>
              <a:t>plus</a:t>
            </a:r>
            <a:r>
              <a:rPr sz="1100" spc="1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a</a:t>
            </a:r>
            <a:r>
              <a:rPr sz="1100" spc="1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big</a:t>
            </a:r>
            <a:r>
              <a:rPr sz="1100" spc="20">
                <a:latin typeface="Book Antiqua"/>
                <a:cs typeface="Book Antiqua"/>
              </a:rPr>
              <a:t> </a:t>
            </a:r>
            <a:r>
              <a:rPr sz="1100" spc="-10">
                <a:latin typeface="Book Antiqua"/>
                <a:cs typeface="Book Antiqua"/>
              </a:rPr>
              <a:t>number.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t>36/39</a:t>
            </a:r>
            <a:r>
              <a:rPr spc="280"/>
              <a:t> </a:t>
            </a:r>
            <a:r>
              <a:rPr b="0" spc="-10">
                <a:latin typeface="Times New Roman"/>
                <a:cs typeface="Times New Roman"/>
              </a:rPr>
              <a:t>10</a:t>
            </a:r>
            <a:r>
              <a:rPr spc="-10"/>
              <a:t>:</a:t>
            </a:r>
            <a:r>
              <a:rPr b="0" spc="-10">
                <a:latin typeface="Times New Roman"/>
                <a:cs typeface="Times New Roman"/>
              </a:rPr>
              <a:t>18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5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sz="14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>
                <a:solidFill>
                  <a:srgbClr val="FFFFFF"/>
                </a:solidFill>
                <a:latin typeface="Times New Roman"/>
                <a:cs typeface="Times New Roman"/>
              </a:rPr>
              <a:t>Class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633" y="1517548"/>
            <a:ext cx="19824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>
                <a:latin typeface="Book Antiqua"/>
                <a:cs typeface="Book Antiqua"/>
              </a:rPr>
              <a:t>Read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Chapter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1,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1.5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30">
                <a:latin typeface="Book Antiqua"/>
                <a:cs typeface="Book Antiqua"/>
              </a:rPr>
              <a:t>ppg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34</a:t>
            </a:r>
            <a:r>
              <a:rPr sz="1100" spc="50">
                <a:latin typeface="Book Antiqua"/>
                <a:cs typeface="Book Antiqua"/>
              </a:rPr>
              <a:t> </a:t>
            </a:r>
            <a:r>
              <a:rPr sz="1100">
                <a:latin typeface="Book Antiqua"/>
                <a:cs typeface="Book Antiqua"/>
              </a:rPr>
              <a:t>-</a:t>
            </a:r>
            <a:r>
              <a:rPr sz="1100" spc="55">
                <a:latin typeface="Book Antiqua"/>
                <a:cs typeface="Book Antiqua"/>
              </a:rPr>
              <a:t> </a:t>
            </a:r>
            <a:r>
              <a:rPr sz="1100" spc="-25">
                <a:latin typeface="Book Antiqua"/>
                <a:cs typeface="Book Antiqua"/>
              </a:rPr>
              <a:t>43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87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</a:rPr>
              <a:t>39/39</a:t>
            </a:r>
            <a:r>
              <a:rPr sz="600" b="0" spc="27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sz="600" b="0" spc="-1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t>Copyright</a:t>
            </a:r>
            <a:r>
              <a:rPr spc="260"/>
              <a:t> </a:t>
            </a:r>
            <a:r>
              <a:rPr b="0">
                <a:latin typeface="Times New Roman"/>
                <a:cs typeface="Times New Roman"/>
              </a:rPr>
              <a:t>@</a:t>
            </a:r>
            <a:r>
              <a:t>2022,</a:t>
            </a:r>
            <a:r>
              <a:rPr spc="265"/>
              <a:t> </a:t>
            </a:r>
            <a:r>
              <a:t>Ivan</a:t>
            </a:r>
            <a:r>
              <a:rPr spc="265"/>
              <a:t> </a:t>
            </a:r>
            <a:r>
              <a:rPr spc="-2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M2AVRSERJEAQ-585345103-43124</_dlc_DocId>
    <_dlc_DocIdUrl xmlns="c01506f5-305e-4c16-814a-34df78f45099">
      <Url>https://uab365.sharepoint.com/sites/provost/cas/departments/cis/_layouts/15/DocIdRedir.aspx?ID=M2AVRSERJEAQ-585345103-43124</Url>
      <Description>M2AVRSERJEAQ-585345103-43124</Description>
    </_dlc_DocIdUrl>
  </documentManagement>
</p:properties>
</file>

<file path=customXml/itemProps1.xml><?xml version="1.0" encoding="utf-8"?>
<ds:datastoreItem xmlns:ds="http://schemas.openxmlformats.org/officeDocument/2006/customXml" ds:itemID="{388B8A70-33ED-4CB2-BB18-65E6C81F33BD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B815E36D-1A1C-4B14-B301-B820C9514F03}">
  <ds:schemaRefs>
    <ds:schemaRef ds:uri="62eb5de7-a296-4932-8c46-6bd9a6968804"/>
    <ds:schemaRef ds:uri="89fcee1f-ef3f-45b6-92f6-d5fcc1f0d356"/>
    <ds:schemaRef ds:uri="c01506f5-305e-4c16-814a-34df78f450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6453B0D-5733-4AC3-A095-AC9F4520118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693DE6B-3742-495E-87D7-019B3EDFDBA2}">
  <ds:schemaRefs>
    <ds:schemaRef ds:uri="89fcee1f-ef3f-45b6-92f6-d5fcc1f0d356"/>
    <ds:schemaRef ds:uri="c01506f5-305e-4c16-814a-34df78f45099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2988</Words>
  <Application>Microsoft Office PowerPoint</Application>
  <PresentationFormat>Custom</PresentationFormat>
  <Paragraphs>578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Arial</vt:lpstr>
      <vt:lpstr>Book Antiqua</vt:lpstr>
      <vt:lpstr>Bookman Old Style</vt:lpstr>
      <vt:lpstr>Cambria Math</vt:lpstr>
      <vt:lpstr>Century</vt:lpstr>
      <vt:lpstr>Lucida Sans Unicode</vt:lpstr>
      <vt:lpstr>Segoe UI Symbol</vt:lpstr>
      <vt:lpstr>Times New Roman</vt:lpstr>
      <vt:lpstr>Office Theme</vt:lpstr>
      <vt:lpstr>PowerPoint Presentation</vt:lpstr>
      <vt:lpstr>Introduction</vt:lpstr>
      <vt:lpstr>Copyright Statement</vt:lpstr>
      <vt:lpstr>Birthday Paradox</vt:lpstr>
      <vt:lpstr>Birthday Paradox</vt:lpstr>
      <vt:lpstr>Birthday Paradox</vt:lpstr>
      <vt:lpstr>Birthday Paradox</vt:lpstr>
      <vt:lpstr>Birthday Paradox</vt:lpstr>
      <vt:lpstr>Birthday Paradox</vt:lpstr>
      <vt:lpstr>PowerPoint Presentation</vt:lpstr>
      <vt:lpstr>Total Probability Theorem</vt:lpstr>
      <vt:lpstr>PowerPoint Presentation</vt:lpstr>
      <vt:lpstr>PowerPoint Presentation</vt:lpstr>
      <vt:lpstr>Example 1.14</vt:lpstr>
      <vt:lpstr>Example 1.14</vt:lpstr>
      <vt:lpstr>Example 1.14</vt:lpstr>
      <vt:lpstr>PowerPoint Presentation</vt:lpstr>
      <vt:lpstr>PowerPoint Presentation</vt:lpstr>
      <vt:lpstr>PowerPoint Presentation</vt:lpstr>
      <vt:lpstr>PowerPoint Presentation</vt:lpstr>
      <vt:lpstr>Example 1.15</vt:lpstr>
      <vt:lpstr>Example 1.15</vt:lpstr>
      <vt:lpstr>PowerPoint Presentation</vt:lpstr>
      <vt:lpstr>Example 1.15</vt:lpstr>
      <vt:lpstr>Example 1.15</vt:lpstr>
      <vt:lpstr>PowerPoint Presentation</vt:lpstr>
      <vt:lpstr>Example 1.15</vt:lpstr>
      <vt:lpstr>Example 1.15</vt:lpstr>
      <vt:lpstr>PowerPoint Presentation</vt:lpstr>
      <vt:lpstr>PowerPoint Presentation</vt:lpstr>
      <vt:lpstr>PowerPoint Presentation</vt:lpstr>
      <vt:lpstr>Bayes’ Rule</vt:lpstr>
      <vt:lpstr>PowerPoint Presentation</vt:lpstr>
      <vt:lpstr>PowerPoint Presentation</vt:lpstr>
      <vt:lpstr>Example 1.181</vt:lpstr>
      <vt:lpstr>Example 1.181</vt:lpstr>
      <vt:lpstr>PowerPoint Presentation</vt:lpstr>
      <vt:lpstr>Example 1.18</vt:lpstr>
      <vt:lpstr>PowerPoint Presentation</vt:lpstr>
      <vt:lpstr>PowerPoint Presentation</vt:lpstr>
      <vt:lpstr>PowerPoint Presentation</vt:lpstr>
      <vt:lpstr>Example 1.18</vt:lpstr>
      <vt:lpstr>PowerPoint Presentation</vt:lpstr>
      <vt:lpstr>PowerPoint Presentation</vt:lpstr>
      <vt:lpstr>Example 1.9</vt:lpstr>
      <vt:lpstr>Example 1.9</vt:lpstr>
      <vt:lpstr>Bayes’ Rule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Baocheng Geng</cp:lastModifiedBy>
  <cp:revision>3</cp:revision>
  <dcterms:created xsi:type="dcterms:W3CDTF">2023-01-23T16:19:09Z</dcterms:created>
  <dcterms:modified xsi:type="dcterms:W3CDTF">2025-01-31T04:22:33Z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2023-01-23T00:00:00Z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01a9a22c-014e-4c98-86a3-e24b6763d648</vt:lpwstr>
  </property>
</Properties>
</file>