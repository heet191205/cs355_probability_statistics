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sldIdLst>
    <p:sldId id="256" r:id="rId6"/>
    <p:sldId id="258" r:id="rId7"/>
    <p:sldId id="336" r:id="rId8"/>
    <p:sldId id="263" r:id="rId9"/>
    <p:sldId id="264" r:id="rId10"/>
    <p:sldId id="265" r:id="rId11"/>
    <p:sldId id="266" r:id="rId12"/>
    <p:sldId id="272" r:id="rId13"/>
    <p:sldId id="276" r:id="rId14"/>
    <p:sldId id="277" r:id="rId15"/>
    <p:sldId id="278" r:id="rId16"/>
    <p:sldId id="279" r:id="rId17"/>
    <p:sldId id="280" r:id="rId18"/>
    <p:sldId id="283" r:id="rId19"/>
    <p:sldId id="284" r:id="rId20"/>
    <p:sldId id="285" r:id="rId21"/>
    <p:sldId id="286" r:id="rId22"/>
    <p:sldId id="287" r:id="rId23"/>
    <p:sldId id="288" r:id="rId24"/>
    <p:sldId id="292" r:id="rId25"/>
    <p:sldId id="293" r:id="rId26"/>
    <p:sldId id="294" r:id="rId27"/>
    <p:sldId id="295" r:id="rId28"/>
    <p:sldId id="332" r:id="rId29"/>
    <p:sldId id="297" r:id="rId30"/>
    <p:sldId id="298" r:id="rId31"/>
    <p:sldId id="299" r:id="rId32"/>
    <p:sldId id="300" r:id="rId33"/>
    <p:sldId id="302" r:id="rId34"/>
    <p:sldId id="303" r:id="rId35"/>
    <p:sldId id="304" r:id="rId36"/>
    <p:sldId id="305" r:id="rId37"/>
    <p:sldId id="310" r:id="rId38"/>
    <p:sldId id="311" r:id="rId39"/>
    <p:sldId id="312" r:id="rId40"/>
    <p:sldId id="314" r:id="rId41"/>
    <p:sldId id="315" r:id="rId42"/>
    <p:sldId id="316" r:id="rId43"/>
    <p:sldId id="317" r:id="rId44"/>
    <p:sldId id="322" r:id="rId45"/>
    <p:sldId id="323" r:id="rId46"/>
    <p:sldId id="324" r:id="rId47"/>
    <p:sldId id="325" r:id="rId48"/>
    <p:sldId id="326" r:id="rId49"/>
    <p:sldId id="327" r:id="rId50"/>
    <p:sldId id="333" r:id="rId51"/>
    <p:sldId id="334" r:id="rId52"/>
    <p:sldId id="335" r:id="rId53"/>
    <p:sldId id="269" r:id="rId54"/>
    <p:sldId id="328" r:id="rId55"/>
    <p:sldId id="329" r:id="rId56"/>
    <p:sldId id="330" r:id="rId57"/>
    <p:sldId id="331" r:id="rId58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EA746A-11B1-4AC5-99C9-3BDEF801C5D1}" v="2" dt="2024-03-19T15:47:36.29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75" d="100"/>
          <a:sy n="175" d="100"/>
        </p:scale>
        <p:origin x="1286" y="101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5" Type="http://schemas.openxmlformats.org/officeDocument/2006/relationships/slideMaster" Target="slideMasters/slideMaster1.xml"/><Relationship Id="rId61" Type="http://schemas.openxmlformats.org/officeDocument/2006/relationships/theme" Target="theme/theme1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3703" y="62405"/>
            <a:ext cx="4382693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‹#›</a:t>
            </a:fld>
            <a:r>
              <a:rPr spc="-20"/>
              <a:t>/40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‹#›</a:t>
            </a:fld>
            <a:r>
              <a:rPr spc="-20"/>
              <a:t>/40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‹#›</a:t>
            </a:fld>
            <a:r>
              <a:rPr spc="-20"/>
              <a:t>/40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‹#›</a:t>
            </a:fld>
            <a:r>
              <a:rPr spc="-20"/>
              <a:t>/40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‹#›</a:t>
            </a:fld>
            <a:r>
              <a:rPr spc="-20"/>
              <a:t>/40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180"/>
                </a:lnTo>
                <a:lnTo>
                  <a:pt x="4608004" y="355180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6668" y="62405"/>
            <a:ext cx="3156762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728140"/>
            <a:ext cx="4290695" cy="2108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529" y="3352712"/>
            <a:ext cx="1245870" cy="103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90937" y="3353673"/>
            <a:ext cx="283210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‹#›</a:t>
            </a:fld>
            <a:r>
              <a:rPr spc="-20"/>
              <a:t>/40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6.png"/><Relationship Id="rId12" Type="http://schemas.openxmlformats.org/officeDocument/2006/relationships/image" Target="../media/image29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5.png"/><Relationship Id="rId11" Type="http://schemas.openxmlformats.org/officeDocument/2006/relationships/image" Target="../media/image22.png"/><Relationship Id="rId5" Type="http://schemas.openxmlformats.org/officeDocument/2006/relationships/image" Target="../media/image24.png"/><Relationship Id="rId10" Type="http://schemas.openxmlformats.org/officeDocument/2006/relationships/slide" Target="slide1.xml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5" Type="http://schemas.openxmlformats.org/officeDocument/2006/relationships/image" Target="../media/image31.png"/><Relationship Id="rId4" Type="http://schemas.openxmlformats.org/officeDocument/2006/relationships/slide" Target="slide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slide" Target="slide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5" Type="http://schemas.openxmlformats.org/officeDocument/2006/relationships/slide" Target="slide1.xml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5" Type="http://schemas.openxmlformats.org/officeDocument/2006/relationships/slide" Target="slide1.xml"/><Relationship Id="rId4" Type="http://schemas.openxmlformats.org/officeDocument/2006/relationships/image" Target="../media/image5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775956"/>
            <a:ext cx="4483735" cy="767715"/>
            <a:chOff x="87743" y="775956"/>
            <a:chExt cx="4483735" cy="767715"/>
          </a:xfrm>
        </p:grpSpPr>
        <p:sp>
          <p:nvSpPr>
            <p:cNvPr id="3" name="object 3"/>
            <p:cNvSpPr/>
            <p:nvPr/>
          </p:nvSpPr>
          <p:spPr>
            <a:xfrm>
              <a:off x="87743" y="775956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39213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5">
                  <a:moveTo>
                    <a:pt x="4432566" y="0"/>
                  </a:moveTo>
                  <a:lnTo>
                    <a:pt x="0" y="0"/>
                  </a:lnTo>
                  <a:lnTo>
                    <a:pt x="0" y="703964"/>
                  </a:lnTo>
                  <a:lnTo>
                    <a:pt x="4432566" y="70396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20376"/>
              <a:ext cx="4432935" cy="672465"/>
            </a:xfrm>
            <a:custGeom>
              <a:avLst/>
              <a:gdLst/>
              <a:ahLst/>
              <a:cxnLst/>
              <a:rect l="l" t="t" r="r" b="b"/>
              <a:pathLst>
                <a:path w="4432935" h="672465">
                  <a:moveTo>
                    <a:pt x="4432566" y="0"/>
                  </a:moveTo>
                  <a:lnTo>
                    <a:pt x="0" y="0"/>
                  </a:lnTo>
                  <a:lnTo>
                    <a:pt x="0" y="621200"/>
                  </a:lnTo>
                  <a:lnTo>
                    <a:pt x="4008" y="640925"/>
                  </a:lnTo>
                  <a:lnTo>
                    <a:pt x="14922" y="657078"/>
                  </a:lnTo>
                  <a:lnTo>
                    <a:pt x="31075" y="667992"/>
                  </a:lnTo>
                  <a:lnTo>
                    <a:pt x="50800" y="672001"/>
                  </a:lnTo>
                  <a:lnTo>
                    <a:pt x="4381765" y="672001"/>
                  </a:lnTo>
                  <a:lnTo>
                    <a:pt x="4401490" y="667992"/>
                  </a:lnTo>
                  <a:lnTo>
                    <a:pt x="4417643" y="657078"/>
                  </a:lnTo>
                  <a:lnTo>
                    <a:pt x="4428558" y="640925"/>
                  </a:lnTo>
                  <a:lnTo>
                    <a:pt x="4432566" y="621200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39213"/>
            <a:ext cx="4432935" cy="7042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20"/>
              </a:spcBef>
            </a:pP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CS</a:t>
            </a:r>
            <a:r>
              <a:rPr sz="1400" spc="1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FFFFFF"/>
                </a:solidFill>
                <a:latin typeface="Times New Roman"/>
                <a:cs typeface="Times New Roman"/>
              </a:rPr>
              <a:t>355/555</a:t>
            </a:r>
            <a:endParaRPr sz="1400">
              <a:latin typeface="Times New Roman"/>
              <a:cs typeface="Times New Roman"/>
            </a:endParaRPr>
          </a:p>
          <a:p>
            <a:pPr marR="93980" algn="ctr">
              <a:lnSpc>
                <a:spcPct val="100000"/>
              </a:lnSpc>
              <a:spcBef>
                <a:spcPts val="114"/>
              </a:spcBef>
            </a:pPr>
            <a:r>
              <a:rPr sz="1400" spc="55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400" spc="1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400" spc="1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Statistics</a:t>
            </a:r>
            <a:r>
              <a:rPr sz="1400" spc="1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400" spc="1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65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1400" spc="1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FFFFFF"/>
                </a:solidFill>
                <a:latin typeface="Times New Roman"/>
                <a:cs typeface="Times New Roman"/>
              </a:rPr>
              <a:t>Scientists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5985" y="1700922"/>
            <a:ext cx="1076325" cy="86562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spc="-10" dirty="0">
                <a:latin typeface="Book Antiqua"/>
                <a:cs typeface="Book Antiqua"/>
              </a:rPr>
              <a:t>Baocheng Geng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 dirty="0">
              <a:latin typeface="Book Antiqua"/>
              <a:cs typeface="Book Antiqua"/>
            </a:endParaRPr>
          </a:p>
          <a:p>
            <a:pPr marL="19685">
              <a:lnSpc>
                <a:spcPct val="100000"/>
              </a:lnSpc>
              <a:spcBef>
                <a:spcPts val="5"/>
              </a:spcBef>
            </a:pPr>
            <a:r>
              <a:rPr lang="en-US" sz="1100" dirty="0">
                <a:latin typeface="Book Antiqua"/>
                <a:cs typeface="Book Antiqua"/>
              </a:rPr>
              <a:t>Lecture 23, 03/19/2025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506855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1</a:t>
            </a:fld>
            <a:r>
              <a:rPr spc="-20"/>
              <a:t>/40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59460">
              <a:lnSpc>
                <a:spcPct val="100000"/>
              </a:lnSpc>
              <a:spcBef>
                <a:spcPts val="135"/>
              </a:spcBef>
            </a:pPr>
            <a:r>
              <a:rPr spc="45"/>
              <a:t>Copyright</a:t>
            </a:r>
            <a:r>
              <a:rPr spc="125"/>
              <a:t> </a:t>
            </a:r>
            <a:r>
              <a:rPr spc="6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1532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22615" y="1245001"/>
            <a:ext cx="13633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Copyright</a:t>
            </a:r>
            <a:r>
              <a:rPr sz="12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>
                <a:solidFill>
                  <a:srgbClr val="FFFFFF"/>
                </a:solidFill>
                <a:latin typeface="Times New Roman"/>
                <a:cs typeface="Times New Roman"/>
              </a:rPr>
              <a:t>Statement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23300"/>
            <a:ext cx="44329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9209" marR="123825" algn="ctr">
              <a:lnSpc>
                <a:spcPct val="102600"/>
              </a:lnSpc>
              <a:spcBef>
                <a:spcPts val="55"/>
              </a:spcBef>
            </a:pPr>
            <a:r>
              <a:rPr sz="1100" spc="-10">
                <a:latin typeface="Book Antiqua"/>
                <a:cs typeface="Book Antiqua"/>
              </a:rPr>
              <a:t>Materials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prepared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40">
                <a:latin typeface="Book Antiqua"/>
                <a:cs typeface="Book Antiqua"/>
              </a:rPr>
              <a:t>and/or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included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this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course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are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protected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by </a:t>
            </a:r>
            <a:r>
              <a:rPr sz="1100" spc="-30">
                <a:latin typeface="Book Antiqua"/>
                <a:cs typeface="Book Antiqua"/>
              </a:rPr>
              <a:t>copyright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law.</a:t>
            </a:r>
            <a:r>
              <a:rPr sz="1100" spc="1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are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intended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used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only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students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enrolled </a:t>
            </a:r>
            <a:r>
              <a:rPr sz="1100">
                <a:latin typeface="Book Antiqua"/>
                <a:cs typeface="Book Antiqua"/>
              </a:rPr>
              <a:t>in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course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during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current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term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should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not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further </a:t>
            </a:r>
            <a:r>
              <a:rPr sz="1100" spc="-30">
                <a:latin typeface="Book Antiqua"/>
                <a:cs typeface="Book Antiqua"/>
              </a:rPr>
              <a:t>disseminated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without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prior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permission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from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course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instructor.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506855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2</a:t>
            </a:fld>
            <a:r>
              <a:rPr spc="-20"/>
              <a:t>/40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80ABE-AC49-872D-1283-2D031B5E5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66DCA5-0AAA-43DC-F67C-7092E39F360A}"/>
              </a:ext>
            </a:extLst>
          </p:cNvPr>
          <p:cNvSpPr txBox="1"/>
          <p:nvPr/>
        </p:nvSpPr>
        <p:spPr>
          <a:xfrm>
            <a:off x="557349" y="936171"/>
            <a:ext cx="38666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Announcement:</a:t>
            </a:r>
          </a:p>
          <a:p>
            <a:r>
              <a:rPr lang="en-US" dirty="0"/>
              <a:t>Midterm 2, March 31</a:t>
            </a:r>
          </a:p>
        </p:txBody>
      </p:sp>
    </p:spTree>
    <p:extLst>
      <p:ext uri="{BB962C8B-B14F-4D97-AF65-F5344CB8AC3E}">
        <p14:creationId xmlns:p14="http://schemas.microsoft.com/office/powerpoint/2010/main" val="2899355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370" y="62405"/>
            <a:ext cx="251568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75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400" spc="2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r>
              <a:rPr sz="1400" spc="2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45">
                <a:solidFill>
                  <a:srgbClr val="FFFFFF"/>
                </a:solidFill>
                <a:latin typeface="Times New Roman"/>
                <a:cs typeface="Times New Roman"/>
              </a:rPr>
              <a:t>Distribution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492746"/>
            <a:ext cx="28282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>
                <a:latin typeface="Book Antiqua"/>
                <a:cs typeface="Book Antiqua"/>
              </a:rPr>
              <a:t>Here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“normal”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or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“Gaussian”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distribution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06855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39540" y="3353673"/>
            <a:ext cx="211454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0">
                <a:solidFill>
                  <a:srgbClr val="FFFFFF"/>
                </a:solidFill>
                <a:latin typeface="Bookman Old Style"/>
                <a:cs typeface="Bookman Old Style"/>
              </a:rPr>
              <a:t>5/40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12215">
              <a:lnSpc>
                <a:spcPct val="100000"/>
              </a:lnSpc>
              <a:spcBef>
                <a:spcPts val="135"/>
              </a:spcBef>
            </a:pPr>
            <a:r>
              <a:rPr spc="75"/>
              <a:t>The</a:t>
            </a:r>
            <a:r>
              <a:rPr spc="245"/>
              <a:t> </a:t>
            </a:r>
            <a:r>
              <a:t>Normal</a:t>
            </a:r>
            <a:r>
              <a:rPr spc="260"/>
              <a:t> </a:t>
            </a:r>
            <a:r>
              <a:rPr spc="45"/>
              <a:t>Distribution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92746"/>
            <a:ext cx="28282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>
                <a:latin typeface="Book Antiqua"/>
                <a:cs typeface="Book Antiqua"/>
              </a:rPr>
              <a:t>Here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“normal”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or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“Gaussian”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distribution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1270" y="855854"/>
            <a:ext cx="2165410" cy="154672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5844" y="2852698"/>
            <a:ext cx="435610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>
                <a:latin typeface="Book Antiqua"/>
                <a:cs typeface="Book Antiqua"/>
              </a:rPr>
              <a:t>It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called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“bell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shaped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curve”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because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it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symmetric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looks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like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7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bell...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506855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39540" y="3353673"/>
            <a:ext cx="211454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0">
                <a:solidFill>
                  <a:srgbClr val="FFFFFF"/>
                </a:solidFill>
                <a:latin typeface="Bookman Old Style"/>
                <a:cs typeface="Bookman Old Style"/>
              </a:rPr>
              <a:t>5/40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98805">
              <a:lnSpc>
                <a:spcPct val="100000"/>
              </a:lnSpc>
              <a:spcBef>
                <a:spcPts val="135"/>
              </a:spcBef>
            </a:pPr>
            <a:r>
              <a:rPr spc="75"/>
              <a:t>The</a:t>
            </a:r>
            <a:r>
              <a:rPr spc="245"/>
              <a:t> </a:t>
            </a:r>
            <a:r>
              <a:t>Normal</a:t>
            </a:r>
            <a:r>
              <a:rPr spc="260"/>
              <a:t> </a:t>
            </a:r>
            <a:r>
              <a:rPr spc="45"/>
              <a:t>Distribution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1270" y="624371"/>
            <a:ext cx="2165410" cy="154672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2744660"/>
            <a:ext cx="63233" cy="632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2659175"/>
            <a:ext cx="372491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>
                <a:latin typeface="Book Antiqua"/>
                <a:cs typeface="Book Antiqua"/>
              </a:rPr>
              <a:t>They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y-</a:t>
            </a:r>
            <a:r>
              <a:rPr sz="1100">
                <a:latin typeface="Book Antiqua"/>
                <a:cs typeface="Book Antiqua"/>
              </a:rPr>
              <a:t>axis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represents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relative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observing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50">
                <a:latin typeface="Book Antiqua"/>
                <a:cs typeface="Book Antiqua"/>
              </a:rPr>
              <a:t>a </a:t>
            </a:r>
            <a:r>
              <a:rPr sz="1100">
                <a:latin typeface="Book Antiqua"/>
                <a:cs typeface="Book Antiqua"/>
              </a:rPr>
              <a:t>battery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that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has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-45">
                <a:latin typeface="Book Antiqua"/>
                <a:cs typeface="Book Antiqua"/>
              </a:rPr>
              <a:t>short/average/long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life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span.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506855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39540" y="3353673"/>
            <a:ext cx="211454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0">
                <a:solidFill>
                  <a:srgbClr val="FFFFFF"/>
                </a:solidFill>
                <a:latin typeface="Bookman Old Style"/>
                <a:cs typeface="Bookman Old Style"/>
              </a:rPr>
              <a:t>6/40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98805">
              <a:lnSpc>
                <a:spcPct val="100000"/>
              </a:lnSpc>
              <a:spcBef>
                <a:spcPts val="135"/>
              </a:spcBef>
            </a:pPr>
            <a:r>
              <a:rPr spc="75"/>
              <a:t>The</a:t>
            </a:r>
            <a:r>
              <a:rPr spc="245"/>
              <a:t> </a:t>
            </a:r>
            <a:r>
              <a:t>Normal</a:t>
            </a:r>
            <a:r>
              <a:rPr spc="260"/>
              <a:t> </a:t>
            </a:r>
            <a:r>
              <a:rPr spc="45"/>
              <a:t>Distribution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1270" y="624371"/>
            <a:ext cx="2165410" cy="154672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2744660"/>
            <a:ext cx="63233" cy="632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2659175"/>
            <a:ext cx="3724910" cy="5740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>
                <a:latin typeface="Book Antiqua"/>
                <a:cs typeface="Book Antiqua"/>
              </a:rPr>
              <a:t>They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y-</a:t>
            </a:r>
            <a:r>
              <a:rPr sz="1100">
                <a:latin typeface="Book Antiqua"/>
                <a:cs typeface="Book Antiqua"/>
              </a:rPr>
              <a:t>axis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represents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relative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observing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50">
                <a:latin typeface="Book Antiqua"/>
                <a:cs typeface="Book Antiqua"/>
              </a:rPr>
              <a:t>a </a:t>
            </a:r>
            <a:r>
              <a:rPr sz="1100">
                <a:latin typeface="Book Antiqua"/>
                <a:cs typeface="Book Antiqua"/>
              </a:rPr>
              <a:t>battery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that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has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-45">
                <a:latin typeface="Book Antiqua"/>
                <a:cs typeface="Book Antiqua"/>
              </a:rPr>
              <a:t>short/average/long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life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span.</a:t>
            </a:r>
            <a:endParaRPr sz="11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>
                <a:latin typeface="Book Antiqua"/>
                <a:cs typeface="Book Antiqua"/>
              </a:rPr>
              <a:t>It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relatively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rare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observe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super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short/long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life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span.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3126765"/>
            <a:ext cx="63233" cy="6323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06855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39540" y="3353673"/>
            <a:ext cx="211454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0">
                <a:solidFill>
                  <a:srgbClr val="FFFFFF"/>
                </a:solidFill>
                <a:latin typeface="Bookman Old Style"/>
                <a:cs typeface="Bookman Old Style"/>
              </a:rPr>
              <a:t>6/40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98805">
              <a:lnSpc>
                <a:spcPct val="100000"/>
              </a:lnSpc>
              <a:spcBef>
                <a:spcPts val="135"/>
              </a:spcBef>
            </a:pPr>
            <a:r>
              <a:rPr spc="75"/>
              <a:t>The</a:t>
            </a:r>
            <a:r>
              <a:rPr spc="245"/>
              <a:t> </a:t>
            </a:r>
            <a:r>
              <a:t>Normal</a:t>
            </a:r>
            <a:r>
              <a:rPr spc="260"/>
              <a:t> </a:t>
            </a:r>
            <a:r>
              <a:rPr spc="45"/>
              <a:t>Distribution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267955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477988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688020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898053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2108085"/>
            <a:ext cx="63233" cy="6323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3133" y="2318118"/>
            <a:ext cx="63233" cy="6323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4553" y="964104"/>
            <a:ext cx="2606675" cy="14478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237490" indent="-277495">
              <a:lnSpc>
                <a:spcPct val="125299"/>
              </a:lnSpc>
              <a:spcBef>
                <a:spcPts val="100"/>
              </a:spcBef>
            </a:pPr>
            <a:r>
              <a:rPr sz="1100" spc="-10" dirty="0">
                <a:latin typeface="Book Antiqua"/>
                <a:cs typeface="Book Antiqua"/>
              </a:rPr>
              <a:t>More </a:t>
            </a:r>
            <a:r>
              <a:rPr sz="1100" spc="-25" dirty="0">
                <a:latin typeface="Book Antiqua"/>
                <a:cs typeface="Book Antiqua"/>
              </a:rPr>
              <a:t>examples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Normal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Distribution </a:t>
            </a:r>
            <a:r>
              <a:rPr lang="en-US" sz="1100" dirty="0">
                <a:latin typeface="Book Antiqua"/>
                <a:cs typeface="Book Antiqua"/>
              </a:rPr>
              <a:t>Weight</a:t>
            </a:r>
          </a:p>
          <a:p>
            <a:pPr marL="289560" marR="64769">
              <a:lnSpc>
                <a:spcPct val="125299"/>
              </a:lnSpc>
            </a:pPr>
            <a:r>
              <a:rPr sz="1100" spc="-10" dirty="0">
                <a:latin typeface="Book Antiqua"/>
                <a:cs typeface="Book Antiqua"/>
              </a:rPr>
              <a:t>Height</a:t>
            </a:r>
            <a:endParaRPr sz="1100" dirty="0">
              <a:latin typeface="Book Antiqua"/>
              <a:cs typeface="Book Antiqua"/>
            </a:endParaRPr>
          </a:p>
          <a:p>
            <a:pPr marL="289560" marR="1092835">
              <a:lnSpc>
                <a:spcPct val="125299"/>
              </a:lnSpc>
            </a:pPr>
            <a:r>
              <a:rPr sz="1100" dirty="0">
                <a:latin typeface="Book Antiqua"/>
                <a:cs typeface="Book Antiqua"/>
              </a:rPr>
              <a:t>Pizza </a:t>
            </a:r>
            <a:r>
              <a:rPr sz="1100" spc="-30" dirty="0">
                <a:latin typeface="Book Antiqua"/>
                <a:cs typeface="Book Antiqua"/>
              </a:rPr>
              <a:t>delivery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times </a:t>
            </a:r>
            <a:r>
              <a:rPr sz="1100" dirty="0">
                <a:latin typeface="Book Antiqua"/>
                <a:cs typeface="Book Antiqua"/>
              </a:rPr>
              <a:t>Scores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on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IQ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tests</a:t>
            </a:r>
            <a:endParaRPr sz="1100" dirty="0">
              <a:latin typeface="Book Antiqua"/>
              <a:cs typeface="Book Antiqu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lang="en-US" sz="1100" spc="-25" dirty="0">
                <a:latin typeface="Book Antiqua"/>
                <a:cs typeface="Book Antiqua"/>
              </a:rPr>
              <a:t>More: https://studiousguy.com/real-life-examples-normal-distribution/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506855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39540" y="3353673"/>
            <a:ext cx="211454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0">
                <a:solidFill>
                  <a:srgbClr val="FFFFFF"/>
                </a:solidFill>
                <a:latin typeface="Bookman Old Style"/>
                <a:cs typeface="Bookman Old Style"/>
              </a:rPr>
              <a:t>7/40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98805">
              <a:lnSpc>
                <a:spcPct val="100000"/>
              </a:lnSpc>
              <a:spcBef>
                <a:spcPts val="135"/>
              </a:spcBef>
            </a:pPr>
            <a:r>
              <a:rPr spc="75"/>
              <a:t>The</a:t>
            </a:r>
            <a:r>
              <a:rPr spc="245"/>
              <a:t> </a:t>
            </a:r>
            <a:r>
              <a:t>Normal</a:t>
            </a:r>
            <a:r>
              <a:rPr spc="260"/>
              <a:t> </a:t>
            </a:r>
            <a:r>
              <a:rPr spc="45"/>
              <a:t>Distribution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626" y="551216"/>
            <a:ext cx="3464783" cy="110735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2351951"/>
            <a:ext cx="63233" cy="632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5844" y="1714187"/>
            <a:ext cx="4256405" cy="916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2545">
              <a:lnSpc>
                <a:spcPct val="100000"/>
              </a:lnSpc>
              <a:spcBef>
                <a:spcPts val="95"/>
              </a:spcBef>
            </a:pPr>
            <a:r>
              <a:rPr sz="1000">
                <a:solidFill>
                  <a:srgbClr val="525200"/>
                </a:solidFill>
                <a:latin typeface="Book Antiqua"/>
                <a:cs typeface="Book Antiqua"/>
              </a:rPr>
              <a:t>Figure:</a:t>
            </a:r>
            <a:r>
              <a:rPr sz="1000" spc="10">
                <a:solidFill>
                  <a:srgbClr val="525200"/>
                </a:solidFill>
                <a:latin typeface="Book Antiqua"/>
                <a:cs typeface="Book Antiqua"/>
              </a:rPr>
              <a:t> </a:t>
            </a:r>
            <a:r>
              <a:rPr sz="1000">
                <a:latin typeface="Book Antiqua"/>
                <a:cs typeface="Book Antiqua"/>
              </a:rPr>
              <a:t>Two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 spc="-10">
                <a:latin typeface="Book Antiqua"/>
                <a:cs typeface="Book Antiqua"/>
              </a:rPr>
              <a:t>normal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 spc="-10">
                <a:latin typeface="Book Antiqua"/>
                <a:cs typeface="Book Antiqua"/>
              </a:rPr>
              <a:t>distributions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>
                <a:latin typeface="Book Antiqua"/>
                <a:cs typeface="Book Antiqua"/>
              </a:rPr>
              <a:t>of</a:t>
            </a:r>
            <a:r>
              <a:rPr sz="1000" spc="15">
                <a:latin typeface="Book Antiqua"/>
                <a:cs typeface="Book Antiqua"/>
              </a:rPr>
              <a:t> </a:t>
            </a:r>
            <a:r>
              <a:rPr sz="1000">
                <a:latin typeface="Book Antiqua"/>
                <a:cs typeface="Book Antiqua"/>
              </a:rPr>
              <a:t>the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>
                <a:latin typeface="Book Antiqua"/>
                <a:cs typeface="Book Antiqua"/>
              </a:rPr>
              <a:t>life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 spc="-10">
                <a:latin typeface="Book Antiqua"/>
                <a:cs typeface="Book Antiqua"/>
              </a:rPr>
              <a:t>span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>
                <a:latin typeface="Book Antiqua"/>
                <a:cs typeface="Book Antiqua"/>
              </a:rPr>
              <a:t>of</a:t>
            </a:r>
            <a:r>
              <a:rPr sz="1000" spc="15">
                <a:latin typeface="Book Antiqua"/>
                <a:cs typeface="Book Antiqua"/>
              </a:rPr>
              <a:t> </a:t>
            </a:r>
            <a:r>
              <a:rPr sz="1000" spc="-25">
                <a:latin typeface="Book Antiqua"/>
                <a:cs typeface="Book Antiqua"/>
              </a:rPr>
              <a:t>single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 spc="-10">
                <a:latin typeface="Book Antiqua"/>
                <a:cs typeface="Book Antiqua"/>
              </a:rPr>
              <a:t>use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>
                <a:latin typeface="Book Antiqua"/>
                <a:cs typeface="Book Antiqua"/>
              </a:rPr>
              <a:t>battery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 spc="-10">
                <a:latin typeface="Book Antiqua"/>
                <a:cs typeface="Book Antiqua"/>
              </a:rPr>
              <a:t>(left) </a:t>
            </a:r>
            <a:r>
              <a:rPr sz="1000">
                <a:latin typeface="Book Antiqua"/>
                <a:cs typeface="Book Antiqua"/>
              </a:rPr>
              <a:t>and</a:t>
            </a:r>
            <a:r>
              <a:rPr sz="1000" spc="50">
                <a:latin typeface="Book Antiqua"/>
                <a:cs typeface="Book Antiqua"/>
              </a:rPr>
              <a:t> </a:t>
            </a:r>
            <a:r>
              <a:rPr sz="1000" spc="-25">
                <a:latin typeface="Book Antiqua"/>
                <a:cs typeface="Book Antiqua"/>
              </a:rPr>
              <a:t>rechargeable</a:t>
            </a:r>
            <a:r>
              <a:rPr sz="1000" spc="55">
                <a:latin typeface="Book Antiqua"/>
                <a:cs typeface="Book Antiqua"/>
              </a:rPr>
              <a:t> </a:t>
            </a:r>
            <a:r>
              <a:rPr sz="1000">
                <a:latin typeface="Book Antiqua"/>
                <a:cs typeface="Book Antiqua"/>
              </a:rPr>
              <a:t>battery</a:t>
            </a:r>
            <a:r>
              <a:rPr sz="1000" spc="55">
                <a:latin typeface="Book Antiqua"/>
                <a:cs typeface="Book Antiqua"/>
              </a:rPr>
              <a:t> </a:t>
            </a:r>
            <a:r>
              <a:rPr sz="1000" spc="-10">
                <a:latin typeface="Book Antiqua"/>
                <a:cs typeface="Book Antiqua"/>
              </a:rPr>
              <a:t>(right)</a:t>
            </a:r>
            <a:endParaRPr sz="10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000">
              <a:latin typeface="Book Antiqua"/>
              <a:cs typeface="Book Antiqua"/>
            </a:endParaRPr>
          </a:p>
          <a:p>
            <a:pPr marL="289560" marR="5080">
              <a:lnSpc>
                <a:spcPct val="102699"/>
              </a:lnSpc>
              <a:spcBef>
                <a:spcPts val="665"/>
              </a:spcBef>
            </a:pPr>
            <a:r>
              <a:rPr sz="1100">
                <a:latin typeface="Book Antiqua"/>
                <a:cs typeface="Book Antiqua"/>
              </a:rPr>
              <a:t>There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high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that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single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use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battery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has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life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span </a:t>
            </a:r>
            <a:r>
              <a:rPr sz="1100" spc="-35">
                <a:latin typeface="Book Antiqua"/>
                <a:cs typeface="Book Antiqua"/>
              </a:rPr>
              <a:t>between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0.6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1.4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6337" y="3353673"/>
            <a:ext cx="25781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10/40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98805">
              <a:lnSpc>
                <a:spcPct val="100000"/>
              </a:lnSpc>
              <a:spcBef>
                <a:spcPts val="135"/>
              </a:spcBef>
            </a:pPr>
            <a:r>
              <a:rPr spc="75"/>
              <a:t>The</a:t>
            </a:r>
            <a:r>
              <a:rPr spc="245"/>
              <a:t> </a:t>
            </a:r>
            <a:r>
              <a:t>Normal</a:t>
            </a:r>
            <a:r>
              <a:rPr spc="260"/>
              <a:t> </a:t>
            </a:r>
            <a:r>
              <a:rPr spc="45"/>
              <a:t>Distribution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626" y="551216"/>
            <a:ext cx="3464783" cy="110735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2351951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2734056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844" y="1714187"/>
            <a:ext cx="4256405" cy="1298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2545">
              <a:lnSpc>
                <a:spcPct val="100000"/>
              </a:lnSpc>
              <a:spcBef>
                <a:spcPts val="95"/>
              </a:spcBef>
            </a:pPr>
            <a:r>
              <a:rPr sz="1000">
                <a:solidFill>
                  <a:srgbClr val="525200"/>
                </a:solidFill>
                <a:latin typeface="Book Antiqua"/>
                <a:cs typeface="Book Antiqua"/>
              </a:rPr>
              <a:t>Figure:</a:t>
            </a:r>
            <a:r>
              <a:rPr sz="1000" spc="10">
                <a:solidFill>
                  <a:srgbClr val="525200"/>
                </a:solidFill>
                <a:latin typeface="Book Antiqua"/>
                <a:cs typeface="Book Antiqua"/>
              </a:rPr>
              <a:t> </a:t>
            </a:r>
            <a:r>
              <a:rPr sz="1000">
                <a:latin typeface="Book Antiqua"/>
                <a:cs typeface="Book Antiqua"/>
              </a:rPr>
              <a:t>Two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 spc="-10">
                <a:latin typeface="Book Antiqua"/>
                <a:cs typeface="Book Antiqua"/>
              </a:rPr>
              <a:t>normal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 spc="-10">
                <a:latin typeface="Book Antiqua"/>
                <a:cs typeface="Book Antiqua"/>
              </a:rPr>
              <a:t>distributions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>
                <a:latin typeface="Book Antiqua"/>
                <a:cs typeface="Book Antiqua"/>
              </a:rPr>
              <a:t>of</a:t>
            </a:r>
            <a:r>
              <a:rPr sz="1000" spc="15">
                <a:latin typeface="Book Antiqua"/>
                <a:cs typeface="Book Antiqua"/>
              </a:rPr>
              <a:t> </a:t>
            </a:r>
            <a:r>
              <a:rPr sz="1000">
                <a:latin typeface="Book Antiqua"/>
                <a:cs typeface="Book Antiqua"/>
              </a:rPr>
              <a:t>the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>
                <a:latin typeface="Book Antiqua"/>
                <a:cs typeface="Book Antiqua"/>
              </a:rPr>
              <a:t>life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 spc="-10">
                <a:latin typeface="Book Antiqua"/>
                <a:cs typeface="Book Antiqua"/>
              </a:rPr>
              <a:t>span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>
                <a:latin typeface="Book Antiqua"/>
                <a:cs typeface="Book Antiqua"/>
              </a:rPr>
              <a:t>of</a:t>
            </a:r>
            <a:r>
              <a:rPr sz="1000" spc="15">
                <a:latin typeface="Book Antiqua"/>
                <a:cs typeface="Book Antiqua"/>
              </a:rPr>
              <a:t> </a:t>
            </a:r>
            <a:r>
              <a:rPr sz="1000" spc="-25">
                <a:latin typeface="Book Antiqua"/>
                <a:cs typeface="Book Antiqua"/>
              </a:rPr>
              <a:t>single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 spc="-10">
                <a:latin typeface="Book Antiqua"/>
                <a:cs typeface="Book Antiqua"/>
              </a:rPr>
              <a:t>use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>
                <a:latin typeface="Book Antiqua"/>
                <a:cs typeface="Book Antiqua"/>
              </a:rPr>
              <a:t>battery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 spc="-10">
                <a:latin typeface="Book Antiqua"/>
                <a:cs typeface="Book Antiqua"/>
              </a:rPr>
              <a:t>(left) </a:t>
            </a:r>
            <a:r>
              <a:rPr sz="1000">
                <a:latin typeface="Book Antiqua"/>
                <a:cs typeface="Book Antiqua"/>
              </a:rPr>
              <a:t>and</a:t>
            </a:r>
            <a:r>
              <a:rPr sz="1000" spc="50">
                <a:latin typeface="Book Antiqua"/>
                <a:cs typeface="Book Antiqua"/>
              </a:rPr>
              <a:t> </a:t>
            </a:r>
            <a:r>
              <a:rPr sz="1000" spc="-25">
                <a:latin typeface="Book Antiqua"/>
                <a:cs typeface="Book Antiqua"/>
              </a:rPr>
              <a:t>rechargeable</a:t>
            </a:r>
            <a:r>
              <a:rPr sz="1000" spc="55">
                <a:latin typeface="Book Antiqua"/>
                <a:cs typeface="Book Antiqua"/>
              </a:rPr>
              <a:t> </a:t>
            </a:r>
            <a:r>
              <a:rPr sz="1000">
                <a:latin typeface="Book Antiqua"/>
                <a:cs typeface="Book Antiqua"/>
              </a:rPr>
              <a:t>battery</a:t>
            </a:r>
            <a:r>
              <a:rPr sz="1000" spc="55">
                <a:latin typeface="Book Antiqua"/>
                <a:cs typeface="Book Antiqua"/>
              </a:rPr>
              <a:t> </a:t>
            </a:r>
            <a:r>
              <a:rPr sz="1000" spc="-10">
                <a:latin typeface="Book Antiqua"/>
                <a:cs typeface="Book Antiqua"/>
              </a:rPr>
              <a:t>(right)</a:t>
            </a:r>
            <a:endParaRPr sz="10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000">
              <a:latin typeface="Book Antiqua"/>
              <a:cs typeface="Book Antiqua"/>
            </a:endParaRPr>
          </a:p>
          <a:p>
            <a:pPr marL="289560" marR="5080">
              <a:lnSpc>
                <a:spcPct val="102699"/>
              </a:lnSpc>
              <a:spcBef>
                <a:spcPts val="665"/>
              </a:spcBef>
            </a:pPr>
            <a:r>
              <a:rPr sz="1100">
                <a:latin typeface="Book Antiqua"/>
                <a:cs typeface="Book Antiqua"/>
              </a:rPr>
              <a:t>There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high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that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single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use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battery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has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life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span </a:t>
            </a:r>
            <a:r>
              <a:rPr sz="1100" spc="-35">
                <a:latin typeface="Book Antiqua"/>
                <a:cs typeface="Book Antiqua"/>
              </a:rPr>
              <a:t>between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0.6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1.4</a:t>
            </a:r>
            <a:endParaRPr sz="1100">
              <a:latin typeface="Book Antiqua"/>
              <a:cs typeface="Book Antiqua"/>
            </a:endParaRPr>
          </a:p>
          <a:p>
            <a:pPr marL="289560" marR="156210">
              <a:lnSpc>
                <a:spcPct val="102600"/>
              </a:lnSpc>
              <a:spcBef>
                <a:spcPts val="300"/>
              </a:spcBef>
            </a:pPr>
            <a:r>
              <a:rPr sz="1100">
                <a:latin typeface="Book Antiqua"/>
                <a:cs typeface="Book Antiqua"/>
              </a:rPr>
              <a:t>There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high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that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rechargeable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battery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has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life </a:t>
            </a:r>
            <a:r>
              <a:rPr sz="1100" spc="-10">
                <a:latin typeface="Book Antiqua"/>
                <a:cs typeface="Book Antiqua"/>
              </a:rPr>
              <a:t>span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3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50">
                <a:latin typeface="Book Antiqua"/>
                <a:cs typeface="Book Antiqua"/>
              </a:rPr>
              <a:t>7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16337" y="3353673"/>
            <a:ext cx="25781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10/40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98805">
              <a:lnSpc>
                <a:spcPct val="100000"/>
              </a:lnSpc>
              <a:spcBef>
                <a:spcPts val="135"/>
              </a:spcBef>
            </a:pPr>
            <a:r>
              <a:rPr spc="75"/>
              <a:t>The</a:t>
            </a:r>
            <a:r>
              <a:rPr spc="245"/>
              <a:t> </a:t>
            </a:r>
            <a:r>
              <a:t>Normal</a:t>
            </a:r>
            <a:r>
              <a:rPr spc="260"/>
              <a:t> </a:t>
            </a:r>
            <a:r>
              <a:rPr spc="45"/>
              <a:t>Distribution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626" y="551216"/>
            <a:ext cx="3464783" cy="110735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2351951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2734056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3116173"/>
            <a:ext cx="63233" cy="6323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844" y="1714187"/>
            <a:ext cx="4256405" cy="150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2545">
              <a:lnSpc>
                <a:spcPct val="100000"/>
              </a:lnSpc>
              <a:spcBef>
                <a:spcPts val="95"/>
              </a:spcBef>
            </a:pPr>
            <a:r>
              <a:rPr sz="1000">
                <a:solidFill>
                  <a:srgbClr val="525200"/>
                </a:solidFill>
                <a:latin typeface="Book Antiqua"/>
                <a:cs typeface="Book Antiqua"/>
              </a:rPr>
              <a:t>Figure:</a:t>
            </a:r>
            <a:r>
              <a:rPr sz="1000" spc="10">
                <a:solidFill>
                  <a:srgbClr val="525200"/>
                </a:solidFill>
                <a:latin typeface="Book Antiqua"/>
                <a:cs typeface="Book Antiqua"/>
              </a:rPr>
              <a:t> </a:t>
            </a:r>
            <a:r>
              <a:rPr sz="1000">
                <a:latin typeface="Book Antiqua"/>
                <a:cs typeface="Book Antiqua"/>
              </a:rPr>
              <a:t>Two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 spc="-10">
                <a:latin typeface="Book Antiqua"/>
                <a:cs typeface="Book Antiqua"/>
              </a:rPr>
              <a:t>normal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 spc="-10">
                <a:latin typeface="Book Antiqua"/>
                <a:cs typeface="Book Antiqua"/>
              </a:rPr>
              <a:t>distributions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>
                <a:latin typeface="Book Antiqua"/>
                <a:cs typeface="Book Antiqua"/>
              </a:rPr>
              <a:t>of</a:t>
            </a:r>
            <a:r>
              <a:rPr sz="1000" spc="15">
                <a:latin typeface="Book Antiqua"/>
                <a:cs typeface="Book Antiqua"/>
              </a:rPr>
              <a:t> </a:t>
            </a:r>
            <a:r>
              <a:rPr sz="1000">
                <a:latin typeface="Book Antiqua"/>
                <a:cs typeface="Book Antiqua"/>
              </a:rPr>
              <a:t>the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>
                <a:latin typeface="Book Antiqua"/>
                <a:cs typeface="Book Antiqua"/>
              </a:rPr>
              <a:t>life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 spc="-10">
                <a:latin typeface="Book Antiqua"/>
                <a:cs typeface="Book Antiqua"/>
              </a:rPr>
              <a:t>span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>
                <a:latin typeface="Book Antiqua"/>
                <a:cs typeface="Book Antiqua"/>
              </a:rPr>
              <a:t>of</a:t>
            </a:r>
            <a:r>
              <a:rPr sz="1000" spc="15">
                <a:latin typeface="Book Antiqua"/>
                <a:cs typeface="Book Antiqua"/>
              </a:rPr>
              <a:t> </a:t>
            </a:r>
            <a:r>
              <a:rPr sz="1000" spc="-25">
                <a:latin typeface="Book Antiqua"/>
                <a:cs typeface="Book Antiqua"/>
              </a:rPr>
              <a:t>single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 spc="-10">
                <a:latin typeface="Book Antiqua"/>
                <a:cs typeface="Book Antiqua"/>
              </a:rPr>
              <a:t>use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>
                <a:latin typeface="Book Antiqua"/>
                <a:cs typeface="Book Antiqua"/>
              </a:rPr>
              <a:t>battery</a:t>
            </a:r>
            <a:r>
              <a:rPr sz="1000" spc="10">
                <a:latin typeface="Book Antiqua"/>
                <a:cs typeface="Book Antiqua"/>
              </a:rPr>
              <a:t> </a:t>
            </a:r>
            <a:r>
              <a:rPr sz="1000" spc="-10">
                <a:latin typeface="Book Antiqua"/>
                <a:cs typeface="Book Antiqua"/>
              </a:rPr>
              <a:t>(left) </a:t>
            </a:r>
            <a:r>
              <a:rPr sz="1000">
                <a:latin typeface="Book Antiqua"/>
                <a:cs typeface="Book Antiqua"/>
              </a:rPr>
              <a:t>and</a:t>
            </a:r>
            <a:r>
              <a:rPr sz="1000" spc="50">
                <a:latin typeface="Book Antiqua"/>
                <a:cs typeface="Book Antiqua"/>
              </a:rPr>
              <a:t> </a:t>
            </a:r>
            <a:r>
              <a:rPr sz="1000" spc="-25">
                <a:latin typeface="Book Antiqua"/>
                <a:cs typeface="Book Antiqua"/>
              </a:rPr>
              <a:t>rechargeable</a:t>
            </a:r>
            <a:r>
              <a:rPr sz="1000" spc="55">
                <a:latin typeface="Book Antiqua"/>
                <a:cs typeface="Book Antiqua"/>
              </a:rPr>
              <a:t> </a:t>
            </a:r>
            <a:r>
              <a:rPr sz="1000">
                <a:latin typeface="Book Antiqua"/>
                <a:cs typeface="Book Antiqua"/>
              </a:rPr>
              <a:t>battery</a:t>
            </a:r>
            <a:r>
              <a:rPr sz="1000" spc="55">
                <a:latin typeface="Book Antiqua"/>
                <a:cs typeface="Book Antiqua"/>
              </a:rPr>
              <a:t> </a:t>
            </a:r>
            <a:r>
              <a:rPr sz="1000" spc="-10">
                <a:latin typeface="Book Antiqua"/>
                <a:cs typeface="Book Antiqua"/>
              </a:rPr>
              <a:t>(right)</a:t>
            </a:r>
            <a:endParaRPr sz="10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000">
              <a:latin typeface="Book Antiqua"/>
              <a:cs typeface="Book Antiqua"/>
            </a:endParaRPr>
          </a:p>
          <a:p>
            <a:pPr marL="289560" marR="5080">
              <a:lnSpc>
                <a:spcPct val="102699"/>
              </a:lnSpc>
              <a:spcBef>
                <a:spcPts val="665"/>
              </a:spcBef>
            </a:pPr>
            <a:r>
              <a:rPr sz="1100">
                <a:latin typeface="Book Antiqua"/>
                <a:cs typeface="Book Antiqua"/>
              </a:rPr>
              <a:t>There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high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that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single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use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battery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has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life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span </a:t>
            </a:r>
            <a:r>
              <a:rPr sz="1100" spc="-35">
                <a:latin typeface="Book Antiqua"/>
                <a:cs typeface="Book Antiqua"/>
              </a:rPr>
              <a:t>between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0.6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1.4</a:t>
            </a:r>
            <a:endParaRPr sz="1100">
              <a:latin typeface="Book Antiqua"/>
              <a:cs typeface="Book Antiqua"/>
            </a:endParaRPr>
          </a:p>
          <a:p>
            <a:pPr marL="289560" marR="156210">
              <a:lnSpc>
                <a:spcPct val="102600"/>
              </a:lnSpc>
              <a:spcBef>
                <a:spcPts val="300"/>
              </a:spcBef>
            </a:pPr>
            <a:r>
              <a:rPr sz="1100">
                <a:latin typeface="Book Antiqua"/>
                <a:cs typeface="Book Antiqua"/>
              </a:rPr>
              <a:t>There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high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that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rechargeable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battery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has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life </a:t>
            </a:r>
            <a:r>
              <a:rPr sz="1100" spc="-10">
                <a:latin typeface="Book Antiqua"/>
                <a:cs typeface="Book Antiqua"/>
              </a:rPr>
              <a:t>span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3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50">
                <a:latin typeface="Book Antiqua"/>
                <a:cs typeface="Book Antiqua"/>
              </a:rPr>
              <a:t>7</a:t>
            </a:r>
            <a:endParaRPr sz="1100">
              <a:latin typeface="Book Antiqua"/>
              <a:cs typeface="Book Antiqua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>
                <a:latin typeface="Book Antiqua"/>
                <a:cs typeface="Book Antiqua"/>
              </a:rPr>
              <a:t>The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left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curve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60">
                <a:latin typeface="Book Antiqua"/>
                <a:cs typeface="Book Antiqua"/>
              </a:rPr>
              <a:t>way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tall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compared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right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curve.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16337" y="3353673"/>
            <a:ext cx="25781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10/40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98805">
              <a:lnSpc>
                <a:spcPct val="100000"/>
              </a:lnSpc>
              <a:spcBef>
                <a:spcPts val="135"/>
              </a:spcBef>
            </a:pPr>
            <a:r>
              <a:rPr spc="75"/>
              <a:t>The</a:t>
            </a:r>
            <a:r>
              <a:rPr spc="245"/>
              <a:t> </a:t>
            </a:r>
            <a:r>
              <a:t>Normal</a:t>
            </a:r>
            <a:r>
              <a:rPr spc="260"/>
              <a:t> </a:t>
            </a:r>
            <a:r>
              <a:rPr spc="45"/>
              <a:t>Distribution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626" y="710207"/>
            <a:ext cx="3464783" cy="110735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2510955"/>
            <a:ext cx="63233" cy="632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3144" y="1873191"/>
            <a:ext cx="4309745" cy="9919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marR="83185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525200"/>
                </a:solidFill>
                <a:latin typeface="Book Antiqua"/>
                <a:cs typeface="Book Antiqua"/>
              </a:rPr>
              <a:t>Figure:</a:t>
            </a:r>
            <a:r>
              <a:rPr sz="1000" spc="10" dirty="0">
                <a:solidFill>
                  <a:srgbClr val="525200"/>
                </a:solidFill>
                <a:latin typeface="Book Antiqua"/>
                <a:cs typeface="Book Antiqua"/>
              </a:rPr>
              <a:t> </a:t>
            </a:r>
            <a:r>
              <a:rPr sz="1000" dirty="0">
                <a:latin typeface="Book Antiqua"/>
                <a:cs typeface="Book Antiqua"/>
              </a:rPr>
              <a:t>Two</a:t>
            </a:r>
            <a:r>
              <a:rPr sz="1000" spc="10" dirty="0">
                <a:latin typeface="Book Antiqua"/>
                <a:cs typeface="Book Antiqua"/>
              </a:rPr>
              <a:t> </a:t>
            </a:r>
            <a:r>
              <a:rPr sz="1000" spc="-10" dirty="0">
                <a:latin typeface="Book Antiqua"/>
                <a:cs typeface="Book Antiqua"/>
              </a:rPr>
              <a:t>normal</a:t>
            </a:r>
            <a:r>
              <a:rPr sz="1000" spc="10" dirty="0">
                <a:latin typeface="Book Antiqua"/>
                <a:cs typeface="Book Antiqua"/>
              </a:rPr>
              <a:t> </a:t>
            </a:r>
            <a:r>
              <a:rPr sz="1000" spc="-10" dirty="0">
                <a:latin typeface="Book Antiqua"/>
                <a:cs typeface="Book Antiqua"/>
              </a:rPr>
              <a:t>distributions</a:t>
            </a:r>
            <a:r>
              <a:rPr sz="1000" spc="10" dirty="0">
                <a:latin typeface="Book Antiqua"/>
                <a:cs typeface="Book Antiqua"/>
              </a:rPr>
              <a:t> </a:t>
            </a:r>
            <a:r>
              <a:rPr sz="1000" dirty="0">
                <a:latin typeface="Book Antiqua"/>
                <a:cs typeface="Book Antiqua"/>
              </a:rPr>
              <a:t>of</a:t>
            </a:r>
            <a:r>
              <a:rPr sz="1000" spc="15" dirty="0">
                <a:latin typeface="Book Antiqua"/>
                <a:cs typeface="Book Antiqua"/>
              </a:rPr>
              <a:t> </a:t>
            </a:r>
            <a:r>
              <a:rPr sz="1000" dirty="0">
                <a:latin typeface="Book Antiqua"/>
                <a:cs typeface="Book Antiqua"/>
              </a:rPr>
              <a:t>the</a:t>
            </a:r>
            <a:r>
              <a:rPr sz="1000" spc="10" dirty="0">
                <a:latin typeface="Book Antiqua"/>
                <a:cs typeface="Book Antiqua"/>
              </a:rPr>
              <a:t> </a:t>
            </a:r>
            <a:r>
              <a:rPr sz="1000" dirty="0">
                <a:latin typeface="Book Antiqua"/>
                <a:cs typeface="Book Antiqua"/>
              </a:rPr>
              <a:t>life</a:t>
            </a:r>
            <a:r>
              <a:rPr sz="1000" spc="10" dirty="0">
                <a:latin typeface="Book Antiqua"/>
                <a:cs typeface="Book Antiqua"/>
              </a:rPr>
              <a:t> </a:t>
            </a:r>
            <a:r>
              <a:rPr sz="1000" spc="-10" dirty="0">
                <a:latin typeface="Book Antiqua"/>
                <a:cs typeface="Book Antiqua"/>
              </a:rPr>
              <a:t>span</a:t>
            </a:r>
            <a:r>
              <a:rPr sz="1000" spc="10" dirty="0">
                <a:latin typeface="Book Antiqua"/>
                <a:cs typeface="Book Antiqua"/>
              </a:rPr>
              <a:t> </a:t>
            </a:r>
            <a:r>
              <a:rPr sz="1000" dirty="0">
                <a:latin typeface="Book Antiqua"/>
                <a:cs typeface="Book Antiqua"/>
              </a:rPr>
              <a:t>of</a:t>
            </a:r>
            <a:r>
              <a:rPr sz="1000" spc="15" dirty="0">
                <a:latin typeface="Book Antiqua"/>
                <a:cs typeface="Book Antiqua"/>
              </a:rPr>
              <a:t> </a:t>
            </a:r>
            <a:r>
              <a:rPr sz="1000" spc="-25" dirty="0">
                <a:latin typeface="Book Antiqua"/>
                <a:cs typeface="Book Antiqua"/>
              </a:rPr>
              <a:t>single</a:t>
            </a:r>
            <a:r>
              <a:rPr sz="1000" spc="10" dirty="0">
                <a:latin typeface="Book Antiqua"/>
                <a:cs typeface="Book Antiqua"/>
              </a:rPr>
              <a:t> </a:t>
            </a:r>
            <a:r>
              <a:rPr sz="1000" spc="-10" dirty="0">
                <a:latin typeface="Book Antiqua"/>
                <a:cs typeface="Book Antiqua"/>
              </a:rPr>
              <a:t>use</a:t>
            </a:r>
            <a:r>
              <a:rPr sz="1000" spc="10" dirty="0">
                <a:latin typeface="Book Antiqua"/>
                <a:cs typeface="Book Antiqua"/>
              </a:rPr>
              <a:t> </a:t>
            </a:r>
            <a:r>
              <a:rPr sz="1000" dirty="0">
                <a:latin typeface="Book Antiqua"/>
                <a:cs typeface="Book Antiqua"/>
              </a:rPr>
              <a:t>battery</a:t>
            </a:r>
            <a:r>
              <a:rPr sz="1000" spc="10" dirty="0">
                <a:latin typeface="Book Antiqua"/>
                <a:cs typeface="Book Antiqua"/>
              </a:rPr>
              <a:t> </a:t>
            </a:r>
            <a:r>
              <a:rPr sz="1000" spc="-10" dirty="0">
                <a:latin typeface="Book Antiqua"/>
                <a:cs typeface="Book Antiqua"/>
              </a:rPr>
              <a:t>(left) </a:t>
            </a:r>
            <a:r>
              <a:rPr sz="1000" dirty="0">
                <a:latin typeface="Book Antiqua"/>
                <a:cs typeface="Book Antiqua"/>
              </a:rPr>
              <a:t>and</a:t>
            </a:r>
            <a:r>
              <a:rPr sz="1000" spc="50" dirty="0">
                <a:latin typeface="Book Antiqua"/>
                <a:cs typeface="Book Antiqua"/>
              </a:rPr>
              <a:t> </a:t>
            </a:r>
            <a:r>
              <a:rPr sz="1000" spc="-25" dirty="0">
                <a:latin typeface="Book Antiqua"/>
                <a:cs typeface="Book Antiqua"/>
              </a:rPr>
              <a:t>rechargeable</a:t>
            </a:r>
            <a:r>
              <a:rPr sz="1000" spc="55" dirty="0">
                <a:latin typeface="Book Antiqua"/>
                <a:cs typeface="Book Antiqua"/>
              </a:rPr>
              <a:t> </a:t>
            </a:r>
            <a:r>
              <a:rPr sz="1000" dirty="0">
                <a:latin typeface="Book Antiqua"/>
                <a:cs typeface="Book Antiqua"/>
              </a:rPr>
              <a:t>battery</a:t>
            </a:r>
            <a:r>
              <a:rPr sz="1000" spc="55" dirty="0">
                <a:latin typeface="Book Antiqua"/>
                <a:cs typeface="Book Antiqua"/>
              </a:rPr>
              <a:t> </a:t>
            </a:r>
            <a:r>
              <a:rPr sz="1000" spc="-10" dirty="0">
                <a:latin typeface="Book Antiqua"/>
                <a:cs typeface="Book Antiqua"/>
              </a:rPr>
              <a:t>(right)</a:t>
            </a:r>
            <a:endParaRPr sz="10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000" dirty="0">
              <a:latin typeface="Book Antiqua"/>
              <a:cs typeface="Book Antiqua"/>
            </a:endParaRPr>
          </a:p>
          <a:p>
            <a:pPr marL="302260">
              <a:lnSpc>
                <a:spcPct val="100000"/>
              </a:lnSpc>
              <a:spcBef>
                <a:spcPts val="700"/>
              </a:spcBef>
            </a:pP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width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curve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defined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by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standard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deviation</a:t>
            </a:r>
            <a:r>
              <a:rPr sz="1100" spc="30" dirty="0">
                <a:latin typeface="Book Antiqua"/>
                <a:cs typeface="Book Antiqua"/>
              </a:rPr>
              <a:t> </a:t>
            </a:r>
            <a:endParaRPr lang="en-US" sz="1100" spc="30" dirty="0">
              <a:latin typeface="Book Antiqua"/>
              <a:cs typeface="Book Antiqua"/>
            </a:endParaRPr>
          </a:p>
          <a:p>
            <a:pPr marL="302260">
              <a:lnSpc>
                <a:spcPct val="100000"/>
              </a:lnSpc>
              <a:spcBef>
                <a:spcPts val="700"/>
              </a:spcBef>
            </a:pPr>
            <a:r>
              <a:rPr sz="1100" spc="-10" dirty="0">
                <a:latin typeface="Book Antiqua"/>
                <a:cs typeface="Book Antiqua"/>
              </a:rPr>
              <a:t>Left:</a:t>
            </a:r>
            <a:r>
              <a:rPr lang="en-US" sz="1100" spc="-10" dirty="0">
                <a:latin typeface="Book Antiqua"/>
                <a:cs typeface="Book Antiqua"/>
              </a:rPr>
              <a:t> </a:t>
            </a:r>
            <a:r>
              <a:rPr sz="1100" b="0" i="1" dirty="0" err="1">
                <a:latin typeface="Bookman Old Style"/>
                <a:cs typeface="Bookman Old Style"/>
              </a:rPr>
              <a:t>σ</a:t>
            </a:r>
            <a:r>
              <a:rPr sz="1200" b="0" i="1" baseline="-10416" dirty="0" err="1">
                <a:latin typeface="Bookman Old Style"/>
                <a:cs typeface="Bookman Old Style"/>
              </a:rPr>
              <a:t>S</a:t>
            </a:r>
            <a:r>
              <a:rPr sz="1200" b="0" i="1" spc="187" baseline="-10416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0</a:t>
            </a:r>
            <a:r>
              <a:rPr sz="1100" b="0" i="1" dirty="0">
                <a:latin typeface="Bookman Old Style"/>
                <a:cs typeface="Bookman Old Style"/>
              </a:rPr>
              <a:t>.</a:t>
            </a:r>
            <a:r>
              <a:rPr lang="en-US" sz="1100" b="0" i="1" dirty="0">
                <a:latin typeface="Book Antiqua"/>
                <a:cs typeface="Bookman Old Style"/>
              </a:rPr>
              <a:t>2</a:t>
            </a:r>
            <a:r>
              <a:rPr sz="1100" dirty="0">
                <a:latin typeface="Book Antiqua"/>
                <a:cs typeface="Book Antiqua"/>
              </a:rPr>
              <a:t>,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right:</a:t>
            </a:r>
            <a:r>
              <a:rPr sz="1100" spc="185" dirty="0">
                <a:latin typeface="Book Antiqua"/>
                <a:cs typeface="Book Antiqua"/>
              </a:rPr>
              <a:t> </a:t>
            </a:r>
            <a:r>
              <a:rPr sz="1100" b="0" i="1" spc="60" dirty="0" err="1">
                <a:latin typeface="Bookman Old Style"/>
                <a:cs typeface="Bookman Old Style"/>
              </a:rPr>
              <a:t>σ</a:t>
            </a:r>
            <a:r>
              <a:rPr sz="1200" b="0" i="1" spc="89" baseline="-10416" dirty="0" err="1">
                <a:latin typeface="Bookman Old Style"/>
                <a:cs typeface="Bookman Old Style"/>
              </a:rPr>
              <a:t>R</a:t>
            </a:r>
            <a:r>
              <a:rPr sz="1100" spc="60" dirty="0">
                <a:latin typeface="Book Antiqua"/>
                <a:cs typeface="Book Antiqua"/>
              </a:rPr>
              <a:t>=1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6337" y="3353673"/>
            <a:ext cx="25781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11/40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98805">
              <a:lnSpc>
                <a:spcPct val="100000"/>
              </a:lnSpc>
              <a:spcBef>
                <a:spcPts val="135"/>
              </a:spcBef>
            </a:pPr>
            <a:r>
              <a:rPr spc="75"/>
              <a:t>The</a:t>
            </a:r>
            <a:r>
              <a:rPr spc="245"/>
              <a:t> </a:t>
            </a:r>
            <a:r>
              <a:t>Normal</a:t>
            </a:r>
            <a:r>
              <a:rPr spc="260"/>
              <a:t> </a:t>
            </a:r>
            <a:r>
              <a:rPr spc="45"/>
              <a:t>Distribution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626" y="710207"/>
            <a:ext cx="3464783" cy="110735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2510955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2893060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5811" y="1842033"/>
            <a:ext cx="4316412" cy="11996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marR="83185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525200"/>
                </a:solidFill>
                <a:latin typeface="Book Antiqua"/>
                <a:cs typeface="Book Antiqua"/>
              </a:rPr>
              <a:t>Figure:</a:t>
            </a:r>
            <a:r>
              <a:rPr sz="1000" spc="10" dirty="0">
                <a:solidFill>
                  <a:srgbClr val="525200"/>
                </a:solidFill>
                <a:latin typeface="Book Antiqua"/>
                <a:cs typeface="Book Antiqua"/>
              </a:rPr>
              <a:t> </a:t>
            </a:r>
            <a:r>
              <a:rPr sz="1000" dirty="0">
                <a:latin typeface="Book Antiqua"/>
                <a:cs typeface="Book Antiqua"/>
              </a:rPr>
              <a:t>Two</a:t>
            </a:r>
            <a:r>
              <a:rPr sz="1000" spc="10" dirty="0">
                <a:latin typeface="Book Antiqua"/>
                <a:cs typeface="Book Antiqua"/>
              </a:rPr>
              <a:t> </a:t>
            </a:r>
            <a:r>
              <a:rPr sz="1000" spc="-10" dirty="0">
                <a:latin typeface="Book Antiqua"/>
                <a:cs typeface="Book Antiqua"/>
              </a:rPr>
              <a:t>normal</a:t>
            </a:r>
            <a:r>
              <a:rPr sz="1000" spc="10" dirty="0">
                <a:latin typeface="Book Antiqua"/>
                <a:cs typeface="Book Antiqua"/>
              </a:rPr>
              <a:t> </a:t>
            </a:r>
            <a:r>
              <a:rPr sz="1000" spc="-10" dirty="0">
                <a:latin typeface="Book Antiqua"/>
                <a:cs typeface="Book Antiqua"/>
              </a:rPr>
              <a:t>distributions</a:t>
            </a:r>
            <a:r>
              <a:rPr sz="1000" spc="10" dirty="0">
                <a:latin typeface="Book Antiqua"/>
                <a:cs typeface="Book Antiqua"/>
              </a:rPr>
              <a:t> </a:t>
            </a:r>
            <a:r>
              <a:rPr sz="1000" dirty="0">
                <a:latin typeface="Book Antiqua"/>
                <a:cs typeface="Book Antiqua"/>
              </a:rPr>
              <a:t>of</a:t>
            </a:r>
            <a:r>
              <a:rPr sz="1000" spc="15" dirty="0">
                <a:latin typeface="Book Antiqua"/>
                <a:cs typeface="Book Antiqua"/>
              </a:rPr>
              <a:t> </a:t>
            </a:r>
            <a:r>
              <a:rPr sz="1000" dirty="0">
                <a:latin typeface="Book Antiqua"/>
                <a:cs typeface="Book Antiqua"/>
              </a:rPr>
              <a:t>the</a:t>
            </a:r>
            <a:r>
              <a:rPr sz="1000" spc="10" dirty="0">
                <a:latin typeface="Book Antiqua"/>
                <a:cs typeface="Book Antiqua"/>
              </a:rPr>
              <a:t> </a:t>
            </a:r>
            <a:r>
              <a:rPr sz="1000" dirty="0">
                <a:latin typeface="Book Antiqua"/>
                <a:cs typeface="Book Antiqua"/>
              </a:rPr>
              <a:t>life</a:t>
            </a:r>
            <a:r>
              <a:rPr sz="1000" spc="10" dirty="0">
                <a:latin typeface="Book Antiqua"/>
                <a:cs typeface="Book Antiqua"/>
              </a:rPr>
              <a:t> </a:t>
            </a:r>
            <a:r>
              <a:rPr sz="1000" spc="-10" dirty="0">
                <a:latin typeface="Book Antiqua"/>
                <a:cs typeface="Book Antiqua"/>
              </a:rPr>
              <a:t>span</a:t>
            </a:r>
            <a:r>
              <a:rPr sz="1000" spc="10" dirty="0">
                <a:latin typeface="Book Antiqua"/>
                <a:cs typeface="Book Antiqua"/>
              </a:rPr>
              <a:t> </a:t>
            </a:r>
            <a:r>
              <a:rPr sz="1000" dirty="0">
                <a:latin typeface="Book Antiqua"/>
                <a:cs typeface="Book Antiqua"/>
              </a:rPr>
              <a:t>of</a:t>
            </a:r>
            <a:r>
              <a:rPr sz="1000" spc="15" dirty="0">
                <a:latin typeface="Book Antiqua"/>
                <a:cs typeface="Book Antiqua"/>
              </a:rPr>
              <a:t> </a:t>
            </a:r>
            <a:r>
              <a:rPr sz="1000" spc="-25" dirty="0">
                <a:latin typeface="Book Antiqua"/>
                <a:cs typeface="Book Antiqua"/>
              </a:rPr>
              <a:t>single</a:t>
            </a:r>
            <a:r>
              <a:rPr sz="1000" spc="10" dirty="0">
                <a:latin typeface="Book Antiqua"/>
                <a:cs typeface="Book Antiqua"/>
              </a:rPr>
              <a:t> </a:t>
            </a:r>
            <a:r>
              <a:rPr sz="1000" spc="-10" dirty="0">
                <a:latin typeface="Book Antiqua"/>
                <a:cs typeface="Book Antiqua"/>
              </a:rPr>
              <a:t>use</a:t>
            </a:r>
            <a:r>
              <a:rPr sz="1000" spc="10" dirty="0">
                <a:latin typeface="Book Antiqua"/>
                <a:cs typeface="Book Antiqua"/>
              </a:rPr>
              <a:t> </a:t>
            </a:r>
            <a:r>
              <a:rPr sz="1000" dirty="0">
                <a:latin typeface="Book Antiqua"/>
                <a:cs typeface="Book Antiqua"/>
              </a:rPr>
              <a:t>battery</a:t>
            </a:r>
            <a:r>
              <a:rPr sz="1000" spc="10" dirty="0">
                <a:latin typeface="Book Antiqua"/>
                <a:cs typeface="Book Antiqua"/>
              </a:rPr>
              <a:t> </a:t>
            </a:r>
            <a:r>
              <a:rPr sz="1000" spc="-10" dirty="0">
                <a:latin typeface="Book Antiqua"/>
                <a:cs typeface="Book Antiqua"/>
              </a:rPr>
              <a:t>(left) </a:t>
            </a:r>
            <a:r>
              <a:rPr sz="1000" dirty="0">
                <a:latin typeface="Book Antiqua"/>
                <a:cs typeface="Book Antiqua"/>
              </a:rPr>
              <a:t>and</a:t>
            </a:r>
            <a:r>
              <a:rPr sz="1000" spc="50" dirty="0">
                <a:latin typeface="Book Antiqua"/>
                <a:cs typeface="Book Antiqua"/>
              </a:rPr>
              <a:t> </a:t>
            </a:r>
            <a:r>
              <a:rPr sz="1000" spc="-25" dirty="0">
                <a:latin typeface="Book Antiqua"/>
                <a:cs typeface="Book Antiqua"/>
              </a:rPr>
              <a:t>rechargeable</a:t>
            </a:r>
            <a:r>
              <a:rPr sz="1000" spc="55" dirty="0">
                <a:latin typeface="Book Antiqua"/>
                <a:cs typeface="Book Antiqua"/>
              </a:rPr>
              <a:t> </a:t>
            </a:r>
            <a:r>
              <a:rPr sz="1000" dirty="0">
                <a:latin typeface="Book Antiqua"/>
                <a:cs typeface="Book Antiqua"/>
              </a:rPr>
              <a:t>battery</a:t>
            </a:r>
            <a:r>
              <a:rPr sz="1000" spc="55" dirty="0">
                <a:latin typeface="Book Antiqua"/>
                <a:cs typeface="Book Antiqua"/>
              </a:rPr>
              <a:t> </a:t>
            </a:r>
            <a:r>
              <a:rPr sz="1000" spc="-10" dirty="0">
                <a:latin typeface="Book Antiqua"/>
                <a:cs typeface="Book Antiqua"/>
              </a:rPr>
              <a:t>(right)</a:t>
            </a:r>
            <a:endParaRPr sz="10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000" dirty="0">
              <a:latin typeface="Book Antiqua"/>
              <a:cs typeface="Book Antiqua"/>
            </a:endParaRPr>
          </a:p>
          <a:p>
            <a:pPr marL="302260">
              <a:lnSpc>
                <a:spcPct val="100000"/>
              </a:lnSpc>
              <a:spcBef>
                <a:spcPts val="700"/>
              </a:spcBef>
            </a:pP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width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curve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defined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by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standard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deviation</a:t>
            </a:r>
            <a:r>
              <a:rPr sz="1100" spc="30" dirty="0">
                <a:latin typeface="Book Antiqua"/>
                <a:cs typeface="Book Antiqua"/>
              </a:rPr>
              <a:t> </a:t>
            </a:r>
            <a:endParaRPr lang="en-US" sz="1100" spc="30" dirty="0">
              <a:latin typeface="Book Antiqua"/>
              <a:cs typeface="Book Antiqua"/>
            </a:endParaRPr>
          </a:p>
          <a:p>
            <a:pPr marL="302260">
              <a:lnSpc>
                <a:spcPct val="100000"/>
              </a:lnSpc>
              <a:spcBef>
                <a:spcPts val="700"/>
              </a:spcBef>
            </a:pPr>
            <a:r>
              <a:rPr sz="1100" spc="-10" dirty="0">
                <a:latin typeface="Book Antiqua"/>
                <a:cs typeface="Book Antiqua"/>
              </a:rPr>
              <a:t>Left:</a:t>
            </a:r>
            <a:r>
              <a:rPr lang="en-US" sz="1100" spc="-10" dirty="0">
                <a:latin typeface="Book Antiqua"/>
                <a:cs typeface="Book Antiqua"/>
              </a:rPr>
              <a:t> </a:t>
            </a:r>
            <a:r>
              <a:rPr sz="1100" b="0" i="1" dirty="0" err="1">
                <a:latin typeface="Bookman Old Style"/>
                <a:cs typeface="Bookman Old Style"/>
              </a:rPr>
              <a:t>σ</a:t>
            </a:r>
            <a:r>
              <a:rPr sz="1200" b="0" i="1" baseline="-10416" dirty="0" err="1">
                <a:latin typeface="Bookman Old Style"/>
                <a:cs typeface="Bookman Old Style"/>
              </a:rPr>
              <a:t>S</a:t>
            </a:r>
            <a:r>
              <a:rPr sz="1200" b="0" i="1" spc="187" baseline="-10416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0</a:t>
            </a:r>
            <a:r>
              <a:rPr sz="1100" b="0" i="1" dirty="0">
                <a:latin typeface="Bookman Old Style"/>
                <a:cs typeface="Bookman Old Style"/>
              </a:rPr>
              <a:t>.</a:t>
            </a:r>
            <a:r>
              <a:rPr lang="en-US" sz="1100" b="0" i="1" dirty="0">
                <a:latin typeface="Book Antiqua"/>
                <a:cs typeface="Bookman Old Style"/>
              </a:rPr>
              <a:t>2</a:t>
            </a:r>
            <a:r>
              <a:rPr sz="1100" dirty="0">
                <a:latin typeface="Book Antiqua"/>
                <a:cs typeface="Book Antiqua"/>
              </a:rPr>
              <a:t>,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right:</a:t>
            </a:r>
            <a:r>
              <a:rPr sz="1100" spc="185" dirty="0">
                <a:latin typeface="Book Antiqua"/>
                <a:cs typeface="Book Antiqua"/>
              </a:rPr>
              <a:t> </a:t>
            </a:r>
            <a:r>
              <a:rPr sz="1100" b="0" i="1" spc="60" dirty="0" err="1">
                <a:latin typeface="Bookman Old Style"/>
                <a:cs typeface="Bookman Old Style"/>
              </a:rPr>
              <a:t>σ</a:t>
            </a:r>
            <a:r>
              <a:rPr sz="1200" b="0" i="1" spc="89" baseline="-10416" dirty="0" err="1">
                <a:latin typeface="Bookman Old Style"/>
                <a:cs typeface="Bookman Old Style"/>
              </a:rPr>
              <a:t>R</a:t>
            </a:r>
            <a:r>
              <a:rPr sz="1100" spc="60" dirty="0">
                <a:latin typeface="Book Antiqua"/>
                <a:cs typeface="Book Antiqua"/>
              </a:rPr>
              <a:t>=1</a:t>
            </a:r>
            <a:endParaRPr sz="1100" dirty="0">
              <a:latin typeface="Book Antiqua"/>
              <a:cs typeface="Book Antiqua"/>
            </a:endParaRPr>
          </a:p>
          <a:p>
            <a:pPr marL="30226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Book Antiqua"/>
                <a:cs typeface="Book Antiqua"/>
              </a:rPr>
              <a:t>95%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measurements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fall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between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Garamond"/>
                <a:cs typeface="Garamond"/>
              </a:rPr>
              <a:t>±</a:t>
            </a:r>
            <a:r>
              <a:rPr sz="1100" dirty="0">
                <a:latin typeface="Book Antiqua"/>
                <a:cs typeface="Book Antiqua"/>
              </a:rPr>
              <a:t>2</a:t>
            </a:r>
            <a:r>
              <a:rPr sz="1100" b="0" i="1" dirty="0">
                <a:latin typeface="Bookman Old Style"/>
                <a:cs typeface="Bookman Old Style"/>
              </a:rPr>
              <a:t>σ</a:t>
            </a: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around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mean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0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16337" y="3353673"/>
            <a:ext cx="25781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11/40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44" y="62405"/>
            <a:ext cx="3168650" cy="5854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00150">
              <a:lnSpc>
                <a:spcPct val="100000"/>
              </a:lnSpc>
              <a:spcBef>
                <a:spcPts val="135"/>
              </a:spcBef>
            </a:pPr>
            <a:r>
              <a:rPr sz="1400" spc="75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400" spc="2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r>
              <a:rPr sz="1400" spc="2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45">
                <a:solidFill>
                  <a:srgbClr val="FFFFFF"/>
                </a:solidFill>
                <a:latin typeface="Times New Roman"/>
                <a:cs typeface="Times New Roman"/>
              </a:rPr>
              <a:t>Distribution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spc="-10">
                <a:latin typeface="Book Antiqua"/>
                <a:cs typeface="Book Antiqua"/>
              </a:rPr>
              <a:t>68-95-</a:t>
            </a:r>
            <a:r>
              <a:rPr sz="1100">
                <a:latin typeface="Book Antiqua"/>
                <a:cs typeface="Book Antiqua"/>
              </a:rPr>
              <a:t>99.7</a:t>
            </a:r>
            <a:r>
              <a:rPr sz="1100" spc="9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Rule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621" y="733644"/>
            <a:ext cx="3392398" cy="171069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16337" y="3353673"/>
            <a:ext cx="25781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13/40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44" y="62405"/>
            <a:ext cx="3168650" cy="5854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00150">
              <a:lnSpc>
                <a:spcPct val="100000"/>
              </a:lnSpc>
              <a:spcBef>
                <a:spcPts val="135"/>
              </a:spcBef>
            </a:pPr>
            <a:r>
              <a:rPr sz="1400" spc="75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400" spc="2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r>
              <a:rPr sz="1400" spc="2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45">
                <a:solidFill>
                  <a:srgbClr val="FFFFFF"/>
                </a:solidFill>
                <a:latin typeface="Times New Roman"/>
                <a:cs typeface="Times New Roman"/>
              </a:rPr>
              <a:t>Distribution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spc="-10">
                <a:latin typeface="Book Antiqua"/>
                <a:cs typeface="Book Antiqua"/>
              </a:rPr>
              <a:t>68-95-</a:t>
            </a:r>
            <a:r>
              <a:rPr sz="1100">
                <a:latin typeface="Book Antiqua"/>
                <a:cs typeface="Book Antiqua"/>
              </a:rPr>
              <a:t>99.7</a:t>
            </a:r>
            <a:r>
              <a:rPr sz="1100" spc="9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Rule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621" y="733644"/>
            <a:ext cx="3392398" cy="17106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844" y="2873335"/>
            <a:ext cx="371347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50">
                <a:latin typeface="Bookman Old Style"/>
                <a:cs typeface="Bookman Old Style"/>
              </a:rPr>
              <a:t> </a:t>
            </a:r>
            <a:r>
              <a:rPr sz="1100" b="0" i="1" spc="180">
                <a:latin typeface="Bookman Old Style"/>
                <a:cs typeface="Bookman Old Style"/>
              </a:rPr>
              <a:t>&lt;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µ</a:t>
            </a:r>
            <a:r>
              <a:rPr sz="1100" b="0" i="1" spc="-9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35">
                <a:latin typeface="Book Antiqua"/>
                <a:cs typeface="Book Antiqua"/>
              </a:rPr>
              <a:t> </a:t>
            </a:r>
            <a:r>
              <a:rPr sz="1100" b="0" i="1" spc="55">
                <a:latin typeface="Bookman Old Style"/>
                <a:cs typeface="Bookman Old Style"/>
              </a:rPr>
              <a:t>σ</a:t>
            </a:r>
            <a:r>
              <a:rPr sz="1100" spc="55">
                <a:latin typeface="Book Antiqua"/>
                <a:cs typeface="Book Antiqua"/>
              </a:rPr>
              <a:t>)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34%</a:t>
            </a:r>
            <a:r>
              <a:rPr sz="1100" spc="-3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3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34%</a:t>
            </a:r>
            <a:r>
              <a:rPr sz="1100" spc="-3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3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13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5%</a:t>
            </a:r>
            <a:r>
              <a:rPr sz="1100" spc="-3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4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2</a:t>
            </a:r>
            <a:r>
              <a:rPr sz="1100" b="0" i="1" spc="-20">
                <a:latin typeface="Bookman Old Style"/>
                <a:cs typeface="Bookman Old Style"/>
              </a:rPr>
              <a:t>.</a:t>
            </a:r>
            <a:r>
              <a:rPr sz="1100" spc="-20">
                <a:latin typeface="Book Antiqua"/>
                <a:cs typeface="Book Antiqua"/>
              </a:rPr>
              <a:t>35%</a:t>
            </a:r>
            <a:r>
              <a:rPr sz="1100" spc="-3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3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.</a:t>
            </a:r>
            <a:r>
              <a:rPr sz="1100">
                <a:latin typeface="Book Antiqua"/>
                <a:cs typeface="Book Antiqua"/>
              </a:rPr>
              <a:t>15%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84%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16337" y="3353673"/>
            <a:ext cx="25781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13/40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12215">
              <a:lnSpc>
                <a:spcPct val="100000"/>
              </a:lnSpc>
              <a:spcBef>
                <a:spcPts val="135"/>
              </a:spcBef>
            </a:pPr>
            <a:r>
              <a:rPr spc="75"/>
              <a:t>The</a:t>
            </a:r>
            <a:r>
              <a:rPr spc="245"/>
              <a:t> </a:t>
            </a:r>
            <a:r>
              <a:t>Normal</a:t>
            </a:r>
            <a:r>
              <a:rPr spc="260"/>
              <a:t> </a:t>
            </a:r>
            <a:r>
              <a:rPr spc="45"/>
              <a:t>Distribution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55890"/>
            <a:ext cx="96646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>
                <a:latin typeface="Book Antiqua"/>
                <a:cs typeface="Book Antiqua"/>
              </a:rPr>
              <a:t>68-95-</a:t>
            </a:r>
            <a:r>
              <a:rPr sz="1100">
                <a:latin typeface="Book Antiqua"/>
                <a:cs typeface="Book Antiqua"/>
              </a:rPr>
              <a:t>99.7</a:t>
            </a:r>
            <a:r>
              <a:rPr sz="1100" spc="9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Rule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621" y="733644"/>
            <a:ext cx="3392398" cy="17106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5473" y="2696056"/>
            <a:ext cx="4382693" cy="35009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Book Antiqua"/>
                <a:cs typeface="Book Antiqua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50" dirty="0">
                <a:latin typeface="Bookman Old Style"/>
                <a:cs typeface="Bookman Old Style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3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µ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35" dirty="0">
                <a:latin typeface="Book Antiqua"/>
                <a:cs typeface="Book Antiqua"/>
              </a:rPr>
              <a:t> </a:t>
            </a:r>
            <a:r>
              <a:rPr sz="1100" b="0" i="1" spc="55" dirty="0">
                <a:latin typeface="Bookman Old Style"/>
                <a:cs typeface="Bookman Old Style"/>
              </a:rPr>
              <a:t>σ</a:t>
            </a:r>
            <a:r>
              <a:rPr sz="1100" spc="55" dirty="0">
                <a:latin typeface="Book Antiqua"/>
                <a:cs typeface="Book Antiqua"/>
              </a:rPr>
              <a:t>)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34%</a:t>
            </a:r>
            <a:r>
              <a:rPr sz="1100" spc="-3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34%</a:t>
            </a:r>
            <a:r>
              <a:rPr sz="1100" spc="-3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13</a:t>
            </a:r>
            <a:r>
              <a:rPr sz="1100" b="0" i="1" spc="-10" dirty="0">
                <a:latin typeface="Bookman Old Style"/>
                <a:cs typeface="Bookman Old Style"/>
              </a:rPr>
              <a:t>.</a:t>
            </a:r>
            <a:r>
              <a:rPr sz="1100" spc="-10" dirty="0">
                <a:latin typeface="Book Antiqua"/>
                <a:cs typeface="Book Antiqua"/>
              </a:rPr>
              <a:t>5%</a:t>
            </a:r>
            <a:r>
              <a:rPr sz="1100" spc="-3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4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2</a:t>
            </a:r>
            <a:r>
              <a:rPr sz="1100" b="0" i="1" spc="-20" dirty="0">
                <a:latin typeface="Bookman Old Style"/>
                <a:cs typeface="Bookman Old Style"/>
              </a:rPr>
              <a:t>.</a:t>
            </a:r>
            <a:r>
              <a:rPr sz="1100" spc="-20" dirty="0">
                <a:latin typeface="Book Antiqua"/>
                <a:cs typeface="Book Antiqua"/>
              </a:rPr>
              <a:t>35%</a:t>
            </a:r>
            <a:r>
              <a:rPr sz="1100" spc="-3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3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.</a:t>
            </a:r>
            <a:r>
              <a:rPr sz="1100" dirty="0">
                <a:latin typeface="Book Antiqua"/>
                <a:cs typeface="Book Antiqua"/>
              </a:rPr>
              <a:t>15%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84%</a:t>
            </a:r>
            <a:endParaRPr sz="110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lang="en-US" sz="1100" dirty="0">
                <a:latin typeface="Book Antiqua"/>
                <a:cs typeface="Book Antiqua"/>
              </a:rPr>
              <a:t>Single use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battery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will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last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longer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than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lang="en-US" sz="1100" dirty="0">
                <a:latin typeface="Book Antiqua"/>
                <a:cs typeface="Book Antiqua"/>
              </a:rPr>
              <a:t>1.2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years)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</a:t>
            </a:r>
            <a:r>
              <a:rPr sz="1100" spc="-55" dirty="0">
                <a:latin typeface="Book Antiqua"/>
                <a:cs typeface="Book Antiqua"/>
              </a:rPr>
              <a:t> </a:t>
            </a:r>
            <a:r>
              <a:rPr sz="1100" i="1" spc="110" dirty="0">
                <a:latin typeface="Garamond"/>
                <a:cs typeface="Garamond"/>
              </a:rPr>
              <a:t>−</a:t>
            </a:r>
            <a:r>
              <a:rPr sz="1100" i="1" spc="-50" dirty="0">
                <a:latin typeface="Garamond"/>
                <a:cs typeface="Garamond"/>
              </a:rPr>
              <a:t> </a:t>
            </a:r>
            <a:r>
              <a:rPr sz="1100" dirty="0">
                <a:latin typeface="Book Antiqua"/>
                <a:cs typeface="Book Antiqua"/>
              </a:rPr>
              <a:t>84%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16%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13/40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98805">
              <a:lnSpc>
                <a:spcPct val="100000"/>
              </a:lnSpc>
              <a:spcBef>
                <a:spcPts val="135"/>
              </a:spcBef>
            </a:pPr>
            <a:r>
              <a:rPr spc="75"/>
              <a:t>The</a:t>
            </a:r>
            <a:r>
              <a:rPr spc="245"/>
              <a:t> </a:t>
            </a:r>
            <a:r>
              <a:t>Normal</a:t>
            </a:r>
            <a:r>
              <a:rPr spc="260"/>
              <a:t> </a:t>
            </a:r>
            <a:r>
              <a:rPr spc="45"/>
              <a:t>Distribution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370228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580261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962365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2172398"/>
            <a:ext cx="63233" cy="6323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844" y="1030933"/>
            <a:ext cx="4292600" cy="12477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>
                <a:latin typeface="Book Antiqua"/>
                <a:cs typeface="Book Antiqua"/>
              </a:rPr>
              <a:t>To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40">
                <a:latin typeface="Book Antiqua"/>
                <a:cs typeface="Book Antiqua"/>
              </a:rPr>
              <a:t>draw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normal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distribution,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you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need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know:</a:t>
            </a:r>
            <a:endParaRPr sz="1100">
              <a:latin typeface="Book Antiqua"/>
              <a:cs typeface="Book Antiqua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>
                <a:latin typeface="Book Antiqua"/>
                <a:cs typeface="Book Antiqua"/>
              </a:rPr>
              <a:t>The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average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measurement:</a:t>
            </a:r>
            <a:r>
              <a:rPr sz="1100" spc="120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where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center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curve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locates</a:t>
            </a:r>
            <a:endParaRPr sz="1100">
              <a:latin typeface="Book Antiqua"/>
              <a:cs typeface="Book Antiqua"/>
            </a:endParaRPr>
          </a:p>
          <a:p>
            <a:pPr marL="289560" marR="5080">
              <a:lnSpc>
                <a:spcPct val="102600"/>
              </a:lnSpc>
              <a:spcBef>
                <a:spcPts val="295"/>
              </a:spcBef>
            </a:pP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standard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deviation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measurements:</a:t>
            </a:r>
            <a:r>
              <a:rPr sz="1100" spc="135">
                <a:latin typeface="Book Antiqua"/>
                <a:cs typeface="Book Antiqua"/>
              </a:rPr>
              <a:t> </a:t>
            </a:r>
            <a:r>
              <a:rPr sz="1100" spc="-65">
                <a:latin typeface="Book Antiqua"/>
                <a:cs typeface="Book Antiqua"/>
              </a:rPr>
              <a:t>how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45">
                <a:latin typeface="Book Antiqua"/>
                <a:cs typeface="Book Antiqua"/>
              </a:rPr>
              <a:t>wide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curve </a:t>
            </a:r>
            <a:r>
              <a:rPr sz="1100" spc="-30">
                <a:latin typeface="Book Antiqua"/>
                <a:cs typeface="Book Antiqua"/>
              </a:rPr>
              <a:t>should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be.</a:t>
            </a:r>
            <a:r>
              <a:rPr sz="1100" spc="1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Also,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width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curve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determines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65">
                <a:latin typeface="Book Antiqua"/>
                <a:cs typeface="Book Antiqua"/>
              </a:rPr>
              <a:t>how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tall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it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is.</a:t>
            </a:r>
            <a:endParaRPr sz="1100">
              <a:latin typeface="Book Antiqua"/>
              <a:cs typeface="Book Antiqua"/>
            </a:endParaRPr>
          </a:p>
          <a:p>
            <a:pPr marL="289560" marR="1282700">
              <a:lnSpc>
                <a:spcPct val="125299"/>
              </a:lnSpc>
            </a:pPr>
            <a:r>
              <a:rPr sz="1100">
                <a:latin typeface="Book Antiqua"/>
                <a:cs typeface="Book Antiqua"/>
              </a:rPr>
              <a:t>The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40">
                <a:latin typeface="Book Antiqua"/>
                <a:cs typeface="Book Antiqua"/>
              </a:rPr>
              <a:t>wider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curve,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shorter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curve.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40">
                <a:latin typeface="Book Antiqua"/>
                <a:cs typeface="Book Antiqua"/>
              </a:rPr>
              <a:t>narrower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curve,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taller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curve.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14/40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370" y="62405"/>
            <a:ext cx="198056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75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400" spc="2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r>
              <a:rPr sz="1400" spc="2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45">
                <a:solidFill>
                  <a:srgbClr val="FFFFFF"/>
                </a:solidFill>
                <a:latin typeface="Times New Roman"/>
                <a:cs typeface="Times New Roman"/>
              </a:rPr>
              <a:t>Distribution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270050"/>
            <a:ext cx="4432935" cy="196850"/>
          </a:xfrm>
          <a:custGeom>
            <a:avLst/>
            <a:gdLst/>
            <a:ahLst/>
            <a:cxnLst/>
            <a:rect l="l" t="t" r="r" b="b"/>
            <a:pathLst>
              <a:path w="4432935" h="1968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6680"/>
                </a:lnTo>
                <a:lnTo>
                  <a:pt x="4432566" y="19668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27339" y="1298036"/>
            <a:ext cx="55308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10">
                <a:solidFill>
                  <a:srgbClr val="FFFFFF"/>
                </a:solidFill>
                <a:latin typeface="Times New Roman"/>
                <a:cs typeface="Times New Roman"/>
              </a:rPr>
              <a:t>Warning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7743" y="1466900"/>
            <a:ext cx="4432935" cy="237328"/>
            <a:chOff x="87743" y="1454073"/>
            <a:chExt cx="4432935" cy="237328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454073"/>
              <a:ext cx="4432565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43" y="1498361"/>
              <a:ext cx="4432935" cy="193040"/>
            </a:xfrm>
            <a:custGeom>
              <a:avLst/>
              <a:gdLst/>
              <a:ahLst/>
              <a:cxnLst/>
              <a:rect l="l" t="t" r="r" b="b"/>
              <a:pathLst>
                <a:path w="4432935" h="193039">
                  <a:moveTo>
                    <a:pt x="4432566" y="0"/>
                  </a:moveTo>
                  <a:lnTo>
                    <a:pt x="0" y="0"/>
                  </a:lnTo>
                  <a:lnTo>
                    <a:pt x="0" y="142084"/>
                  </a:lnTo>
                  <a:lnTo>
                    <a:pt x="4008" y="161809"/>
                  </a:lnTo>
                  <a:lnTo>
                    <a:pt x="14922" y="177962"/>
                  </a:lnTo>
                  <a:lnTo>
                    <a:pt x="31075" y="188876"/>
                  </a:lnTo>
                  <a:lnTo>
                    <a:pt x="50800" y="192885"/>
                  </a:lnTo>
                  <a:lnTo>
                    <a:pt x="4381765" y="192885"/>
                  </a:lnTo>
                  <a:lnTo>
                    <a:pt x="4401490" y="188876"/>
                  </a:lnTo>
                  <a:lnTo>
                    <a:pt x="4417643" y="177962"/>
                  </a:lnTo>
                  <a:lnTo>
                    <a:pt x="4428558" y="161809"/>
                  </a:lnTo>
                  <a:lnTo>
                    <a:pt x="4432566" y="14208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BEB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8544" y="1468639"/>
            <a:ext cx="4432935" cy="5619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4615" algn="ctr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Book Antiqua"/>
                <a:cs typeface="Book Antiqua"/>
              </a:rPr>
              <a:t>Horrendous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equation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following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 dirty="0">
              <a:latin typeface="Book Antiqua"/>
              <a:cs typeface="Book Antiqua"/>
            </a:endParaRPr>
          </a:p>
          <a:p>
            <a:pPr marR="93345" algn="ctr">
              <a:lnSpc>
                <a:spcPct val="100000"/>
              </a:lnSpc>
            </a:pPr>
            <a:r>
              <a:rPr sz="1100" dirty="0">
                <a:latin typeface="Book Antiqua"/>
                <a:cs typeface="Book Antiqua"/>
              </a:rPr>
              <a:t>Don’t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try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40" dirty="0">
                <a:latin typeface="Book Antiqua"/>
                <a:cs typeface="Book Antiqua"/>
              </a:rPr>
              <a:t>memorize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this.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15/40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98805">
              <a:lnSpc>
                <a:spcPct val="100000"/>
              </a:lnSpc>
              <a:spcBef>
                <a:spcPts val="135"/>
              </a:spcBef>
            </a:pPr>
            <a:r>
              <a:rPr spc="75"/>
              <a:t>The</a:t>
            </a:r>
            <a:r>
              <a:rPr spc="245"/>
              <a:t> </a:t>
            </a:r>
            <a:r>
              <a:t>Normal</a:t>
            </a:r>
            <a:r>
              <a:rPr spc="260"/>
              <a:t> </a:t>
            </a:r>
            <a:r>
              <a:rPr spc="45"/>
              <a:t>Distribution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29321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3044" y="1264881"/>
            <a:ext cx="210121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200" spc="1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80">
                <a:solidFill>
                  <a:srgbClr val="FFFFFF"/>
                </a:solidFill>
                <a:latin typeface="Times New Roman"/>
                <a:cs typeface="Times New Roman"/>
              </a:rPr>
              <a:t>PDF</a:t>
            </a:r>
            <a:r>
              <a:rPr sz="1200" spc="1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200" spc="1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r>
              <a:rPr sz="1200" spc="1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>
                <a:solidFill>
                  <a:srgbClr val="FFFFFF"/>
                </a:solidFill>
                <a:latin typeface="Times New Roman"/>
                <a:cs typeface="Times New Roman"/>
              </a:rPr>
              <a:t>distribution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5844" y="1868486"/>
            <a:ext cx="432562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Normal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Distribution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has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mean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µ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standard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distribution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σ</a:t>
            </a:r>
            <a:r>
              <a:rPr sz="1100" b="0" i="1" spc="5">
                <a:latin typeface="Bookman Old Style"/>
                <a:cs typeface="Bookman Old Style"/>
              </a:rPr>
              <a:t> </a:t>
            </a:r>
            <a:r>
              <a:rPr sz="1100" spc="-20">
                <a:latin typeface="Book Antiqua"/>
                <a:cs typeface="Book Antiqua"/>
              </a:rPr>
              <a:t>that </a:t>
            </a:r>
            <a:r>
              <a:rPr sz="1100" spc="-30">
                <a:latin typeface="Book Antiqua"/>
                <a:cs typeface="Book Antiqua"/>
              </a:rPr>
              <a:t>define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curve.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16/40</a:t>
            </a:r>
          </a:p>
        </p:txBody>
      </p:sp>
      <p:pic>
        <p:nvPicPr>
          <p:cNvPr id="6" name="Picture 5" descr="\documentclass{article}&#10;\usepackage{amsmath}&#10;\pagestyle{empty}&#10;\begin{document}&#10;&#10;$f_X(x) = \frac{1}{\sigma \sqrt{2\pi}}e^{-\frac{(x-\mu)^2}{2\sigma^2}}$&#10;&#10;&#10;\end{document}" title="IguanaTex Bitmap Display">
            <a:extLst>
              <a:ext uri="{FF2B5EF4-FFF2-40B4-BE49-F238E27FC236}">
                <a16:creationId xmlns:a16="http://schemas.microsoft.com/office/drawing/2014/main" id="{3612C864-A222-CC5E-2EFF-33E851909E7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11" y="1481043"/>
            <a:ext cx="1834286" cy="35794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98805">
              <a:lnSpc>
                <a:spcPct val="100000"/>
              </a:lnSpc>
              <a:spcBef>
                <a:spcPts val="135"/>
              </a:spcBef>
            </a:pPr>
            <a:r>
              <a:rPr spc="75"/>
              <a:t>The</a:t>
            </a:r>
            <a:r>
              <a:rPr spc="245"/>
              <a:t> </a:t>
            </a:r>
            <a:r>
              <a:t>Normal</a:t>
            </a:r>
            <a:r>
              <a:rPr spc="260"/>
              <a:t> </a:t>
            </a:r>
            <a:r>
              <a:rPr spc="45"/>
              <a:t>Distribution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72286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901949"/>
            <a:ext cx="210121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200" spc="1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80">
                <a:solidFill>
                  <a:srgbClr val="FFFFFF"/>
                </a:solidFill>
                <a:latin typeface="Times New Roman"/>
                <a:cs typeface="Times New Roman"/>
              </a:rPr>
              <a:t>PDF</a:t>
            </a:r>
            <a:r>
              <a:rPr sz="1200" spc="1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200" spc="1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r>
              <a:rPr sz="1200" spc="1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>
                <a:solidFill>
                  <a:srgbClr val="FFFFFF"/>
                </a:solidFill>
                <a:latin typeface="Times New Roman"/>
                <a:cs typeface="Times New Roman"/>
              </a:rPr>
              <a:t>distribution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634896"/>
            <a:ext cx="63233" cy="6323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95300" y="1515197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275">
                <a:latin typeface="Times New Roman"/>
                <a:cs typeface="Times New Roman"/>
              </a:rPr>
              <a:t>∞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8363" y="1635403"/>
            <a:ext cx="2171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65">
                <a:latin typeface="Times New Roman"/>
                <a:cs typeface="Times New Roman"/>
              </a:rPr>
              <a:t>−∞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6805" y="1608187"/>
            <a:ext cx="1143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35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8975" y="1549411"/>
            <a:ext cx="6375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155">
                <a:latin typeface="Bookman Old Style"/>
                <a:cs typeface="Bookman Old Style"/>
              </a:rPr>
              <a:t>f</a:t>
            </a:r>
            <a:r>
              <a:rPr sz="1100" b="0" i="1" spc="105">
                <a:latin typeface="Bookman Old Style"/>
                <a:cs typeface="Bookman Old Style"/>
              </a:rPr>
              <a:t> 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-5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860219"/>
            <a:ext cx="63233" cy="63233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2050008"/>
            <a:ext cx="63233" cy="6323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2515" y="2239441"/>
            <a:ext cx="50939" cy="5093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2515" y="2391270"/>
            <a:ext cx="50939" cy="50939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64832" y="1751200"/>
            <a:ext cx="2080260" cy="944244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75"/>
              </a:spcBef>
            </a:pPr>
            <a:r>
              <a:rPr sz="1100" b="0" i="1">
                <a:latin typeface="Bookman Old Style"/>
                <a:cs typeface="Bookman Old Style"/>
              </a:rPr>
              <a:t>E</a:t>
            </a:r>
            <a:r>
              <a:rPr sz="1100">
                <a:latin typeface="Book Antiqua"/>
                <a:cs typeface="Book Antiqua"/>
              </a:rPr>
              <a:t>[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]</a:t>
            </a:r>
            <a:r>
              <a:rPr sz="1100" spc="7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7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µ</a:t>
            </a:r>
            <a:r>
              <a:rPr sz="1100">
                <a:latin typeface="Book Antiqua"/>
                <a:cs typeface="Book Antiqua"/>
              </a:rPr>
              <a:t>,</a:t>
            </a:r>
            <a:r>
              <a:rPr sz="1100" spc="140">
                <a:latin typeface="Book Antiqua"/>
                <a:cs typeface="Book Antiqua"/>
              </a:rPr>
              <a:t> </a:t>
            </a:r>
            <a:r>
              <a:rPr sz="1100" b="0" i="1" spc="-120">
                <a:latin typeface="Bookman Old Style"/>
                <a:cs typeface="Bookman Old Style"/>
              </a:rPr>
              <a:t>V</a:t>
            </a:r>
            <a:r>
              <a:rPr sz="1100" b="0" i="1" spc="-55">
                <a:latin typeface="Bookman Old Style"/>
                <a:cs typeface="Bookman Old Style"/>
              </a:rPr>
              <a:t> </a:t>
            </a:r>
            <a:r>
              <a:rPr sz="1100" b="0" i="1" spc="55">
                <a:latin typeface="Bookman Old Style"/>
                <a:cs typeface="Bookman Old Style"/>
              </a:rPr>
              <a:t>ar</a:t>
            </a:r>
            <a:r>
              <a:rPr sz="1100" spc="55">
                <a:latin typeface="Book Antiqua"/>
                <a:cs typeface="Book Antiqua"/>
              </a:rPr>
              <a:t>(</a:t>
            </a:r>
            <a:r>
              <a:rPr sz="1100" b="0" i="1" spc="55">
                <a:latin typeface="Bookman Old Style"/>
                <a:cs typeface="Bookman Old Style"/>
              </a:rPr>
              <a:t>X</a:t>
            </a:r>
            <a:r>
              <a:rPr sz="1100" spc="55">
                <a:latin typeface="Book Antiqua"/>
                <a:cs typeface="Book Antiqua"/>
              </a:rPr>
              <a:t>)</a:t>
            </a:r>
            <a:r>
              <a:rPr sz="1100" spc="7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70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σ</a:t>
            </a:r>
            <a:r>
              <a:rPr sz="1200" spc="-37" baseline="27777">
                <a:latin typeface="Trebuchet MS"/>
                <a:cs typeface="Trebuchet MS"/>
              </a:rPr>
              <a:t>2</a:t>
            </a:r>
            <a:endParaRPr sz="1200" baseline="27777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175"/>
              </a:spcBef>
            </a:pPr>
            <a:r>
              <a:rPr sz="1100" spc="-10">
                <a:latin typeface="Book Antiqua"/>
                <a:cs typeface="Book Antiqua"/>
              </a:rPr>
              <a:t>Symmetric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about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mean</a:t>
            </a:r>
            <a:endParaRPr sz="1100">
              <a:latin typeface="Book Antiqua"/>
              <a:cs typeface="Book Antiqua"/>
            </a:endParaRPr>
          </a:p>
          <a:p>
            <a:pPr marL="327660">
              <a:lnSpc>
                <a:spcPts val="1200"/>
              </a:lnSpc>
              <a:spcBef>
                <a:spcPts val="175"/>
              </a:spcBef>
            </a:pPr>
            <a:r>
              <a:rPr sz="1000" b="0" i="1" spc="140">
                <a:latin typeface="Bookman Old Style"/>
                <a:cs typeface="Bookman Old Style"/>
              </a:rPr>
              <a:t>f</a:t>
            </a:r>
            <a:r>
              <a:rPr sz="1050" i="1" spc="209" baseline="-11904">
                <a:latin typeface="Garamond"/>
                <a:cs typeface="Garamond"/>
              </a:rPr>
              <a:t>X</a:t>
            </a:r>
            <a:r>
              <a:rPr sz="1050" i="1" spc="-97" baseline="-11904">
                <a:latin typeface="Garamond"/>
                <a:cs typeface="Garamond"/>
              </a:rPr>
              <a:t> </a:t>
            </a:r>
            <a:r>
              <a:rPr sz="1000">
                <a:latin typeface="Book Antiqua"/>
                <a:cs typeface="Book Antiqua"/>
              </a:rPr>
              <a:t>(</a:t>
            </a:r>
            <a:r>
              <a:rPr sz="1000" b="0" i="1">
                <a:latin typeface="Bookman Old Style"/>
                <a:cs typeface="Bookman Old Style"/>
              </a:rPr>
              <a:t>µ</a:t>
            </a:r>
            <a:r>
              <a:rPr sz="1000" b="0" i="1" spc="-60">
                <a:latin typeface="Bookman Old Style"/>
                <a:cs typeface="Bookman Old Style"/>
              </a:rPr>
              <a:t> </a:t>
            </a:r>
            <a:r>
              <a:rPr sz="1000" i="1" spc="105">
                <a:latin typeface="Garamond"/>
                <a:cs typeface="Garamond"/>
              </a:rPr>
              <a:t>−</a:t>
            </a:r>
            <a:r>
              <a:rPr sz="1000" i="1" spc="-10">
                <a:latin typeface="Garamond"/>
                <a:cs typeface="Garamond"/>
              </a:rPr>
              <a:t> </a:t>
            </a:r>
            <a:r>
              <a:rPr sz="1000" b="0" i="1">
                <a:latin typeface="Bookman Old Style"/>
                <a:cs typeface="Bookman Old Style"/>
              </a:rPr>
              <a:t>c</a:t>
            </a:r>
            <a:r>
              <a:rPr sz="1000">
                <a:latin typeface="Book Antiqua"/>
                <a:cs typeface="Book Antiqua"/>
              </a:rPr>
              <a:t>)</a:t>
            </a:r>
            <a:r>
              <a:rPr sz="1000" spc="55">
                <a:latin typeface="Book Antiqua"/>
                <a:cs typeface="Book Antiqua"/>
              </a:rPr>
              <a:t> </a:t>
            </a:r>
            <a:r>
              <a:rPr sz="1000" spc="160">
                <a:latin typeface="Book Antiqua"/>
                <a:cs typeface="Book Antiqua"/>
              </a:rPr>
              <a:t>=</a:t>
            </a:r>
            <a:r>
              <a:rPr sz="1000" spc="50">
                <a:latin typeface="Book Antiqua"/>
                <a:cs typeface="Book Antiqua"/>
              </a:rPr>
              <a:t> </a:t>
            </a:r>
            <a:r>
              <a:rPr sz="1000" b="0" i="1" spc="140">
                <a:latin typeface="Bookman Old Style"/>
                <a:cs typeface="Bookman Old Style"/>
              </a:rPr>
              <a:t>f</a:t>
            </a:r>
            <a:r>
              <a:rPr sz="1050" i="1" spc="209" baseline="-11904">
                <a:latin typeface="Garamond"/>
                <a:cs typeface="Garamond"/>
              </a:rPr>
              <a:t>X</a:t>
            </a:r>
            <a:r>
              <a:rPr sz="1050" i="1" spc="-97" baseline="-11904">
                <a:latin typeface="Garamond"/>
                <a:cs typeface="Garamond"/>
              </a:rPr>
              <a:t> </a:t>
            </a:r>
            <a:r>
              <a:rPr sz="1000">
                <a:latin typeface="Book Antiqua"/>
                <a:cs typeface="Book Antiqua"/>
              </a:rPr>
              <a:t>(</a:t>
            </a:r>
            <a:r>
              <a:rPr sz="1000" b="0" i="1">
                <a:latin typeface="Bookman Old Style"/>
                <a:cs typeface="Bookman Old Style"/>
              </a:rPr>
              <a:t>µ</a:t>
            </a:r>
            <a:r>
              <a:rPr sz="1000" b="0" i="1" spc="-55">
                <a:latin typeface="Bookman Old Style"/>
                <a:cs typeface="Bookman Old Style"/>
              </a:rPr>
              <a:t> </a:t>
            </a:r>
            <a:r>
              <a:rPr sz="1000" spc="160">
                <a:latin typeface="Book Antiqua"/>
                <a:cs typeface="Book Antiqua"/>
              </a:rPr>
              <a:t>+</a:t>
            </a:r>
            <a:r>
              <a:rPr sz="1000" spc="-10">
                <a:latin typeface="Book Antiqua"/>
                <a:cs typeface="Book Antiqua"/>
              </a:rPr>
              <a:t> </a:t>
            </a:r>
            <a:r>
              <a:rPr sz="1000" b="0" i="1" spc="-25">
                <a:latin typeface="Bookman Old Style"/>
                <a:cs typeface="Bookman Old Style"/>
              </a:rPr>
              <a:t>c</a:t>
            </a:r>
            <a:r>
              <a:rPr sz="1000" spc="-25">
                <a:latin typeface="Book Antiqua"/>
                <a:cs typeface="Book Antiqua"/>
              </a:rPr>
              <a:t>)</a:t>
            </a:r>
            <a:endParaRPr sz="1000">
              <a:latin typeface="Book Antiqua"/>
              <a:cs typeface="Book Antiqua"/>
            </a:endParaRPr>
          </a:p>
          <a:p>
            <a:pPr marL="327660">
              <a:lnSpc>
                <a:spcPts val="1200"/>
              </a:lnSpc>
            </a:pPr>
            <a:r>
              <a:rPr sz="1000" b="0" i="1">
                <a:latin typeface="Bookman Old Style"/>
                <a:cs typeface="Bookman Old Style"/>
              </a:rPr>
              <a:t>P</a:t>
            </a:r>
            <a:r>
              <a:rPr sz="1000" b="0" i="1" spc="-160">
                <a:latin typeface="Bookman Old Style"/>
                <a:cs typeface="Bookman Old Style"/>
              </a:rPr>
              <a:t> </a:t>
            </a:r>
            <a:r>
              <a:rPr sz="1000" spc="85">
                <a:latin typeface="Book Antiqua"/>
                <a:cs typeface="Book Antiqua"/>
              </a:rPr>
              <a:t>(</a:t>
            </a:r>
            <a:r>
              <a:rPr sz="1000" b="0" i="1" spc="85">
                <a:latin typeface="Bookman Old Style"/>
                <a:cs typeface="Bookman Old Style"/>
              </a:rPr>
              <a:t>X</a:t>
            </a:r>
            <a:r>
              <a:rPr sz="1000" b="0" i="1" spc="70">
                <a:latin typeface="Bookman Old Style"/>
                <a:cs typeface="Bookman Old Style"/>
              </a:rPr>
              <a:t> </a:t>
            </a:r>
            <a:r>
              <a:rPr sz="1000" b="0" i="1" spc="165">
                <a:latin typeface="Bookman Old Style"/>
                <a:cs typeface="Bookman Old Style"/>
              </a:rPr>
              <a:t>&lt;</a:t>
            </a:r>
            <a:r>
              <a:rPr sz="1000" b="0" i="1" spc="-10">
                <a:latin typeface="Bookman Old Style"/>
                <a:cs typeface="Bookman Old Style"/>
              </a:rPr>
              <a:t> </a:t>
            </a:r>
            <a:r>
              <a:rPr sz="1000" b="0" i="1">
                <a:latin typeface="Bookman Old Style"/>
                <a:cs typeface="Bookman Old Style"/>
              </a:rPr>
              <a:t>µ</a:t>
            </a:r>
            <a:r>
              <a:rPr sz="1000" b="0" i="1" spc="-70">
                <a:latin typeface="Bookman Old Style"/>
                <a:cs typeface="Bookman Old Style"/>
              </a:rPr>
              <a:t> </a:t>
            </a:r>
            <a:r>
              <a:rPr sz="1000" i="1" spc="105">
                <a:latin typeface="Garamond"/>
                <a:cs typeface="Garamond"/>
              </a:rPr>
              <a:t>−</a:t>
            </a:r>
            <a:r>
              <a:rPr sz="1000" i="1" spc="-20">
                <a:latin typeface="Garamond"/>
                <a:cs typeface="Garamond"/>
              </a:rPr>
              <a:t> </a:t>
            </a:r>
            <a:r>
              <a:rPr sz="1000" b="0" i="1">
                <a:latin typeface="Bookman Old Style"/>
                <a:cs typeface="Bookman Old Style"/>
              </a:rPr>
              <a:t>c</a:t>
            </a:r>
            <a:r>
              <a:rPr sz="1000">
                <a:latin typeface="Book Antiqua"/>
                <a:cs typeface="Book Antiqua"/>
              </a:rPr>
              <a:t>)</a:t>
            </a:r>
            <a:r>
              <a:rPr sz="1000" spc="35">
                <a:latin typeface="Book Antiqua"/>
                <a:cs typeface="Book Antiqua"/>
              </a:rPr>
              <a:t> </a:t>
            </a:r>
            <a:r>
              <a:rPr sz="1000" spc="160">
                <a:latin typeface="Book Antiqua"/>
                <a:cs typeface="Book Antiqua"/>
              </a:rPr>
              <a:t>=</a:t>
            </a:r>
            <a:r>
              <a:rPr sz="1000" spc="40">
                <a:latin typeface="Book Antiqua"/>
                <a:cs typeface="Book Antiqua"/>
              </a:rPr>
              <a:t> </a:t>
            </a:r>
            <a:r>
              <a:rPr sz="1000" b="0" i="1">
                <a:latin typeface="Bookman Old Style"/>
                <a:cs typeface="Bookman Old Style"/>
              </a:rPr>
              <a:t>P</a:t>
            </a:r>
            <a:r>
              <a:rPr sz="1000" b="0" i="1" spc="-160">
                <a:latin typeface="Bookman Old Style"/>
                <a:cs typeface="Bookman Old Style"/>
              </a:rPr>
              <a:t> </a:t>
            </a:r>
            <a:r>
              <a:rPr sz="1000" spc="85">
                <a:latin typeface="Book Antiqua"/>
                <a:cs typeface="Book Antiqua"/>
              </a:rPr>
              <a:t>(</a:t>
            </a:r>
            <a:r>
              <a:rPr sz="1000" b="0" i="1" spc="85">
                <a:latin typeface="Bookman Old Style"/>
                <a:cs typeface="Bookman Old Style"/>
              </a:rPr>
              <a:t>X</a:t>
            </a:r>
            <a:r>
              <a:rPr sz="1000" b="0" i="1" spc="70">
                <a:latin typeface="Bookman Old Style"/>
                <a:cs typeface="Bookman Old Style"/>
              </a:rPr>
              <a:t> </a:t>
            </a:r>
            <a:r>
              <a:rPr sz="1000" b="0" i="1" spc="165">
                <a:latin typeface="Bookman Old Style"/>
                <a:cs typeface="Bookman Old Style"/>
              </a:rPr>
              <a:t>&gt;</a:t>
            </a:r>
            <a:r>
              <a:rPr sz="1000" b="0" i="1" spc="-10">
                <a:latin typeface="Bookman Old Style"/>
                <a:cs typeface="Bookman Old Style"/>
              </a:rPr>
              <a:t> </a:t>
            </a:r>
            <a:r>
              <a:rPr sz="1000" b="0" i="1">
                <a:latin typeface="Bookman Old Style"/>
                <a:cs typeface="Bookman Old Style"/>
              </a:rPr>
              <a:t>µ</a:t>
            </a:r>
            <a:r>
              <a:rPr sz="1000" b="0" i="1" spc="-70">
                <a:latin typeface="Bookman Old Style"/>
                <a:cs typeface="Bookman Old Style"/>
              </a:rPr>
              <a:t> </a:t>
            </a:r>
            <a:r>
              <a:rPr sz="1000" spc="160">
                <a:latin typeface="Book Antiqua"/>
                <a:cs typeface="Book Antiqua"/>
              </a:rPr>
              <a:t>+</a:t>
            </a:r>
            <a:r>
              <a:rPr sz="1000" spc="-20">
                <a:latin typeface="Book Antiqua"/>
                <a:cs typeface="Book Antiqua"/>
              </a:rPr>
              <a:t> </a:t>
            </a:r>
            <a:r>
              <a:rPr sz="1000" b="0" i="1" spc="-25">
                <a:latin typeface="Bookman Old Style"/>
                <a:cs typeface="Bookman Old Style"/>
              </a:rPr>
              <a:t>c</a:t>
            </a:r>
            <a:r>
              <a:rPr sz="1000" spc="-25">
                <a:latin typeface="Book Antiqua"/>
                <a:cs typeface="Book Antiqua"/>
              </a:rPr>
              <a:t>)</a:t>
            </a:r>
            <a:endParaRPr sz="1000">
              <a:latin typeface="Book Antiqua"/>
              <a:cs typeface="Book Antiqua"/>
            </a:endParaRPr>
          </a:p>
          <a:p>
            <a:pPr marL="50800">
              <a:lnSpc>
                <a:spcPct val="100000"/>
              </a:lnSpc>
              <a:spcBef>
                <a:spcPts val="355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95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b="0" i="1" spc="180">
                <a:latin typeface="Bookman Old Style"/>
                <a:cs typeface="Bookman Old Style"/>
              </a:rPr>
              <a:t>&gt;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0</a:t>
            </a:r>
            <a:r>
              <a:rPr sz="1100" spc="8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9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all</a:t>
            </a:r>
            <a:r>
              <a:rPr sz="1100" spc="80">
                <a:latin typeface="Book Antiqua"/>
                <a:cs typeface="Book Antiqua"/>
              </a:rPr>
              <a:t> </a:t>
            </a:r>
            <a:r>
              <a:rPr sz="1100" b="0" i="1" spc="-50">
                <a:latin typeface="Bookman Old Style"/>
                <a:cs typeface="Bookman Old Style"/>
              </a:rPr>
              <a:t>x</a:t>
            </a:r>
            <a:endParaRPr sz="1100">
              <a:latin typeface="Bookman Old Style"/>
              <a:cs typeface="Bookman Old Style"/>
            </a:endParaRPr>
          </a:p>
        </p:txBody>
      </p:sp>
      <p:pic>
        <p:nvPicPr>
          <p:cNvPr id="27" name="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3133" y="2589009"/>
            <a:ext cx="63233" cy="63233"/>
          </a:xfrm>
          <a:prstGeom prst="rect">
            <a:avLst/>
          </a:prstGeom>
        </p:spPr>
      </p:pic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16337" y="3353673"/>
            <a:ext cx="25781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17/40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5" name="Picture 34" descr="\documentclass{article}&#10;\usepackage{amsmath}&#10;\pagestyle{empty}&#10;\begin{document}&#10;&#10;$f_X(x) = \frac{1}{\sigma \sqrt{2\pi}}e^{-\frac{(x-\mu)^2}{2\sigma^2}}$&#10;&#10;&#10;\end{document}" title="IguanaTex Bitmap Display">
            <a:extLst>
              <a:ext uri="{FF2B5EF4-FFF2-40B4-BE49-F238E27FC236}">
                <a16:creationId xmlns:a16="http://schemas.microsoft.com/office/drawing/2014/main" id="{C42E0B23-389D-875C-72B8-F33DBFC8848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62" y="1113656"/>
            <a:ext cx="1834286" cy="357943"/>
          </a:xfrm>
          <a:prstGeom prst="rect">
            <a:avLst/>
          </a:prstGeom>
        </p:spPr>
      </p:pic>
      <p:pic>
        <p:nvPicPr>
          <p:cNvPr id="37" name="Picture 36" descr="\documentclass{article}&#10;\usepackage{amsmath}&#10;\pagestyle{empty}&#10;\begin{document}&#10;&#10;&#10;$\int$&#10;&#10;\end{document}" title="IguanaTex Bitmap Display">
            <a:extLst>
              <a:ext uri="{FF2B5EF4-FFF2-40B4-BE49-F238E27FC236}">
                <a16:creationId xmlns:a16="http://schemas.microsoft.com/office/drawing/2014/main" id="{A28BEFDF-06B5-933A-36E0-0924A466179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35" y="1556917"/>
            <a:ext cx="105600" cy="2112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2885" y="62405"/>
            <a:ext cx="24225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75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400" spc="1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r>
              <a:rPr sz="1400" spc="2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5">
                <a:solidFill>
                  <a:srgbClr val="FFFFFF"/>
                </a:solidFill>
                <a:latin typeface="Times New Roman"/>
                <a:cs typeface="Times New Roman"/>
              </a:rPr>
              <a:t>Distribution</a:t>
            </a:r>
            <a:r>
              <a:rPr sz="140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65">
                <a:solidFill>
                  <a:srgbClr val="FFFFFF"/>
                </a:solidFill>
                <a:latin typeface="Times New Roman"/>
                <a:cs typeface="Times New Roman"/>
              </a:rPr>
              <a:t>CDF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344281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1373957"/>
            <a:ext cx="21075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200" spc="1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50">
                <a:solidFill>
                  <a:srgbClr val="FFFFFF"/>
                </a:solidFill>
                <a:latin typeface="Times New Roman"/>
                <a:cs typeface="Times New Roman"/>
              </a:rPr>
              <a:t>CDF</a:t>
            </a:r>
            <a:r>
              <a:rPr sz="1200" spc="1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200" spc="1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r>
              <a:rPr sz="1200" spc="1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>
                <a:solidFill>
                  <a:srgbClr val="FFFFFF"/>
                </a:solidFill>
                <a:latin typeface="Times New Roman"/>
                <a:cs typeface="Times New Roman"/>
              </a:rPr>
              <a:t>distribution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8006" y="1536274"/>
            <a:ext cx="4432935" cy="449419"/>
            <a:chOff x="87743" y="1519453"/>
            <a:chExt cx="4432935" cy="44941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4" y="1519453"/>
              <a:ext cx="4432565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43" y="1563742"/>
              <a:ext cx="4432935" cy="405130"/>
            </a:xfrm>
            <a:custGeom>
              <a:avLst/>
              <a:gdLst/>
              <a:ahLst/>
              <a:cxnLst/>
              <a:rect l="l" t="t" r="r" b="b"/>
              <a:pathLst>
                <a:path w="4432935" h="405130">
                  <a:moveTo>
                    <a:pt x="4432566" y="0"/>
                  </a:moveTo>
                  <a:lnTo>
                    <a:pt x="0" y="0"/>
                  </a:lnTo>
                  <a:lnTo>
                    <a:pt x="0" y="354161"/>
                  </a:lnTo>
                  <a:lnTo>
                    <a:pt x="4008" y="373885"/>
                  </a:lnTo>
                  <a:lnTo>
                    <a:pt x="14922" y="390038"/>
                  </a:lnTo>
                  <a:lnTo>
                    <a:pt x="31075" y="400952"/>
                  </a:lnTo>
                  <a:lnTo>
                    <a:pt x="50800" y="404961"/>
                  </a:lnTo>
                  <a:lnTo>
                    <a:pt x="4381765" y="404961"/>
                  </a:lnTo>
                  <a:lnTo>
                    <a:pt x="4401490" y="400952"/>
                  </a:lnTo>
                  <a:lnTo>
                    <a:pt x="4417643" y="390038"/>
                  </a:lnTo>
                  <a:lnTo>
                    <a:pt x="4428558" y="373885"/>
                  </a:lnTo>
                  <a:lnTo>
                    <a:pt x="4432566" y="3541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BEB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18/40</a:t>
            </a:r>
          </a:p>
        </p:txBody>
      </p:sp>
      <p:pic>
        <p:nvPicPr>
          <p:cNvPr id="27" name="Picture 26" descr="\documentclass{article}&#10;\usepackage{amsmath}&#10;\pagestyle{empty}&#10;\begin{document}&#10;&#10;$F_X(x) = P(X\leq x) = \int_{-\infty}^x \frac{1}{\sigma \sqrt{2\pi}}e^{-\frac{(t-\mu)^2}{2\sigma^2}}dt$&#10;&#10;&#10;\end{document}" title="IguanaTex Bitmap Display">
            <a:extLst>
              <a:ext uri="{FF2B5EF4-FFF2-40B4-BE49-F238E27FC236}">
                <a16:creationId xmlns:a16="http://schemas.microsoft.com/office/drawing/2014/main" id="{D7E11F21-7045-0E4A-595A-27DF482BAF9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95" y="1580563"/>
            <a:ext cx="3172868" cy="32253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98805">
              <a:lnSpc>
                <a:spcPct val="100000"/>
              </a:lnSpc>
              <a:spcBef>
                <a:spcPts val="135"/>
              </a:spcBef>
            </a:pPr>
            <a:r>
              <a:rPr spc="75"/>
              <a:t>The</a:t>
            </a:r>
            <a:r>
              <a:rPr spc="245"/>
              <a:t> </a:t>
            </a:r>
            <a:r>
              <a:t>Normal</a:t>
            </a:r>
            <a:r>
              <a:rPr spc="260"/>
              <a:t> </a:t>
            </a:r>
            <a:r>
              <a:rPr spc="45"/>
              <a:t>Distribution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47267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876930"/>
            <a:ext cx="324739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Normality</a:t>
            </a:r>
            <a:r>
              <a:rPr sz="1200" spc="1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200" spc="1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preserved</a:t>
            </a:r>
            <a:r>
              <a:rPr sz="1200" spc="1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1200" spc="1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Linear</a:t>
            </a:r>
            <a:r>
              <a:rPr sz="1200" spc="1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>
                <a:solidFill>
                  <a:srgbClr val="FFFFFF"/>
                </a:solidFill>
                <a:latin typeface="Times New Roman"/>
                <a:cs typeface="Times New Roman"/>
              </a:rPr>
              <a:t>Transformations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4967" y="1063011"/>
            <a:ext cx="4432935" cy="1681298"/>
            <a:chOff x="87743" y="1032980"/>
            <a:chExt cx="4432935" cy="1681298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32980"/>
              <a:ext cx="4432565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43" y="1077248"/>
              <a:ext cx="4432935" cy="1637030"/>
            </a:xfrm>
            <a:custGeom>
              <a:avLst/>
              <a:gdLst/>
              <a:ahLst/>
              <a:cxnLst/>
              <a:rect l="l" t="t" r="r" b="b"/>
              <a:pathLst>
                <a:path w="4432935" h="1637030">
                  <a:moveTo>
                    <a:pt x="4432566" y="0"/>
                  </a:moveTo>
                  <a:lnTo>
                    <a:pt x="0" y="0"/>
                  </a:lnTo>
                  <a:lnTo>
                    <a:pt x="0" y="1586182"/>
                  </a:lnTo>
                  <a:lnTo>
                    <a:pt x="4008" y="1605907"/>
                  </a:lnTo>
                  <a:lnTo>
                    <a:pt x="14922" y="1622060"/>
                  </a:lnTo>
                  <a:lnTo>
                    <a:pt x="31075" y="1632974"/>
                  </a:lnTo>
                  <a:lnTo>
                    <a:pt x="50800" y="1636982"/>
                  </a:lnTo>
                  <a:lnTo>
                    <a:pt x="4381765" y="1636982"/>
                  </a:lnTo>
                  <a:lnTo>
                    <a:pt x="4401490" y="1632974"/>
                  </a:lnTo>
                  <a:lnTo>
                    <a:pt x="4417643" y="1622060"/>
                  </a:lnTo>
                  <a:lnTo>
                    <a:pt x="4428558" y="1605907"/>
                  </a:lnTo>
                  <a:lnTo>
                    <a:pt x="4432566" y="1586182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BEB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6944" y="1066836"/>
            <a:ext cx="4472940" cy="16090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normal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variable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with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mean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µ</a:t>
            </a:r>
            <a:r>
              <a:rPr sz="1100" b="0" i="1" spc="-1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variance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σ</a:t>
            </a:r>
            <a:r>
              <a:rPr sz="1200" baseline="27777" dirty="0">
                <a:latin typeface="Trebuchet MS"/>
                <a:cs typeface="Trebuchet MS"/>
              </a:rPr>
              <a:t>2</a:t>
            </a:r>
            <a:r>
              <a:rPr sz="1100" dirty="0">
                <a:latin typeface="Book Antiqua"/>
                <a:cs typeface="Book Antiqua"/>
              </a:rPr>
              <a:t>,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if</a:t>
            </a:r>
            <a:endParaRPr sz="1100" dirty="0">
              <a:latin typeface="Book Antiqua"/>
              <a:cs typeface="Book Antiqua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100" b="0" i="1" spc="-114" dirty="0">
                <a:latin typeface="Bookman Old Style"/>
                <a:cs typeface="Bookman Old Style"/>
              </a:rPr>
              <a:t>a</a:t>
            </a:r>
            <a:r>
              <a:rPr sz="1100" b="0" i="1" spc="-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,</a:t>
            </a:r>
            <a:r>
              <a:rPr sz="1100" spc="-35" dirty="0">
                <a:latin typeface="Book Antiqua"/>
                <a:cs typeface="Book Antiqua"/>
              </a:rPr>
              <a:t> </a:t>
            </a:r>
            <a:r>
              <a:rPr sz="1100" b="0" i="1" spc="-204" dirty="0">
                <a:latin typeface="Bookman Old Style"/>
                <a:cs typeface="Bookman Old Style"/>
              </a:rPr>
              <a:t>b</a:t>
            </a:r>
            <a:r>
              <a:rPr sz="1100" b="0" i="1" spc="30" dirty="0">
                <a:latin typeface="Bookman Old Style"/>
                <a:cs typeface="Bookman Old Style"/>
              </a:rPr>
              <a:t> </a:t>
            </a:r>
            <a:r>
              <a:rPr lang="en-US" sz="1100" b="0" i="1" spc="30" dirty="0">
                <a:latin typeface="Bookman Old Style"/>
                <a:cs typeface="Bookman Old Style"/>
              </a:rPr>
              <a:t>  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scalars,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then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</a:t>
            </a:r>
            <a:endParaRPr sz="1100" dirty="0">
              <a:latin typeface="Book Antiqua"/>
              <a:cs typeface="Book Antiqua"/>
            </a:endParaRPr>
          </a:p>
          <a:p>
            <a:pPr marL="60960" algn="ctr">
              <a:lnSpc>
                <a:spcPct val="100000"/>
              </a:lnSpc>
              <a:spcBef>
                <a:spcPts val="1130"/>
              </a:spcBef>
            </a:pP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175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b="0" i="1" dirty="0" err="1">
                <a:latin typeface="Bookman Old Style"/>
                <a:cs typeface="Bookman Old Style"/>
              </a:rPr>
              <a:t>aX</a:t>
            </a:r>
            <a:r>
              <a:rPr sz="1100" b="0" i="1" spc="-25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45" dirty="0">
                <a:latin typeface="Book Antiqua"/>
                <a:cs typeface="Book Antiqua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b</a:t>
            </a:r>
            <a:endParaRPr sz="1100" dirty="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50" dirty="0">
              <a:latin typeface="Bookman Old Style"/>
              <a:cs typeface="Bookman Old Style"/>
            </a:endParaRPr>
          </a:p>
          <a:p>
            <a:pPr marL="100965">
              <a:lnSpc>
                <a:spcPct val="100000"/>
              </a:lnSpc>
            </a:pP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-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also</a:t>
            </a:r>
            <a:r>
              <a:rPr sz="1100" spc="-2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normal,</a:t>
            </a:r>
            <a:r>
              <a:rPr sz="1100" spc="-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with</a:t>
            </a:r>
            <a:r>
              <a:rPr sz="1100" spc="-2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mean</a:t>
            </a:r>
            <a:r>
              <a:rPr sz="1100" spc="-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-2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variance</a:t>
            </a:r>
            <a:endParaRPr sz="1100" dirty="0">
              <a:latin typeface="Book Antiqua"/>
              <a:cs typeface="Book Antiqua"/>
            </a:endParaRPr>
          </a:p>
          <a:p>
            <a:pPr marL="1820545" marR="1757680" indent="5715" algn="ctr">
              <a:lnSpc>
                <a:spcPct val="185700"/>
              </a:lnSpc>
            </a:pPr>
            <a:r>
              <a:rPr sz="1100" b="0" i="1" spc="-25" dirty="0">
                <a:latin typeface="Bookman Old Style"/>
                <a:cs typeface="Bookman Old Style"/>
              </a:rPr>
              <a:t>E</a:t>
            </a:r>
            <a:r>
              <a:rPr sz="1100" spc="-25" dirty="0">
                <a:latin typeface="Book Antiqua"/>
                <a:cs typeface="Book Antiqua"/>
              </a:rPr>
              <a:t>[</a:t>
            </a:r>
            <a:r>
              <a:rPr sz="1100" b="0" i="1" spc="-25" dirty="0">
                <a:latin typeface="Bookman Old Style"/>
                <a:cs typeface="Bookman Old Style"/>
              </a:rPr>
              <a:t>Y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]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b="0" i="1" spc="-55" dirty="0">
                <a:latin typeface="Bookman Old Style"/>
                <a:cs typeface="Bookman Old Style"/>
              </a:rPr>
              <a:t>aµ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40" dirty="0">
                <a:latin typeface="Book Antiqua"/>
                <a:cs typeface="Book Antiqua"/>
              </a:rPr>
              <a:t> </a:t>
            </a:r>
            <a:r>
              <a:rPr sz="1100" b="0" i="1" spc="-95" dirty="0">
                <a:latin typeface="Bookman Old Style"/>
                <a:cs typeface="Bookman Old Style"/>
              </a:rPr>
              <a:t>b </a:t>
            </a:r>
            <a:r>
              <a:rPr sz="1100" b="0" i="1" spc="-25" dirty="0">
                <a:latin typeface="Bookman Old Style"/>
                <a:cs typeface="Bookman Old Style"/>
              </a:rPr>
              <a:t>var</a:t>
            </a:r>
            <a:r>
              <a:rPr sz="1100" spc="-25" dirty="0">
                <a:latin typeface="Book Antiqua"/>
                <a:cs typeface="Book Antiqu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Y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Book Antiqua"/>
                <a:cs typeface="Book Antiqua"/>
              </a:rPr>
              <a:t>)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a</a:t>
            </a:r>
            <a:r>
              <a:rPr sz="1200" spc="-30" baseline="31250" dirty="0">
                <a:latin typeface="Trebuchet MS"/>
                <a:cs typeface="Trebuchet MS"/>
              </a:rPr>
              <a:t>2</a:t>
            </a:r>
            <a:r>
              <a:rPr sz="1100" b="0" i="1" spc="-20" dirty="0">
                <a:latin typeface="Bookman Old Style"/>
                <a:cs typeface="Bookman Old Style"/>
              </a:rPr>
              <a:t>σ</a:t>
            </a:r>
            <a:r>
              <a:rPr sz="1200" spc="-30" baseline="31250" dirty="0">
                <a:latin typeface="Trebuchet MS"/>
                <a:cs typeface="Trebuchet MS"/>
              </a:rPr>
              <a:t>2</a:t>
            </a:r>
            <a:endParaRPr sz="1200" baseline="31250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19/40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0195" y="62405"/>
            <a:ext cx="23882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70">
                <a:solidFill>
                  <a:srgbClr val="FFFFFF"/>
                </a:solidFill>
                <a:latin typeface="Times New Roman"/>
                <a:cs typeface="Times New Roman"/>
              </a:rPr>
              <a:t>Standard</a:t>
            </a:r>
            <a:r>
              <a:rPr sz="1400" spc="2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r>
              <a:rPr sz="1400" spc="2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40">
                <a:solidFill>
                  <a:srgbClr val="FFFFFF"/>
                </a:solidFill>
                <a:latin typeface="Times New Roman"/>
                <a:cs typeface="Times New Roman"/>
              </a:rPr>
              <a:t>Distribution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830211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48803" y="859873"/>
            <a:ext cx="23107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Standard</a:t>
            </a:r>
            <a:r>
              <a:rPr sz="1200" spc="3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r>
              <a:rPr sz="12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3143" y="1022529"/>
            <a:ext cx="4432935" cy="210661"/>
            <a:chOff x="87743" y="1005370"/>
            <a:chExt cx="4432935" cy="210661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05370"/>
              <a:ext cx="4432565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43" y="1049661"/>
              <a:ext cx="4432935" cy="166370"/>
            </a:xfrm>
            <a:custGeom>
              <a:avLst/>
              <a:gdLst/>
              <a:ahLst/>
              <a:cxnLst/>
              <a:rect l="l" t="t" r="r" b="b"/>
              <a:pathLst>
                <a:path w="4432935" h="166369">
                  <a:moveTo>
                    <a:pt x="4432566" y="0"/>
                  </a:moveTo>
                  <a:lnTo>
                    <a:pt x="0" y="0"/>
                  </a:lnTo>
                  <a:lnTo>
                    <a:pt x="0" y="115144"/>
                  </a:lnTo>
                  <a:lnTo>
                    <a:pt x="4008" y="134869"/>
                  </a:lnTo>
                  <a:lnTo>
                    <a:pt x="14922" y="151022"/>
                  </a:lnTo>
                  <a:lnTo>
                    <a:pt x="31075" y="161936"/>
                  </a:lnTo>
                  <a:lnTo>
                    <a:pt x="50800" y="165945"/>
                  </a:lnTo>
                  <a:lnTo>
                    <a:pt x="4381765" y="165945"/>
                  </a:lnTo>
                  <a:lnTo>
                    <a:pt x="4401490" y="161936"/>
                  </a:lnTo>
                  <a:lnTo>
                    <a:pt x="4417643" y="151022"/>
                  </a:lnTo>
                  <a:lnTo>
                    <a:pt x="4428558" y="134869"/>
                  </a:lnTo>
                  <a:lnTo>
                    <a:pt x="4432566" y="11514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BEB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38544" y="1019935"/>
            <a:ext cx="4432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3055">
              <a:lnSpc>
                <a:spcPct val="100000"/>
              </a:lnSpc>
              <a:spcBef>
                <a:spcPts val="90"/>
              </a:spcBef>
            </a:pPr>
            <a:r>
              <a:rPr sz="1100">
                <a:solidFill>
                  <a:srgbClr val="000000"/>
                </a:solidFill>
                <a:latin typeface="Book Antiqua"/>
                <a:cs typeface="Book Antiqua"/>
              </a:rPr>
              <a:t>A</a:t>
            </a:r>
            <a:r>
              <a:rPr sz="1100" spc="5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-20">
                <a:solidFill>
                  <a:srgbClr val="000000"/>
                </a:solidFill>
                <a:latin typeface="Book Antiqua"/>
                <a:cs typeface="Book Antiqua"/>
              </a:rPr>
              <a:t>normal</a:t>
            </a:r>
            <a:r>
              <a:rPr sz="1100" spc="1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-25">
                <a:solidFill>
                  <a:srgbClr val="000000"/>
                </a:solidFill>
                <a:latin typeface="Book Antiqua"/>
                <a:cs typeface="Book Antiqua"/>
              </a:rPr>
              <a:t>random</a:t>
            </a:r>
            <a:r>
              <a:rPr sz="1100" spc="5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-20">
                <a:solidFill>
                  <a:srgbClr val="000000"/>
                </a:solidFill>
                <a:latin typeface="Book Antiqua"/>
                <a:cs typeface="Book Antiqua"/>
              </a:rPr>
              <a:t>variable</a:t>
            </a:r>
            <a:r>
              <a:rPr sz="1100" spc="1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b="0" i="1">
                <a:solidFill>
                  <a:srgbClr val="000000"/>
                </a:solidFill>
                <a:latin typeface="Bookman Old Style"/>
                <a:cs typeface="Bookman Old Style"/>
              </a:rPr>
              <a:t>Y</a:t>
            </a:r>
            <a:r>
              <a:rPr sz="1100" b="0" i="1" spc="140">
                <a:solidFill>
                  <a:srgbClr val="000000"/>
                </a:solidFill>
                <a:latin typeface="Bookman Old Style"/>
                <a:cs typeface="Bookman Old Style"/>
              </a:rPr>
              <a:t> </a:t>
            </a:r>
            <a:r>
              <a:rPr sz="1100" spc="-10">
                <a:solidFill>
                  <a:srgbClr val="000000"/>
                </a:solidFill>
                <a:latin typeface="Book Antiqua"/>
                <a:cs typeface="Book Antiqua"/>
              </a:rPr>
              <a:t>with</a:t>
            </a:r>
            <a:r>
              <a:rPr sz="1100" spc="5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-10">
                <a:solidFill>
                  <a:srgbClr val="000000"/>
                </a:solidFill>
                <a:latin typeface="Book Antiqua"/>
                <a:cs typeface="Book Antiqua"/>
              </a:rPr>
              <a:t>mean</a:t>
            </a:r>
            <a:r>
              <a:rPr sz="1100" spc="5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-25">
                <a:solidFill>
                  <a:srgbClr val="000000"/>
                </a:solidFill>
                <a:latin typeface="Book Antiqua"/>
                <a:cs typeface="Book Antiqua"/>
              </a:rPr>
              <a:t>zero</a:t>
            </a:r>
            <a:r>
              <a:rPr sz="1100" spc="5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>
                <a:solidFill>
                  <a:srgbClr val="000000"/>
                </a:solidFill>
                <a:latin typeface="Book Antiqua"/>
                <a:cs typeface="Book Antiqua"/>
              </a:rPr>
              <a:t>and</a:t>
            </a:r>
            <a:r>
              <a:rPr sz="1100" spc="5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-25">
                <a:solidFill>
                  <a:srgbClr val="000000"/>
                </a:solidFill>
                <a:latin typeface="Book Antiqua"/>
                <a:cs typeface="Book Antiqua"/>
              </a:rPr>
              <a:t>variance</a:t>
            </a:r>
            <a:r>
              <a:rPr sz="1100" spc="5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-25">
                <a:solidFill>
                  <a:srgbClr val="000000"/>
                </a:solidFill>
                <a:latin typeface="Book Antiqua"/>
                <a:cs typeface="Book Antiqua"/>
              </a:rPr>
              <a:t>1.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16337" y="3353673"/>
            <a:ext cx="25781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20/40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135"/>
              </a:spcBef>
            </a:pPr>
            <a:r>
              <a:rPr spc="70"/>
              <a:t>Standard</a:t>
            </a:r>
            <a:r>
              <a:rPr spc="265"/>
              <a:t> </a:t>
            </a:r>
            <a:r>
              <a:t>Normal</a:t>
            </a:r>
            <a:r>
              <a:rPr spc="270"/>
              <a:t> </a:t>
            </a:r>
            <a:r>
              <a:rPr spc="40"/>
              <a:t>Distribution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30211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48803" y="859873"/>
            <a:ext cx="23107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Standard</a:t>
            </a:r>
            <a:r>
              <a:rPr sz="1200" spc="3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r>
              <a:rPr sz="12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744" y="1019935"/>
            <a:ext cx="44837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63855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A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normal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random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variable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Y</a:t>
            </a:r>
            <a:r>
              <a:rPr sz="1100" b="0" i="1" spc="140">
                <a:latin typeface="Bookman Old Style"/>
                <a:cs typeface="Bookman Old Style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mean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zero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variance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1.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7743" y="1367523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83513" y="1397198"/>
            <a:ext cx="284162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80">
                <a:solidFill>
                  <a:srgbClr val="FFFFFF"/>
                </a:solidFill>
                <a:latin typeface="Times New Roman"/>
                <a:cs typeface="Times New Roman"/>
              </a:rPr>
              <a:t>PDF</a:t>
            </a:r>
            <a:r>
              <a:rPr sz="120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200" spc="2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Standard</a:t>
            </a:r>
            <a:r>
              <a:rPr sz="120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r>
              <a:rPr sz="1200" spc="2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45539" y="2152035"/>
            <a:ext cx="19177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2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Times New Roman"/>
                <a:cs typeface="Times New Roman"/>
              </a:rPr>
              <a:t>CDF</a:t>
            </a:r>
            <a:r>
              <a:rPr sz="12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2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Times New Roman"/>
                <a:cs typeface="Times New Roman"/>
              </a:rPr>
              <a:t>standard</a:t>
            </a:r>
            <a:r>
              <a:rPr sz="12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80651" y="2219399"/>
            <a:ext cx="901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spc="254">
                <a:latin typeface="Lucida Sans"/>
                <a:cs typeface="Lucida Sans"/>
              </a:rPr>
              <a:t> 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216337" y="3353673"/>
            <a:ext cx="25781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20/40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51" name="Picture 50" descr="\documentclass{article}&#10;\usepackage{amsmath}&#10;\pagestyle{empty}&#10;\begin{document}&#10;&#10;&#10;$f_Y(y) = \frac{1}{\sqrt{2\pi}}e^{-\frac{y^2}{2}}$&#10;&#10;\end{document}" title="IguanaTex Bitmap Display">
            <a:extLst>
              <a:ext uri="{FF2B5EF4-FFF2-40B4-BE49-F238E27FC236}">
                <a16:creationId xmlns:a16="http://schemas.microsoft.com/office/drawing/2014/main" id="{A5B6AD11-2313-1E15-4D32-12FFA454CEB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299" y="1625360"/>
            <a:ext cx="1431771" cy="33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560000"/>
      </p:ext>
    </p:extLst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135"/>
              </a:spcBef>
            </a:pPr>
            <a:r>
              <a:rPr spc="70"/>
              <a:t>Standard</a:t>
            </a:r>
            <a:r>
              <a:rPr spc="265"/>
              <a:t> </a:t>
            </a:r>
            <a:r>
              <a:t>Normal</a:t>
            </a:r>
            <a:r>
              <a:rPr spc="270"/>
              <a:t> </a:t>
            </a:r>
            <a:r>
              <a:rPr spc="40"/>
              <a:t>Distribution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30211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48803" y="859873"/>
            <a:ext cx="23107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Standard</a:t>
            </a:r>
            <a:r>
              <a:rPr sz="1200" spc="3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r>
              <a:rPr sz="12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744" y="1019935"/>
            <a:ext cx="44837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63855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A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normal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random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variable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Y</a:t>
            </a:r>
            <a:r>
              <a:rPr sz="1100" b="0" i="1" spc="140">
                <a:latin typeface="Bookman Old Style"/>
                <a:cs typeface="Bookman Old Style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mean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zero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variance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1.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7743" y="1367523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83513" y="1397198"/>
            <a:ext cx="284162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80">
                <a:solidFill>
                  <a:srgbClr val="FFFFFF"/>
                </a:solidFill>
                <a:latin typeface="Times New Roman"/>
                <a:cs typeface="Times New Roman"/>
              </a:rPr>
              <a:t>PDF</a:t>
            </a:r>
            <a:r>
              <a:rPr sz="120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200" spc="2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Standard</a:t>
            </a:r>
            <a:r>
              <a:rPr sz="120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r>
              <a:rPr sz="1200" spc="2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7743" y="2122372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6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345539" y="2152035"/>
            <a:ext cx="19177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200" spc="1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50">
                <a:solidFill>
                  <a:srgbClr val="FFFFFF"/>
                </a:solidFill>
                <a:latin typeface="Times New Roman"/>
                <a:cs typeface="Times New Roman"/>
              </a:rPr>
              <a:t>CDF</a:t>
            </a:r>
            <a:r>
              <a:rPr sz="1200" spc="11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200" spc="1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50">
                <a:solidFill>
                  <a:srgbClr val="FFFFFF"/>
                </a:solidFill>
                <a:latin typeface="Times New Roman"/>
                <a:cs typeface="Times New Roman"/>
              </a:rPr>
              <a:t>standard</a:t>
            </a:r>
            <a:r>
              <a:rPr sz="1200" spc="11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80651" y="2219399"/>
            <a:ext cx="901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spc="254">
                <a:latin typeface="Lucida Sans"/>
                <a:cs typeface="Lucida Sans"/>
              </a:rPr>
              <a:t> 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216337" y="3353673"/>
            <a:ext cx="25781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20/40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51" name="Picture 50" descr="\documentclass{article}&#10;\usepackage{amsmath}&#10;\pagestyle{empty}&#10;\begin{document}&#10;&#10;&#10;$f_Y(y) = \frac{1}{\sqrt{2\pi}}e^{-\frac{y^2}{2}}$&#10;&#10;\end{document}" title="IguanaTex Bitmap Display">
            <a:extLst>
              <a:ext uri="{FF2B5EF4-FFF2-40B4-BE49-F238E27FC236}">
                <a16:creationId xmlns:a16="http://schemas.microsoft.com/office/drawing/2014/main" id="{A5B6AD11-2313-1E15-4D32-12FFA454CEB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299" y="1625360"/>
            <a:ext cx="1431771" cy="335315"/>
          </a:xfrm>
          <a:prstGeom prst="rect">
            <a:avLst/>
          </a:prstGeom>
        </p:spPr>
      </p:pic>
      <p:pic>
        <p:nvPicPr>
          <p:cNvPr id="53" name="Picture 52" descr="\documentclass{article}&#10;\usepackage{amsmath}&#10;\pagestyle{empty}&#10;\begin{document}&#10;&#10;$\Phi(y) = P(Y\leq y) = P(Y&lt; y)= \frac{1}{\sqrt{2\pi}}\int_{-\infty}^y e^{-t^2/2}dt$&#10;&#10;&#10;\end{document}" title="IguanaTex Bitmap Display">
            <a:extLst>
              <a:ext uri="{FF2B5EF4-FFF2-40B4-BE49-F238E27FC236}">
                <a16:creationId xmlns:a16="http://schemas.microsoft.com/office/drawing/2014/main" id="{A61A0EF1-A3B0-DBCA-1426-0DF030F2089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58" y="2466428"/>
            <a:ext cx="4169828" cy="2928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9449" y="62405"/>
            <a:ext cx="29495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75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400" spc="2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>
                <a:solidFill>
                  <a:srgbClr val="FFFFFF"/>
                </a:solidFill>
                <a:latin typeface="Times New Roman"/>
                <a:cs typeface="Times New Roman"/>
              </a:rPr>
              <a:t>Standard</a:t>
            </a:r>
            <a:r>
              <a:rPr sz="1400" spc="2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r>
              <a:rPr sz="1400" spc="2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Table</a:t>
            </a:r>
            <a:r>
              <a:rPr sz="1400" spc="2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(pg</a:t>
            </a:r>
            <a:r>
              <a:rPr sz="1400" spc="2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FFFFFF"/>
                </a:solidFill>
                <a:latin typeface="Times New Roman"/>
                <a:cs typeface="Times New Roman"/>
              </a:rPr>
              <a:t>155)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6310" y="494453"/>
            <a:ext cx="2711914" cy="275745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21/40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35"/>
              </a:spcBef>
            </a:pPr>
            <a:r>
              <a:rPr spc="75"/>
              <a:t>The</a:t>
            </a:r>
            <a:r>
              <a:rPr spc="235"/>
              <a:t> </a:t>
            </a:r>
            <a:r>
              <a:rPr spc="70"/>
              <a:t>Standard</a:t>
            </a:r>
            <a:r>
              <a:rPr spc="245"/>
              <a:t> </a:t>
            </a:r>
            <a:r>
              <a:t>Normal</a:t>
            </a:r>
            <a:r>
              <a:rPr spc="240"/>
              <a:t> </a:t>
            </a:r>
            <a:r>
              <a:t>Table</a:t>
            </a:r>
            <a:r>
              <a:rPr spc="245"/>
              <a:t> </a:t>
            </a:r>
            <a:r>
              <a:t>(pg</a:t>
            </a:r>
            <a:r>
              <a:rPr spc="245"/>
              <a:t> </a:t>
            </a:r>
            <a:r>
              <a:rPr spc="-20"/>
              <a:t>155)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502450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16965"/>
            <a:ext cx="35217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The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table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only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40">
                <a:latin typeface="Book Antiqua"/>
                <a:cs typeface="Book Antiqua"/>
              </a:rPr>
              <a:t>provides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values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Φ(</a:t>
            </a:r>
            <a:r>
              <a:rPr sz="1100" b="0" i="1">
                <a:latin typeface="Bookman Old Style"/>
                <a:cs typeface="Bookman Old Style"/>
              </a:rPr>
              <a:t>y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b="0" i="1" spc="-140">
                <a:latin typeface="Bookman Old Style"/>
                <a:cs typeface="Bookman Old Style"/>
              </a:rPr>
              <a:t>y</a:t>
            </a:r>
            <a:r>
              <a:rPr sz="1100" b="0" i="1" spc="10">
                <a:latin typeface="Bookman Old Style"/>
                <a:cs typeface="Bookman Old Style"/>
              </a:rPr>
              <a:t> </a:t>
            </a:r>
            <a:r>
              <a:rPr sz="1100" i="1" spc="110">
                <a:latin typeface="Garamond"/>
                <a:cs typeface="Garamond"/>
              </a:rPr>
              <a:t>≥</a:t>
            </a:r>
            <a:r>
              <a:rPr sz="1100" i="1" spc="-5">
                <a:latin typeface="Garamond"/>
                <a:cs typeface="Garamond"/>
              </a:rPr>
              <a:t> </a:t>
            </a:r>
            <a:r>
              <a:rPr sz="1100">
                <a:latin typeface="Book Antiqua"/>
                <a:cs typeface="Book Antiqua"/>
              </a:rPr>
              <a:t>0.</a:t>
            </a:r>
            <a:r>
              <a:rPr sz="1100" spc="15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The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932" y="519973"/>
            <a:ext cx="3921125" cy="70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815" marR="5080" indent="-158750">
              <a:lnSpc>
                <a:spcPct val="140400"/>
              </a:lnSpc>
              <a:spcBef>
                <a:spcPts val="100"/>
              </a:spcBef>
            </a:pPr>
            <a:r>
              <a:rPr sz="1100" spc="-25">
                <a:latin typeface="Book Antiqua"/>
                <a:cs typeface="Book Antiqua"/>
              </a:rPr>
              <a:t>remaining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values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can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found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using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symmetry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PDF </a:t>
            </a:r>
            <a:r>
              <a:rPr sz="1100">
                <a:latin typeface="Book Antiqua"/>
                <a:cs typeface="Book Antiqua"/>
              </a:rPr>
              <a:t>Φ(</a:t>
            </a:r>
            <a:r>
              <a:rPr sz="1100" i="1">
                <a:latin typeface="Garamond"/>
                <a:cs typeface="Garamond"/>
              </a:rPr>
              <a:t>−</a:t>
            </a:r>
            <a:r>
              <a:rPr sz="1100">
                <a:latin typeface="Book Antiqua"/>
                <a:cs typeface="Book Antiqua"/>
              </a:rPr>
              <a:t>1</a:t>
            </a:r>
            <a:r>
              <a:rPr sz="1100" b="0" i="1">
                <a:latin typeface="Bookman Old Style"/>
                <a:cs typeface="Bookman Old Style"/>
              </a:rPr>
              <a:t>.</a:t>
            </a:r>
            <a:r>
              <a:rPr sz="1100">
                <a:latin typeface="Book Antiqua"/>
                <a:cs typeface="Book Antiqua"/>
              </a:rPr>
              <a:t>96)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Y</a:t>
            </a:r>
            <a:r>
              <a:rPr sz="1100" b="0" i="1" spc="240">
                <a:latin typeface="Bookman Old Style"/>
                <a:cs typeface="Bookman Old Style"/>
              </a:rPr>
              <a:t> </a:t>
            </a:r>
            <a:r>
              <a:rPr sz="1100" i="1" spc="110">
                <a:latin typeface="Garamond"/>
                <a:cs typeface="Garamond"/>
              </a:rPr>
              <a:t>≤</a:t>
            </a:r>
            <a:r>
              <a:rPr sz="1100" i="1" spc="40">
                <a:latin typeface="Garamond"/>
                <a:cs typeface="Garamond"/>
              </a:rPr>
              <a:t> </a:t>
            </a:r>
            <a:r>
              <a:rPr sz="1100" i="1">
                <a:latin typeface="Garamond"/>
                <a:cs typeface="Garamond"/>
              </a:rPr>
              <a:t>−</a:t>
            </a:r>
            <a:r>
              <a:rPr sz="1100">
                <a:latin typeface="Book Antiqua"/>
                <a:cs typeface="Book Antiqua"/>
              </a:rPr>
              <a:t>1</a:t>
            </a:r>
            <a:r>
              <a:rPr sz="1100" b="0" i="1">
                <a:latin typeface="Bookman Old Style"/>
                <a:cs typeface="Bookman Old Style"/>
              </a:rPr>
              <a:t>.</a:t>
            </a:r>
            <a:r>
              <a:rPr sz="1100">
                <a:latin typeface="Book Antiqua"/>
                <a:cs typeface="Book Antiqua"/>
              </a:rPr>
              <a:t>96)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Y</a:t>
            </a:r>
            <a:r>
              <a:rPr sz="1100" b="0" i="1" spc="235">
                <a:latin typeface="Bookman Old Style"/>
                <a:cs typeface="Bookman Old Style"/>
              </a:rPr>
              <a:t> </a:t>
            </a:r>
            <a:r>
              <a:rPr sz="1100" i="1" spc="110">
                <a:latin typeface="Garamond"/>
                <a:cs typeface="Garamond"/>
              </a:rPr>
              <a:t>≥</a:t>
            </a:r>
            <a:r>
              <a:rPr sz="1100" i="1" spc="40">
                <a:latin typeface="Garamond"/>
                <a:cs typeface="Garamond"/>
              </a:rPr>
              <a:t> </a:t>
            </a:r>
            <a:r>
              <a:rPr sz="1100">
                <a:latin typeface="Book Antiqua"/>
                <a:cs typeface="Book Antiqua"/>
              </a:rPr>
              <a:t>1</a:t>
            </a:r>
            <a:r>
              <a:rPr sz="1100" b="0" i="1">
                <a:latin typeface="Bookman Old Style"/>
                <a:cs typeface="Bookman Old Style"/>
              </a:rPr>
              <a:t>.</a:t>
            </a:r>
            <a:r>
              <a:rPr sz="1100">
                <a:latin typeface="Book Antiqua"/>
                <a:cs typeface="Book Antiqua"/>
              </a:rPr>
              <a:t>96)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</a:t>
            </a:r>
            <a:r>
              <a:rPr sz="1100" spc="-25">
                <a:latin typeface="Book Antiqua"/>
                <a:cs typeface="Book Antiqua"/>
              </a:rPr>
              <a:t> </a:t>
            </a:r>
            <a:r>
              <a:rPr sz="1100" i="1" spc="110">
                <a:latin typeface="Garamond"/>
                <a:cs typeface="Garamond"/>
              </a:rPr>
              <a:t>−</a:t>
            </a:r>
            <a:r>
              <a:rPr sz="1100" i="1" spc="-20">
                <a:latin typeface="Garamond"/>
                <a:cs typeface="Garamond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Y</a:t>
            </a:r>
            <a:r>
              <a:rPr sz="1100" b="0" i="1" spc="240">
                <a:latin typeface="Bookman Old Style"/>
                <a:cs typeface="Bookman Old Style"/>
              </a:rPr>
              <a:t> </a:t>
            </a:r>
            <a:r>
              <a:rPr sz="1100" b="0" i="1" spc="180">
                <a:latin typeface="Bookman Old Style"/>
                <a:cs typeface="Bookman Old Style"/>
              </a:rPr>
              <a:t>&lt;</a:t>
            </a:r>
            <a:r>
              <a:rPr sz="1100" b="0" i="1" spc="-15">
                <a:latin typeface="Bookman Old Style"/>
                <a:cs typeface="Bookman Old Style"/>
              </a:rPr>
              <a:t> </a:t>
            </a:r>
            <a:r>
              <a:rPr sz="1100" spc="-10">
                <a:latin typeface="Book Antiqua"/>
                <a:cs typeface="Book Antiqua"/>
              </a:rPr>
              <a:t>1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96)</a:t>
            </a:r>
            <a:endParaRPr sz="1100">
              <a:latin typeface="Book Antiqua"/>
              <a:cs typeface="Book Antiqua"/>
            </a:endParaRPr>
          </a:p>
          <a:p>
            <a:pPr marL="770890">
              <a:lnSpc>
                <a:spcPct val="100000"/>
              </a:lnSpc>
              <a:spcBef>
                <a:spcPts val="335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</a:t>
            </a:r>
            <a:r>
              <a:rPr sz="1100" spc="-35">
                <a:latin typeface="Book Antiqua"/>
                <a:cs typeface="Book Antiqua"/>
              </a:rPr>
              <a:t> </a:t>
            </a:r>
            <a:r>
              <a:rPr sz="1100" i="1" spc="110">
                <a:latin typeface="Garamond"/>
                <a:cs typeface="Garamond"/>
              </a:rPr>
              <a:t>−</a:t>
            </a:r>
            <a:r>
              <a:rPr sz="1100" i="1" spc="-35">
                <a:latin typeface="Garamond"/>
                <a:cs typeface="Garamond"/>
              </a:rPr>
              <a:t> </a:t>
            </a:r>
            <a:r>
              <a:rPr sz="1100">
                <a:latin typeface="Book Antiqua"/>
                <a:cs typeface="Book Antiqua"/>
              </a:rPr>
              <a:t>Φ(1</a:t>
            </a:r>
            <a:r>
              <a:rPr sz="1100" b="0" i="1">
                <a:latin typeface="Bookman Old Style"/>
                <a:cs typeface="Bookman Old Style"/>
              </a:rPr>
              <a:t>.</a:t>
            </a:r>
            <a:r>
              <a:rPr sz="1100">
                <a:latin typeface="Book Antiqua"/>
                <a:cs typeface="Book Antiqua"/>
              </a:rPr>
              <a:t>96)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</a:t>
            </a:r>
            <a:r>
              <a:rPr sz="1100" spc="-35">
                <a:latin typeface="Book Antiqua"/>
                <a:cs typeface="Book Antiqua"/>
              </a:rPr>
              <a:t> </a:t>
            </a:r>
            <a:r>
              <a:rPr sz="1100" i="1" spc="110">
                <a:latin typeface="Garamond"/>
                <a:cs typeface="Garamond"/>
              </a:rPr>
              <a:t>−</a:t>
            </a:r>
            <a:r>
              <a:rPr sz="1100" i="1" spc="-40">
                <a:latin typeface="Garamond"/>
                <a:cs typeface="Garamond"/>
              </a:rPr>
              <a:t> </a:t>
            </a:r>
            <a:r>
              <a:rPr sz="1100">
                <a:latin typeface="Book Antiqua"/>
                <a:cs typeface="Book Antiqua"/>
              </a:rPr>
              <a:t>0</a:t>
            </a:r>
            <a:r>
              <a:rPr sz="1100" b="0" i="1">
                <a:latin typeface="Bookman Old Style"/>
                <a:cs typeface="Bookman Old Style"/>
              </a:rPr>
              <a:t>.</a:t>
            </a:r>
            <a:r>
              <a:rPr sz="1100">
                <a:latin typeface="Book Antiqua"/>
                <a:cs typeface="Book Antiqua"/>
              </a:rPr>
              <a:t>975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0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025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0647" y="1363821"/>
            <a:ext cx="2146075" cy="159865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22/40</a:t>
            </a: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9449" y="62405"/>
            <a:ext cx="29495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75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400" spc="2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>
                <a:solidFill>
                  <a:srgbClr val="FFFFFF"/>
                </a:solidFill>
                <a:latin typeface="Times New Roman"/>
                <a:cs typeface="Times New Roman"/>
              </a:rPr>
              <a:t>Standard</a:t>
            </a:r>
            <a:r>
              <a:rPr sz="1400" spc="2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r>
              <a:rPr sz="1400" spc="2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Table</a:t>
            </a:r>
            <a:r>
              <a:rPr sz="1400" spc="2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(pg</a:t>
            </a:r>
            <a:r>
              <a:rPr sz="1400" spc="2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FFFFFF"/>
                </a:solidFill>
                <a:latin typeface="Times New Roman"/>
                <a:cs typeface="Times New Roman"/>
              </a:rPr>
              <a:t>155)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6807" y="1514473"/>
            <a:ext cx="26498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>
                <a:latin typeface="Book Antiqua"/>
                <a:cs typeface="Book Antiqua"/>
              </a:rPr>
              <a:t>More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generally,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Φ(</a:t>
            </a:r>
            <a:r>
              <a:rPr sz="1100" i="1">
                <a:latin typeface="Garamond"/>
                <a:cs typeface="Garamond"/>
              </a:rPr>
              <a:t>−</a:t>
            </a:r>
            <a:r>
              <a:rPr sz="1100" b="0" i="1">
                <a:latin typeface="Bookman Old Style"/>
                <a:cs typeface="Bookman Old Style"/>
              </a:rPr>
              <a:t>y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</a:t>
            </a:r>
            <a:r>
              <a:rPr sz="1100" spc="-50">
                <a:latin typeface="Book Antiqua"/>
                <a:cs typeface="Book Antiqua"/>
              </a:rPr>
              <a:t> </a:t>
            </a:r>
            <a:r>
              <a:rPr sz="1100" i="1" spc="110">
                <a:latin typeface="Garamond"/>
                <a:cs typeface="Garamond"/>
              </a:rPr>
              <a:t>−</a:t>
            </a:r>
            <a:r>
              <a:rPr sz="1100" i="1" spc="-50">
                <a:latin typeface="Garamond"/>
                <a:cs typeface="Garamond"/>
              </a:rPr>
              <a:t> </a:t>
            </a:r>
            <a:r>
              <a:rPr sz="1100">
                <a:latin typeface="Book Antiqua"/>
                <a:cs typeface="Book Antiqua"/>
              </a:rPr>
              <a:t>Φ(</a:t>
            </a:r>
            <a:r>
              <a:rPr sz="1100" b="0" i="1">
                <a:latin typeface="Bookman Old Style"/>
                <a:cs typeface="Bookman Old Style"/>
              </a:rPr>
              <a:t>y</a:t>
            </a:r>
            <a:r>
              <a:rPr sz="1100">
                <a:latin typeface="Book Antiqua"/>
                <a:cs typeface="Book Antiqua"/>
              </a:rPr>
              <a:t>),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7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all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b="0" i="1" spc="-50">
                <a:latin typeface="Bookman Old Style"/>
                <a:cs typeface="Bookman Old Style"/>
              </a:rPr>
              <a:t>y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23/40</a:t>
            </a: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28345">
              <a:lnSpc>
                <a:spcPct val="100000"/>
              </a:lnSpc>
              <a:spcBef>
                <a:spcPts val="135"/>
              </a:spcBef>
            </a:pPr>
            <a:r>
              <a:rPr spc="75"/>
              <a:t>The</a:t>
            </a:r>
            <a:r>
              <a:rPr spc="235"/>
              <a:t> </a:t>
            </a:r>
            <a:r>
              <a:rPr spc="70"/>
              <a:t>Standard</a:t>
            </a:r>
            <a:r>
              <a:rPr spc="245"/>
              <a:t> </a:t>
            </a:r>
            <a:r>
              <a:t>Normal</a:t>
            </a:r>
            <a:r>
              <a:rPr spc="240"/>
              <a:t> </a:t>
            </a:r>
            <a:r>
              <a:t>Table</a:t>
            </a:r>
            <a:r>
              <a:rPr spc="245"/>
              <a:t> </a:t>
            </a:r>
            <a:r>
              <a:t>(pg</a:t>
            </a:r>
            <a:r>
              <a:rPr spc="245"/>
              <a:t> </a:t>
            </a:r>
            <a:r>
              <a:rPr spc="-20"/>
              <a:t>155)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285111"/>
            <a:ext cx="4356100" cy="7162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>
                <a:latin typeface="Book Antiqua"/>
                <a:cs typeface="Book Antiqua"/>
              </a:rPr>
              <a:t>In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almost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every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case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rest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our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lives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75">
                <a:latin typeface="Book Antiqua"/>
                <a:cs typeface="Book Antiqua"/>
              </a:rPr>
              <a:t>we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won’t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need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refer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50">
                <a:latin typeface="Book Antiqua"/>
                <a:cs typeface="Book Antiqua"/>
              </a:rPr>
              <a:t>a </a:t>
            </a:r>
            <a:r>
              <a:rPr sz="1100">
                <a:latin typeface="Book Antiqua"/>
                <a:cs typeface="Book Antiqua"/>
              </a:rPr>
              <a:t>table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like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this,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except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rare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example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old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text.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1100" spc="-10">
                <a:latin typeface="Book Antiqua"/>
                <a:cs typeface="Book Antiqua"/>
              </a:rPr>
              <a:t>Almost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any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modern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computer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platform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has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function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b="0" i="1" spc="55">
                <a:latin typeface="Bookman Old Style"/>
                <a:cs typeface="Bookman Old Style"/>
              </a:rPr>
              <a:t>Phi</a:t>
            </a:r>
            <a:r>
              <a:rPr sz="1100" spc="55">
                <a:latin typeface="Book Antiqua"/>
                <a:cs typeface="Book Antiqua"/>
              </a:rPr>
              <a:t>.</a:t>
            </a:r>
            <a:r>
              <a:rPr sz="1100" spc="11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Use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it.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16337" y="3353673"/>
            <a:ext cx="25781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24/40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5"/>
              <a:t>The</a:t>
            </a:r>
            <a:r>
              <a:rPr spc="204"/>
              <a:t> </a:t>
            </a:r>
            <a:r>
              <a:rPr spc="70"/>
              <a:t>Standard</a:t>
            </a:r>
            <a:r>
              <a:rPr spc="215"/>
              <a:t> </a:t>
            </a:r>
            <a:r>
              <a:t>Normal</a:t>
            </a:r>
            <a:r>
              <a:rPr spc="215"/>
              <a:t> </a:t>
            </a:r>
            <a:r>
              <a:t>RV:</a:t>
            </a:r>
            <a:r>
              <a:rPr spc="210"/>
              <a:t> </a:t>
            </a:r>
            <a:r>
              <a:rPr spc="45"/>
              <a:t>Probabilities</a:t>
            </a:r>
            <a:r>
              <a:rPr spc="204"/>
              <a:t> </a:t>
            </a:r>
            <a:r>
              <a:t>between</a:t>
            </a:r>
            <a:r>
              <a:rPr spc="215"/>
              <a:t> </a:t>
            </a:r>
            <a:r>
              <a:rPr spc="40"/>
              <a:t>Points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908138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22654"/>
            <a:ext cx="3673475" cy="502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80" dirty="0">
                <a:latin typeface="Bookman Old Style"/>
                <a:cs typeface="Bookman Old Style"/>
              </a:rPr>
              <a:t>a,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204" dirty="0">
                <a:latin typeface="Bookman Old Style"/>
                <a:cs typeface="Bookman Old Style"/>
              </a:rPr>
              <a:t>b</a:t>
            </a:r>
            <a:r>
              <a:rPr sz="1100" b="0" i="1" spc="30" dirty="0">
                <a:latin typeface="Bookman Old Style"/>
                <a:cs typeface="Bookman Old Style"/>
              </a:rPr>
              <a:t> </a:t>
            </a:r>
            <a:r>
              <a:rPr lang="en-US" sz="1100" b="0" i="1" spc="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scalars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that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represent</a:t>
            </a:r>
            <a:r>
              <a:rPr sz="1100" spc="7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spc="-55" dirty="0">
                <a:latin typeface="Book Antiqua"/>
                <a:cs typeface="Book Antiqua"/>
              </a:rPr>
              <a:t>lower/upper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boundaries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 dirty="0">
              <a:latin typeface="Book Antiqua"/>
              <a:cs typeface="Book Antiqua"/>
            </a:endParaRPr>
          </a:p>
          <a:p>
            <a:pPr marL="418465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(</a:t>
            </a:r>
            <a:r>
              <a:rPr sz="1100" b="0" i="1" spc="-10" dirty="0">
                <a:latin typeface="Bookman Old Style"/>
                <a:cs typeface="Bookman Old Style"/>
              </a:rPr>
              <a:t>a</a:t>
            </a:r>
            <a:r>
              <a:rPr sz="1100" b="0" i="1" spc="-65" dirty="0">
                <a:latin typeface="Bookman Old Style"/>
                <a:cs typeface="Bookman Old Style"/>
              </a:rPr>
              <a:t> </a:t>
            </a:r>
            <a:r>
              <a:rPr sz="1100" i="1" spc="110" dirty="0">
                <a:latin typeface="Garamond"/>
                <a:cs typeface="Garamond"/>
              </a:rPr>
              <a:t>≤</a:t>
            </a:r>
            <a:r>
              <a:rPr sz="1100" i="1" spc="20" dirty="0">
                <a:latin typeface="Garamond"/>
                <a:cs typeface="Garamond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190" dirty="0">
                <a:latin typeface="Bookman Old Style"/>
                <a:cs typeface="Bookman Old Style"/>
              </a:rPr>
              <a:t> </a:t>
            </a:r>
            <a:r>
              <a:rPr sz="1100" i="1" spc="110" dirty="0">
                <a:latin typeface="Garamond"/>
                <a:cs typeface="Garamond"/>
              </a:rPr>
              <a:t>≤</a:t>
            </a:r>
            <a:r>
              <a:rPr sz="1100" i="1" spc="15" dirty="0">
                <a:latin typeface="Garamond"/>
                <a:cs typeface="Garamond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b</a:t>
            </a:r>
            <a:r>
              <a:rPr sz="1100" spc="-50" dirty="0">
                <a:latin typeface="Book Antiqua"/>
                <a:cs typeface="Book Antiqua"/>
              </a:rPr>
              <a:t>)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190" dirty="0">
                <a:latin typeface="Bookman Old Style"/>
                <a:cs typeface="Bookman Old Style"/>
              </a:rPr>
              <a:t> </a:t>
            </a:r>
            <a:r>
              <a:rPr sz="1100" i="1" spc="110" dirty="0">
                <a:latin typeface="Garamond"/>
                <a:cs typeface="Garamond"/>
              </a:rPr>
              <a:t>≤</a:t>
            </a:r>
            <a:r>
              <a:rPr sz="1100" i="1" spc="15" dirty="0">
                <a:latin typeface="Garamond"/>
                <a:cs typeface="Garamond"/>
              </a:rPr>
              <a:t> </a:t>
            </a:r>
            <a:r>
              <a:rPr sz="1100" b="0" i="1" spc="-80" dirty="0">
                <a:latin typeface="Bookman Old Style"/>
                <a:cs typeface="Bookman Old Style"/>
              </a:rPr>
              <a:t>b</a:t>
            </a:r>
            <a:r>
              <a:rPr sz="1100" spc="-80" dirty="0">
                <a:latin typeface="Book Antiqua"/>
                <a:cs typeface="Book Antiqua"/>
              </a:rPr>
              <a:t>)</a:t>
            </a:r>
            <a:r>
              <a:rPr sz="1100" spc="-35" dirty="0">
                <a:latin typeface="Book Antiqua"/>
                <a:cs typeface="Book Antiqua"/>
              </a:rPr>
              <a:t> </a:t>
            </a:r>
            <a:r>
              <a:rPr sz="1100" i="1" spc="110" dirty="0">
                <a:latin typeface="Garamond"/>
                <a:cs typeface="Garamond"/>
              </a:rPr>
              <a:t>−</a:t>
            </a:r>
            <a:r>
              <a:rPr sz="1100" i="1" spc="-40" dirty="0">
                <a:latin typeface="Garamond"/>
                <a:cs typeface="Garamond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195" dirty="0">
                <a:latin typeface="Bookman Old Style"/>
                <a:cs typeface="Bookman Old Style"/>
              </a:rPr>
              <a:t> </a:t>
            </a:r>
            <a:r>
              <a:rPr sz="1100" i="1" spc="110" dirty="0">
                <a:latin typeface="Garamond"/>
                <a:cs typeface="Garamond"/>
              </a:rPr>
              <a:t>≤</a:t>
            </a:r>
            <a:r>
              <a:rPr sz="1100" i="1" spc="15" dirty="0">
                <a:latin typeface="Garamond"/>
                <a:cs typeface="Garamond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Φ(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Book Antiqua"/>
                <a:cs typeface="Book Antiqua"/>
              </a:rPr>
              <a:t>)</a:t>
            </a:r>
            <a:r>
              <a:rPr sz="1100" spc="-40" dirty="0">
                <a:latin typeface="Book Antiqua"/>
                <a:cs typeface="Book Antiqua"/>
              </a:rPr>
              <a:t> </a:t>
            </a:r>
            <a:r>
              <a:rPr sz="1100" i="1" spc="110" dirty="0">
                <a:latin typeface="Garamond"/>
                <a:cs typeface="Garamond"/>
              </a:rPr>
              <a:t>−</a:t>
            </a:r>
            <a:r>
              <a:rPr sz="1100" i="1" spc="-45" dirty="0">
                <a:latin typeface="Garamond"/>
                <a:cs typeface="Garamond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Φ(</a:t>
            </a:r>
            <a:r>
              <a:rPr sz="1100" b="0" i="1" spc="-20" dirty="0">
                <a:latin typeface="Bookman Old Style"/>
                <a:cs typeface="Bookman Old Style"/>
              </a:rPr>
              <a:t>a</a:t>
            </a:r>
            <a:r>
              <a:rPr sz="1100" spc="-20" dirty="0">
                <a:latin typeface="Book Antiqua"/>
                <a:cs typeface="Book Antiqua"/>
              </a:rPr>
              <a:t>)</a:t>
            </a:r>
            <a:endParaRPr sz="1100" dirty="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626" y="1585487"/>
            <a:ext cx="3464842" cy="70975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25/40</a:t>
            </a: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12725">
              <a:lnSpc>
                <a:spcPct val="100000"/>
              </a:lnSpc>
              <a:spcBef>
                <a:spcPts val="135"/>
              </a:spcBef>
            </a:pPr>
            <a:r>
              <a:rPr spc="75"/>
              <a:t>The</a:t>
            </a:r>
            <a:r>
              <a:rPr spc="210"/>
              <a:t> </a:t>
            </a:r>
            <a:r>
              <a:rPr spc="70"/>
              <a:t>Standard</a:t>
            </a:r>
            <a:r>
              <a:rPr spc="220"/>
              <a:t> </a:t>
            </a:r>
            <a:r>
              <a:t>Normal</a:t>
            </a:r>
            <a:r>
              <a:rPr spc="215"/>
              <a:t> </a:t>
            </a:r>
            <a:r>
              <a:rPr spc="45"/>
              <a:t>Distribution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416748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287485"/>
            <a:ext cx="3931920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5299"/>
              </a:lnSpc>
              <a:spcBef>
                <a:spcPts val="100"/>
              </a:spcBef>
            </a:pPr>
            <a:r>
              <a:rPr sz="1100" b="0" i="1" spc="35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50">
                <a:latin typeface="Book Antiqua"/>
                <a:cs typeface="Book Antiqua"/>
              </a:rPr>
              <a:t>(</a:t>
            </a:r>
            <a:r>
              <a:rPr sz="1100" i="1" spc="50">
                <a:latin typeface="Garamond"/>
                <a:cs typeface="Garamond"/>
              </a:rPr>
              <a:t>−</a:t>
            </a:r>
            <a:r>
              <a:rPr sz="1100" spc="50">
                <a:latin typeface="Book Antiqua"/>
                <a:cs typeface="Book Antiqua"/>
              </a:rPr>
              <a:t>1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b="0" i="1" spc="180">
                <a:latin typeface="Bookman Old Style"/>
                <a:cs typeface="Bookman Old Style"/>
              </a:rPr>
              <a:t>&lt;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b="0" i="1" spc="-95">
                <a:latin typeface="Bookman Old Style"/>
                <a:cs typeface="Bookman Old Style"/>
              </a:rPr>
              <a:t>Y</a:t>
            </a:r>
            <a:r>
              <a:rPr sz="1100" b="0" i="1" spc="210">
                <a:latin typeface="Bookman Old Style"/>
                <a:cs typeface="Bookman Old Style"/>
              </a:rPr>
              <a:t> </a:t>
            </a:r>
            <a:r>
              <a:rPr sz="1100" b="0" i="1" spc="180">
                <a:latin typeface="Bookman Old Style"/>
                <a:cs typeface="Bookman Old Style"/>
              </a:rPr>
              <a:t>&lt;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20">
                <a:latin typeface="Book Antiqua"/>
                <a:cs typeface="Book Antiqua"/>
              </a:rPr>
              <a:t>1)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b="0" i="1" spc="35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-20">
                <a:latin typeface="Book Antiqua"/>
                <a:cs typeface="Book Antiqua"/>
              </a:rPr>
              <a:t>(</a:t>
            </a:r>
            <a:r>
              <a:rPr sz="1100" b="0" i="1" spc="-20">
                <a:latin typeface="Bookman Old Style"/>
                <a:cs typeface="Bookman Old Style"/>
              </a:rPr>
              <a:t>Y</a:t>
            </a:r>
            <a:r>
              <a:rPr sz="1100" b="0" i="1" spc="210">
                <a:latin typeface="Bookman Old Style"/>
                <a:cs typeface="Bookman Old Style"/>
              </a:rPr>
              <a:t> </a:t>
            </a:r>
            <a:r>
              <a:rPr sz="1100" b="0" i="1" spc="180">
                <a:latin typeface="Bookman Old Style"/>
                <a:cs typeface="Bookman Old Style"/>
              </a:rPr>
              <a:t>&lt;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20">
                <a:latin typeface="Book Antiqua"/>
                <a:cs typeface="Book Antiqua"/>
              </a:rPr>
              <a:t>1)</a:t>
            </a:r>
            <a:r>
              <a:rPr sz="1100" spc="-35">
                <a:latin typeface="Book Antiqua"/>
                <a:cs typeface="Book Antiqua"/>
              </a:rPr>
              <a:t> </a:t>
            </a:r>
            <a:r>
              <a:rPr sz="1100" i="1" spc="110">
                <a:latin typeface="Garamond"/>
                <a:cs typeface="Garamond"/>
              </a:rPr>
              <a:t>−</a:t>
            </a:r>
            <a:r>
              <a:rPr sz="1100" i="1" spc="-35">
                <a:latin typeface="Garamond"/>
                <a:cs typeface="Garamond"/>
              </a:rPr>
              <a:t> </a:t>
            </a:r>
            <a:r>
              <a:rPr sz="1100" b="0" i="1" spc="35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-20">
                <a:latin typeface="Book Antiqua"/>
                <a:cs typeface="Book Antiqua"/>
              </a:rPr>
              <a:t>(</a:t>
            </a:r>
            <a:r>
              <a:rPr sz="1100" b="0" i="1" spc="-20">
                <a:latin typeface="Bookman Old Style"/>
                <a:cs typeface="Bookman Old Style"/>
              </a:rPr>
              <a:t>Y</a:t>
            </a:r>
            <a:r>
              <a:rPr sz="1100" b="0" i="1" spc="210">
                <a:latin typeface="Bookman Old Style"/>
                <a:cs typeface="Bookman Old Style"/>
              </a:rPr>
              <a:t> </a:t>
            </a:r>
            <a:r>
              <a:rPr sz="1100" b="0" i="1" spc="180">
                <a:latin typeface="Bookman Old Style"/>
                <a:cs typeface="Bookman Old Style"/>
              </a:rPr>
              <a:t>&lt;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i="1" spc="50">
                <a:latin typeface="Garamond"/>
                <a:cs typeface="Garamond"/>
              </a:rPr>
              <a:t>−</a:t>
            </a:r>
            <a:r>
              <a:rPr sz="1100" spc="50">
                <a:latin typeface="Book Antiqua"/>
                <a:cs typeface="Book Antiqua"/>
              </a:rPr>
              <a:t>1)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10">
                <a:latin typeface="Book Antiqua"/>
                <a:cs typeface="Book Antiqua"/>
              </a:rPr>
              <a:t>2Φ(1)</a:t>
            </a:r>
            <a:r>
              <a:rPr sz="1100" spc="-30">
                <a:latin typeface="Book Antiqua"/>
                <a:cs typeface="Book Antiqua"/>
              </a:rPr>
              <a:t> </a:t>
            </a:r>
            <a:r>
              <a:rPr sz="1100" i="1" spc="110">
                <a:latin typeface="Garamond"/>
                <a:cs typeface="Garamond"/>
              </a:rPr>
              <a:t>−</a:t>
            </a:r>
            <a:r>
              <a:rPr sz="1100" i="1" spc="-35">
                <a:latin typeface="Garamond"/>
                <a:cs typeface="Garamond"/>
              </a:rPr>
              <a:t> </a:t>
            </a:r>
            <a:r>
              <a:rPr sz="1100" spc="-10">
                <a:latin typeface="Book Antiqua"/>
                <a:cs typeface="Book Antiqua"/>
              </a:rPr>
              <a:t>1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5">
                <a:latin typeface="Book Antiqua"/>
                <a:cs typeface="Book Antiqua"/>
              </a:rPr>
              <a:t>0</a:t>
            </a:r>
            <a:r>
              <a:rPr sz="1100" b="0" i="1" spc="-15">
                <a:latin typeface="Bookman Old Style"/>
                <a:cs typeface="Bookman Old Style"/>
              </a:rPr>
              <a:t>.</a:t>
            </a:r>
            <a:r>
              <a:rPr sz="1100" spc="-15">
                <a:latin typeface="Book Antiqua"/>
                <a:cs typeface="Book Antiqua"/>
              </a:rPr>
              <a:t>6826</a:t>
            </a:r>
            <a:r>
              <a:rPr sz="1100" spc="-5">
                <a:latin typeface="Book Antiqua"/>
                <a:cs typeface="Book Antiqua"/>
              </a:rPr>
              <a:t> </a:t>
            </a:r>
            <a:r>
              <a:rPr sz="1100" b="0" i="1" spc="35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50">
                <a:latin typeface="Book Antiqua"/>
                <a:cs typeface="Book Antiqua"/>
              </a:rPr>
              <a:t>(</a:t>
            </a:r>
            <a:r>
              <a:rPr sz="1100" i="1" spc="50">
                <a:latin typeface="Garamond"/>
                <a:cs typeface="Garamond"/>
              </a:rPr>
              <a:t>−</a:t>
            </a:r>
            <a:r>
              <a:rPr sz="1100" spc="50">
                <a:latin typeface="Book Antiqua"/>
                <a:cs typeface="Book Antiqua"/>
              </a:rPr>
              <a:t>2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b="0" i="1" spc="180">
                <a:latin typeface="Bookman Old Style"/>
                <a:cs typeface="Bookman Old Style"/>
              </a:rPr>
              <a:t>&lt;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b="0" i="1" spc="-95">
                <a:latin typeface="Bookman Old Style"/>
                <a:cs typeface="Bookman Old Style"/>
              </a:rPr>
              <a:t>Y</a:t>
            </a:r>
            <a:r>
              <a:rPr sz="1100" b="0" i="1" spc="210">
                <a:latin typeface="Bookman Old Style"/>
                <a:cs typeface="Bookman Old Style"/>
              </a:rPr>
              <a:t> </a:t>
            </a:r>
            <a:r>
              <a:rPr sz="1100" b="0" i="1" spc="180">
                <a:latin typeface="Bookman Old Style"/>
                <a:cs typeface="Bookman Old Style"/>
              </a:rPr>
              <a:t>&lt;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20">
                <a:latin typeface="Book Antiqua"/>
                <a:cs typeface="Book Antiqua"/>
              </a:rPr>
              <a:t>2)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b="0" i="1" spc="35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-20">
                <a:latin typeface="Book Antiqua"/>
                <a:cs typeface="Book Antiqua"/>
              </a:rPr>
              <a:t>(</a:t>
            </a:r>
            <a:r>
              <a:rPr sz="1100" b="0" i="1" spc="-20">
                <a:latin typeface="Bookman Old Style"/>
                <a:cs typeface="Bookman Old Style"/>
              </a:rPr>
              <a:t>Y</a:t>
            </a:r>
            <a:r>
              <a:rPr sz="1100" b="0" i="1" spc="210">
                <a:latin typeface="Bookman Old Style"/>
                <a:cs typeface="Bookman Old Style"/>
              </a:rPr>
              <a:t> </a:t>
            </a:r>
            <a:r>
              <a:rPr sz="1100" b="0" i="1" spc="180">
                <a:latin typeface="Bookman Old Style"/>
                <a:cs typeface="Bookman Old Style"/>
              </a:rPr>
              <a:t>&lt;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20">
                <a:latin typeface="Book Antiqua"/>
                <a:cs typeface="Book Antiqua"/>
              </a:rPr>
              <a:t>2)</a:t>
            </a:r>
            <a:r>
              <a:rPr sz="1100" spc="-35">
                <a:latin typeface="Book Antiqua"/>
                <a:cs typeface="Book Antiqua"/>
              </a:rPr>
              <a:t> </a:t>
            </a:r>
            <a:r>
              <a:rPr sz="1100" i="1" spc="110">
                <a:latin typeface="Garamond"/>
                <a:cs typeface="Garamond"/>
              </a:rPr>
              <a:t>−</a:t>
            </a:r>
            <a:r>
              <a:rPr sz="1100" i="1" spc="-35">
                <a:latin typeface="Garamond"/>
                <a:cs typeface="Garamond"/>
              </a:rPr>
              <a:t> </a:t>
            </a:r>
            <a:r>
              <a:rPr sz="1100" b="0" i="1" spc="35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-20">
                <a:latin typeface="Book Antiqua"/>
                <a:cs typeface="Book Antiqua"/>
              </a:rPr>
              <a:t>(</a:t>
            </a:r>
            <a:r>
              <a:rPr sz="1100" b="0" i="1" spc="-20">
                <a:latin typeface="Bookman Old Style"/>
                <a:cs typeface="Bookman Old Style"/>
              </a:rPr>
              <a:t>Y</a:t>
            </a:r>
            <a:r>
              <a:rPr sz="1100" b="0" i="1" spc="210">
                <a:latin typeface="Bookman Old Style"/>
                <a:cs typeface="Bookman Old Style"/>
              </a:rPr>
              <a:t> </a:t>
            </a:r>
            <a:r>
              <a:rPr sz="1100" b="0" i="1" spc="180">
                <a:latin typeface="Bookman Old Style"/>
                <a:cs typeface="Bookman Old Style"/>
              </a:rPr>
              <a:t>&lt;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i="1" spc="50">
                <a:latin typeface="Garamond"/>
                <a:cs typeface="Garamond"/>
              </a:rPr>
              <a:t>−</a:t>
            </a:r>
            <a:r>
              <a:rPr sz="1100" spc="50">
                <a:latin typeface="Book Antiqua"/>
                <a:cs typeface="Book Antiqua"/>
              </a:rPr>
              <a:t>2)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10">
                <a:latin typeface="Book Antiqua"/>
                <a:cs typeface="Book Antiqua"/>
              </a:rPr>
              <a:t>2Φ(2)</a:t>
            </a:r>
            <a:r>
              <a:rPr sz="1100" spc="-30">
                <a:latin typeface="Book Antiqua"/>
                <a:cs typeface="Book Antiqua"/>
              </a:rPr>
              <a:t> </a:t>
            </a:r>
            <a:r>
              <a:rPr sz="1100" i="1" spc="110">
                <a:latin typeface="Garamond"/>
                <a:cs typeface="Garamond"/>
              </a:rPr>
              <a:t>−</a:t>
            </a:r>
            <a:r>
              <a:rPr sz="1100" i="1" spc="-35">
                <a:latin typeface="Garamond"/>
                <a:cs typeface="Garamond"/>
              </a:rPr>
              <a:t> </a:t>
            </a:r>
            <a:r>
              <a:rPr sz="1100" spc="-10">
                <a:latin typeface="Book Antiqua"/>
                <a:cs typeface="Book Antiqua"/>
              </a:rPr>
              <a:t>1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5">
                <a:latin typeface="Book Antiqua"/>
                <a:cs typeface="Book Antiqua"/>
              </a:rPr>
              <a:t>0</a:t>
            </a:r>
            <a:r>
              <a:rPr sz="1100" b="0" i="1" spc="-15">
                <a:latin typeface="Bookman Old Style"/>
                <a:cs typeface="Bookman Old Style"/>
              </a:rPr>
              <a:t>.</a:t>
            </a:r>
            <a:r>
              <a:rPr sz="1100" spc="-15">
                <a:latin typeface="Book Antiqua"/>
                <a:cs typeface="Book Antiqua"/>
              </a:rPr>
              <a:t>9544</a:t>
            </a:r>
            <a:r>
              <a:rPr sz="1100" spc="-5">
                <a:latin typeface="Book Antiqua"/>
                <a:cs typeface="Book Antiqua"/>
              </a:rPr>
              <a:t> </a:t>
            </a:r>
            <a:r>
              <a:rPr sz="1100" b="0" i="1" spc="35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50">
                <a:latin typeface="Book Antiqua"/>
                <a:cs typeface="Book Antiqua"/>
              </a:rPr>
              <a:t>(</a:t>
            </a:r>
            <a:r>
              <a:rPr sz="1100" i="1" spc="50">
                <a:latin typeface="Garamond"/>
                <a:cs typeface="Garamond"/>
              </a:rPr>
              <a:t>−</a:t>
            </a:r>
            <a:r>
              <a:rPr sz="1100" spc="50">
                <a:latin typeface="Book Antiqua"/>
                <a:cs typeface="Book Antiqua"/>
              </a:rPr>
              <a:t>3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b="0" i="1" spc="180">
                <a:latin typeface="Bookman Old Style"/>
                <a:cs typeface="Bookman Old Style"/>
              </a:rPr>
              <a:t>&lt;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b="0" i="1" spc="-95">
                <a:latin typeface="Bookman Old Style"/>
                <a:cs typeface="Bookman Old Style"/>
              </a:rPr>
              <a:t>Y</a:t>
            </a:r>
            <a:r>
              <a:rPr sz="1100" b="0" i="1" spc="210">
                <a:latin typeface="Bookman Old Style"/>
                <a:cs typeface="Bookman Old Style"/>
              </a:rPr>
              <a:t> </a:t>
            </a:r>
            <a:r>
              <a:rPr sz="1100" b="0" i="1" spc="180">
                <a:latin typeface="Bookman Old Style"/>
                <a:cs typeface="Bookman Old Style"/>
              </a:rPr>
              <a:t>&lt;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20">
                <a:latin typeface="Book Antiqua"/>
                <a:cs typeface="Book Antiqua"/>
              </a:rPr>
              <a:t>3)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b="0" i="1" spc="35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-20">
                <a:latin typeface="Book Antiqua"/>
                <a:cs typeface="Book Antiqua"/>
              </a:rPr>
              <a:t>(</a:t>
            </a:r>
            <a:r>
              <a:rPr sz="1100" b="0" i="1" spc="-20">
                <a:latin typeface="Bookman Old Style"/>
                <a:cs typeface="Bookman Old Style"/>
              </a:rPr>
              <a:t>Y</a:t>
            </a:r>
            <a:r>
              <a:rPr sz="1100" b="0" i="1" spc="210">
                <a:latin typeface="Bookman Old Style"/>
                <a:cs typeface="Bookman Old Style"/>
              </a:rPr>
              <a:t> </a:t>
            </a:r>
            <a:r>
              <a:rPr sz="1100" b="0" i="1" spc="180">
                <a:latin typeface="Bookman Old Style"/>
                <a:cs typeface="Bookman Old Style"/>
              </a:rPr>
              <a:t>&lt;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20">
                <a:latin typeface="Book Antiqua"/>
                <a:cs typeface="Book Antiqua"/>
              </a:rPr>
              <a:t>3)</a:t>
            </a:r>
            <a:r>
              <a:rPr sz="1100" spc="-35">
                <a:latin typeface="Book Antiqua"/>
                <a:cs typeface="Book Antiqua"/>
              </a:rPr>
              <a:t> </a:t>
            </a:r>
            <a:r>
              <a:rPr sz="1100" i="1" spc="110">
                <a:latin typeface="Garamond"/>
                <a:cs typeface="Garamond"/>
              </a:rPr>
              <a:t>−</a:t>
            </a:r>
            <a:r>
              <a:rPr sz="1100" i="1" spc="-35">
                <a:latin typeface="Garamond"/>
                <a:cs typeface="Garamond"/>
              </a:rPr>
              <a:t> </a:t>
            </a:r>
            <a:r>
              <a:rPr sz="1100" b="0" i="1" spc="35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-20">
                <a:latin typeface="Book Antiqua"/>
                <a:cs typeface="Book Antiqua"/>
              </a:rPr>
              <a:t>(</a:t>
            </a:r>
            <a:r>
              <a:rPr sz="1100" b="0" i="1" spc="-20">
                <a:latin typeface="Bookman Old Style"/>
                <a:cs typeface="Bookman Old Style"/>
              </a:rPr>
              <a:t>Y</a:t>
            </a:r>
            <a:r>
              <a:rPr sz="1100" b="0" i="1" spc="210">
                <a:latin typeface="Bookman Old Style"/>
                <a:cs typeface="Bookman Old Style"/>
              </a:rPr>
              <a:t> </a:t>
            </a:r>
            <a:r>
              <a:rPr sz="1100" b="0" i="1" spc="180">
                <a:latin typeface="Bookman Old Style"/>
                <a:cs typeface="Bookman Old Style"/>
              </a:rPr>
              <a:t>&lt;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i="1" spc="50">
                <a:latin typeface="Garamond"/>
                <a:cs typeface="Garamond"/>
              </a:rPr>
              <a:t>−</a:t>
            </a:r>
            <a:r>
              <a:rPr sz="1100" spc="50">
                <a:latin typeface="Book Antiqua"/>
                <a:cs typeface="Book Antiqua"/>
              </a:rPr>
              <a:t>3)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10">
                <a:latin typeface="Book Antiqua"/>
                <a:cs typeface="Book Antiqua"/>
              </a:rPr>
              <a:t>2Φ(3)</a:t>
            </a:r>
            <a:r>
              <a:rPr sz="1100" spc="-30">
                <a:latin typeface="Book Antiqua"/>
                <a:cs typeface="Book Antiqua"/>
              </a:rPr>
              <a:t> </a:t>
            </a:r>
            <a:r>
              <a:rPr sz="1100" i="1" spc="110">
                <a:latin typeface="Garamond"/>
                <a:cs typeface="Garamond"/>
              </a:rPr>
              <a:t>−</a:t>
            </a:r>
            <a:r>
              <a:rPr sz="1100" i="1" spc="-35">
                <a:latin typeface="Garamond"/>
                <a:cs typeface="Garamond"/>
              </a:rPr>
              <a:t> </a:t>
            </a:r>
            <a:r>
              <a:rPr sz="1100" spc="-10">
                <a:latin typeface="Book Antiqua"/>
                <a:cs typeface="Book Antiqua"/>
              </a:rPr>
              <a:t>1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5">
                <a:latin typeface="Book Antiqua"/>
                <a:cs typeface="Book Antiqua"/>
              </a:rPr>
              <a:t>0</a:t>
            </a:r>
            <a:r>
              <a:rPr sz="1100" b="0" i="1" spc="-15">
                <a:latin typeface="Bookman Old Style"/>
                <a:cs typeface="Bookman Old Style"/>
              </a:rPr>
              <a:t>.</a:t>
            </a:r>
            <a:r>
              <a:rPr sz="1100" spc="-15">
                <a:latin typeface="Book Antiqua"/>
                <a:cs typeface="Book Antiqua"/>
              </a:rPr>
              <a:t>9974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626781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836813"/>
            <a:ext cx="63233" cy="6323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26/40</a:t>
            </a: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0"/>
              <a:t>Standardize</a:t>
            </a:r>
            <a:r>
              <a:rPr spc="195"/>
              <a:t> </a:t>
            </a:r>
            <a:r>
              <a:rPr spc="70"/>
              <a:t>a</a:t>
            </a:r>
            <a:r>
              <a:rPr spc="200"/>
              <a:t> </a:t>
            </a:r>
            <a:r>
              <a:t>Normal</a:t>
            </a:r>
            <a:r>
              <a:rPr spc="200"/>
              <a:t> </a:t>
            </a:r>
            <a:r>
              <a:rPr spc="60"/>
              <a:t>Random</a:t>
            </a:r>
            <a:r>
              <a:rPr spc="195"/>
              <a:t> </a:t>
            </a:r>
            <a:r>
              <a:rPr spc="-1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932077"/>
            <a:ext cx="436245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>
                <a:latin typeface="Book Antiqua"/>
                <a:cs typeface="Book Antiqua"/>
              </a:rPr>
              <a:t>Let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7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be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normal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random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variable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mean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µ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variance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σ</a:t>
            </a:r>
            <a:r>
              <a:rPr sz="1200" baseline="27777">
                <a:latin typeface="Trebuchet MS"/>
                <a:cs typeface="Trebuchet MS"/>
              </a:rPr>
              <a:t>2</a:t>
            </a:r>
            <a:r>
              <a:rPr sz="1100">
                <a:latin typeface="Book Antiqua"/>
                <a:cs typeface="Book Antiqua"/>
              </a:rPr>
              <a:t>.</a:t>
            </a:r>
            <a:r>
              <a:rPr sz="1100" spc="16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We “standardize”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5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by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defining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new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random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variable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Y</a:t>
            </a:r>
            <a:r>
              <a:rPr sz="1100" b="0" i="1" spc="180">
                <a:latin typeface="Bookman Old Style"/>
                <a:cs typeface="Bookman Old Style"/>
              </a:rPr>
              <a:t> </a:t>
            </a:r>
            <a:r>
              <a:rPr sz="1100" spc="-35">
                <a:latin typeface="Book Antiqua"/>
                <a:cs typeface="Book Antiqua"/>
              </a:rPr>
              <a:t>given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by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38908" y="1377593"/>
            <a:ext cx="715010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23215">
              <a:lnSpc>
                <a:spcPts val="1030"/>
              </a:lnSpc>
              <a:spcBef>
                <a:spcPts val="90"/>
              </a:spcBef>
            </a:pPr>
            <a:r>
              <a:rPr sz="1100" b="0" i="1" u="sng" spc="13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X</a:t>
            </a:r>
            <a:r>
              <a:rPr sz="1100" b="0" i="1" u="sng" spc="-5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100" i="1" u="sng" spc="11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−</a:t>
            </a:r>
            <a:r>
              <a:rPr sz="1100" i="1" spc="-35">
                <a:latin typeface="Garamond"/>
                <a:cs typeface="Garamond"/>
              </a:rPr>
              <a:t> </a:t>
            </a:r>
            <a:r>
              <a:rPr sz="1100" b="0" i="1" u="sng" spc="-5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µ</a:t>
            </a:r>
            <a:endParaRPr sz="1100">
              <a:latin typeface="Bookman Old Style"/>
              <a:cs typeface="Bookman Old Style"/>
            </a:endParaRPr>
          </a:p>
          <a:p>
            <a:pPr marL="12700">
              <a:lnSpc>
                <a:spcPts val="1030"/>
              </a:lnSpc>
            </a:pPr>
            <a:r>
              <a:rPr sz="1100" b="0" i="1">
                <a:latin typeface="Bookman Old Style"/>
                <a:cs typeface="Bookman Old Style"/>
              </a:rPr>
              <a:t>Y</a:t>
            </a:r>
            <a:r>
              <a:rPr sz="1100" b="0" i="1" spc="114">
                <a:latin typeface="Bookman Old Style"/>
                <a:cs typeface="Bookman Old Style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7201" y="1566353"/>
            <a:ext cx="1047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25">
                <a:latin typeface="Bookman Old Style"/>
                <a:cs typeface="Bookman Old Style"/>
              </a:rPr>
              <a:t>σ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6337" y="3353673"/>
            <a:ext cx="25781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27/40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0"/>
              <a:t>Standardize</a:t>
            </a:r>
            <a:r>
              <a:rPr spc="195"/>
              <a:t> </a:t>
            </a:r>
            <a:r>
              <a:rPr spc="70"/>
              <a:t>a</a:t>
            </a:r>
            <a:r>
              <a:rPr spc="200"/>
              <a:t> </a:t>
            </a:r>
            <a:r>
              <a:t>Normal</a:t>
            </a:r>
            <a:r>
              <a:rPr spc="200"/>
              <a:t> </a:t>
            </a:r>
            <a:r>
              <a:rPr spc="60"/>
              <a:t>Random</a:t>
            </a:r>
            <a:r>
              <a:rPr spc="195"/>
              <a:t> </a:t>
            </a:r>
            <a:r>
              <a:rPr spc="-10"/>
              <a:t>Variable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759739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674254"/>
            <a:ext cx="413004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>
                <a:latin typeface="Book Antiqua"/>
                <a:cs typeface="Book Antiqua"/>
              </a:rPr>
              <a:t>Let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5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be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normal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random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variable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mean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µ</a:t>
            </a:r>
            <a:r>
              <a:rPr sz="1100" b="0" i="1" spc="-2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variance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σ</a:t>
            </a:r>
            <a:r>
              <a:rPr sz="1200" spc="-37" baseline="27777">
                <a:latin typeface="Trebuchet MS"/>
                <a:cs typeface="Trebuchet MS"/>
              </a:rPr>
              <a:t>2</a:t>
            </a:r>
            <a:r>
              <a:rPr sz="1100" spc="-25">
                <a:latin typeface="Book Antiqua"/>
                <a:cs typeface="Book Antiqua"/>
              </a:rPr>
              <a:t>. </a:t>
            </a:r>
            <a:r>
              <a:rPr sz="1100" spc="-10">
                <a:latin typeface="Book Antiqua"/>
                <a:cs typeface="Book Antiqua"/>
              </a:rPr>
              <a:t>We</a:t>
            </a:r>
            <a:r>
              <a:rPr sz="110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“standardize”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2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by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40">
                <a:latin typeface="Book Antiqua"/>
                <a:cs typeface="Book Antiqua"/>
              </a:rPr>
              <a:t>defining</a:t>
            </a:r>
            <a:r>
              <a:rPr sz="1100">
                <a:latin typeface="Book Antiqua"/>
                <a:cs typeface="Book Antiqua"/>
              </a:rPr>
              <a:t> a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50">
                <a:latin typeface="Book Antiqua"/>
                <a:cs typeface="Book Antiqua"/>
              </a:rPr>
              <a:t>new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random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variable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Y</a:t>
            </a:r>
            <a:r>
              <a:rPr sz="1100" b="0" i="1" spc="150">
                <a:latin typeface="Bookman Old Style"/>
                <a:cs typeface="Bookman Old Style"/>
              </a:rPr>
              <a:t> </a:t>
            </a:r>
            <a:r>
              <a:rPr sz="1100" spc="-35">
                <a:latin typeface="Book Antiqua"/>
                <a:cs typeface="Book Antiqua"/>
              </a:rPr>
              <a:t>given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by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77453" y="1119770"/>
            <a:ext cx="715010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23215">
              <a:lnSpc>
                <a:spcPts val="1030"/>
              </a:lnSpc>
              <a:spcBef>
                <a:spcPts val="90"/>
              </a:spcBef>
            </a:pPr>
            <a:r>
              <a:rPr sz="1100" b="0" i="1" u="sng" spc="13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X</a:t>
            </a:r>
            <a:r>
              <a:rPr sz="1100" b="0" i="1" u="sng" spc="-5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100" i="1" u="sng" spc="11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−</a:t>
            </a:r>
            <a:r>
              <a:rPr sz="1100" i="1" spc="-35">
                <a:latin typeface="Garamond"/>
                <a:cs typeface="Garamond"/>
              </a:rPr>
              <a:t> </a:t>
            </a:r>
            <a:r>
              <a:rPr sz="1100" b="0" i="1" u="sng" spc="-5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µ</a:t>
            </a:r>
            <a:endParaRPr sz="1100">
              <a:latin typeface="Bookman Old Style"/>
              <a:cs typeface="Bookman Old Style"/>
            </a:endParaRPr>
          </a:p>
          <a:p>
            <a:pPr marL="12700">
              <a:lnSpc>
                <a:spcPts val="1030"/>
              </a:lnSpc>
            </a:pPr>
            <a:r>
              <a:rPr sz="1100" b="0" i="1">
                <a:latin typeface="Bookman Old Style"/>
                <a:cs typeface="Bookman Old Style"/>
              </a:rPr>
              <a:t>Y</a:t>
            </a:r>
            <a:r>
              <a:rPr sz="1100" b="0" i="1" spc="114">
                <a:latin typeface="Bookman Old Style"/>
                <a:cs typeface="Bookman Old Style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1226741"/>
            <a:ext cx="2242820" cy="521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32330">
              <a:lnSpc>
                <a:spcPct val="148000"/>
              </a:lnSpc>
              <a:spcBef>
                <a:spcPts val="100"/>
              </a:spcBef>
            </a:pPr>
            <a:r>
              <a:rPr sz="1100" b="0" i="1" spc="-50">
                <a:latin typeface="Bookman Old Style"/>
                <a:cs typeface="Bookman Old Style"/>
              </a:rPr>
              <a:t>σ </a:t>
            </a:r>
            <a:r>
              <a:rPr sz="1100" b="0" i="1">
                <a:latin typeface="Bookman Old Style"/>
                <a:cs typeface="Bookman Old Style"/>
              </a:rPr>
              <a:t>Y</a:t>
            </a:r>
            <a:r>
              <a:rPr sz="1100" b="0" i="1" spc="12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is </a:t>
            </a:r>
            <a:r>
              <a:rPr sz="1100" spc="-20">
                <a:latin typeface="Book Antiqua"/>
                <a:cs typeface="Book Antiqua"/>
              </a:rPr>
              <a:t>normal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mean</a:t>
            </a:r>
            <a:r>
              <a:rPr sz="1100">
                <a:latin typeface="Book Antiqua"/>
                <a:cs typeface="Book Antiqua"/>
              </a:rPr>
              <a:t> and </a:t>
            </a:r>
            <a:r>
              <a:rPr sz="1100" spc="-30">
                <a:latin typeface="Book Antiqua"/>
                <a:cs typeface="Book Antiqua"/>
              </a:rPr>
              <a:t>variance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642059"/>
            <a:ext cx="63233" cy="632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729854" y="2001074"/>
            <a:ext cx="1047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25">
                <a:latin typeface="Bookman Old Style"/>
                <a:cs typeface="Bookman Old Style"/>
              </a:rPr>
              <a:t>σ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0714" y="1812314"/>
            <a:ext cx="1397635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10540">
              <a:lnSpc>
                <a:spcPts val="1030"/>
              </a:lnSpc>
              <a:spcBef>
                <a:spcPts val="90"/>
              </a:spcBef>
            </a:pPr>
            <a:r>
              <a:rPr sz="1100" b="0" i="1" u="sng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E</a:t>
            </a:r>
            <a:r>
              <a:rPr sz="1100" u="sng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[</a:t>
            </a:r>
            <a:r>
              <a:rPr sz="1100" b="0" i="1" u="sng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X</a:t>
            </a:r>
            <a:r>
              <a:rPr sz="1100" u="sng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]</a:t>
            </a:r>
            <a:r>
              <a:rPr sz="1100" u="sng" spc="6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100" i="1" u="sng" spc="11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−</a:t>
            </a:r>
            <a:r>
              <a:rPr sz="1100" i="1" spc="65">
                <a:latin typeface="Garamond"/>
                <a:cs typeface="Garamond"/>
              </a:rPr>
              <a:t> </a:t>
            </a:r>
            <a:r>
              <a:rPr sz="1100" b="0" i="1" u="sng" spc="-5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µ</a:t>
            </a:r>
            <a:endParaRPr sz="1100">
              <a:latin typeface="Bookman Old Style"/>
              <a:cs typeface="Bookman Old Style"/>
            </a:endParaRPr>
          </a:p>
          <a:p>
            <a:pPr marL="12700">
              <a:lnSpc>
                <a:spcPts val="1030"/>
              </a:lnSpc>
              <a:tabLst>
                <a:tab pos="1130300" algn="l"/>
              </a:tabLst>
            </a:pPr>
            <a:r>
              <a:rPr sz="1100" b="0" i="1" spc="-25">
                <a:latin typeface="Bookman Old Style"/>
                <a:cs typeface="Bookman Old Style"/>
              </a:rPr>
              <a:t>E</a:t>
            </a:r>
            <a:r>
              <a:rPr sz="1100" spc="-25">
                <a:latin typeface="Book Antiqua"/>
                <a:cs typeface="Book Antiqua"/>
              </a:rPr>
              <a:t>[</a:t>
            </a:r>
            <a:r>
              <a:rPr sz="1100" b="0" i="1" spc="-25">
                <a:latin typeface="Bookman Old Style"/>
                <a:cs typeface="Bookman Old Style"/>
              </a:rPr>
              <a:t>Y</a:t>
            </a:r>
            <a:r>
              <a:rPr sz="1100" b="0" i="1" spc="-9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]</a:t>
            </a:r>
            <a:r>
              <a:rPr sz="1100" spc="-1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0</a:t>
            </a:r>
            <a:r>
              <a:rPr sz="1100" b="0" i="1" spc="-25">
                <a:latin typeface="Bookman Old Style"/>
                <a:cs typeface="Bookman Old Style"/>
              </a:rPr>
              <a:t>,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67367" y="2022652"/>
            <a:ext cx="445134" cy="0"/>
          </a:xfrm>
          <a:custGeom>
            <a:avLst/>
            <a:gdLst/>
            <a:ahLst/>
            <a:cxnLst/>
            <a:rect l="l" t="t" r="r" b="b"/>
            <a:pathLst>
              <a:path w="445135">
                <a:moveTo>
                  <a:pt x="0" y="0"/>
                </a:moveTo>
                <a:lnTo>
                  <a:pt x="4451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279711" y="1961056"/>
            <a:ext cx="21462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="0" i="1" spc="-37" baseline="-15151">
                <a:latin typeface="Bookman Old Style"/>
                <a:cs typeface="Bookman Old Style"/>
              </a:rPr>
              <a:t>σ</a:t>
            </a:r>
            <a:r>
              <a:rPr sz="800" spc="-25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24118" y="1812314"/>
            <a:ext cx="1370330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42620">
              <a:lnSpc>
                <a:spcPts val="1030"/>
              </a:lnSpc>
              <a:spcBef>
                <a:spcPts val="90"/>
              </a:spcBef>
            </a:pPr>
            <a:r>
              <a:rPr sz="1100" b="0" i="1" spc="-10">
                <a:latin typeface="Bookman Old Style"/>
                <a:cs typeface="Bookman Old Style"/>
              </a:rPr>
              <a:t>var</a:t>
            </a:r>
            <a:r>
              <a:rPr sz="1100" spc="-10">
                <a:latin typeface="Book Antiqua"/>
                <a:cs typeface="Book Antiqua"/>
              </a:rPr>
              <a:t>(</a:t>
            </a:r>
            <a:r>
              <a:rPr sz="1100" b="0" i="1" spc="-10">
                <a:latin typeface="Bookman Old Style"/>
                <a:cs typeface="Bookman Old Style"/>
              </a:rPr>
              <a:t>X</a:t>
            </a:r>
            <a:r>
              <a:rPr sz="1100" spc="-1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  <a:p>
            <a:pPr marL="12700">
              <a:lnSpc>
                <a:spcPts val="1030"/>
              </a:lnSpc>
              <a:tabLst>
                <a:tab pos="1141730" algn="l"/>
              </a:tabLst>
            </a:pPr>
            <a:r>
              <a:rPr sz="1100" b="0" i="1" spc="-25">
                <a:latin typeface="Bookman Old Style"/>
                <a:cs typeface="Bookman Old Style"/>
              </a:rPr>
              <a:t>var</a:t>
            </a:r>
            <a:r>
              <a:rPr sz="1100" spc="-25">
                <a:latin typeface="Book Antiqua"/>
                <a:cs typeface="Book Antiqua"/>
              </a:rPr>
              <a:t>(</a:t>
            </a:r>
            <a:r>
              <a:rPr sz="1100" b="0" i="1" spc="-25">
                <a:latin typeface="Bookman Old Style"/>
                <a:cs typeface="Bookman Old Style"/>
              </a:rPr>
              <a:t>Y</a:t>
            </a:r>
            <a:r>
              <a:rPr sz="1100" b="0" i="1" spc="-80">
                <a:latin typeface="Bookman Old Style"/>
                <a:cs typeface="Bookman Old Style"/>
              </a:rPr>
              <a:t> </a:t>
            </a:r>
            <a:r>
              <a:rPr sz="1100" spc="50">
                <a:latin typeface="Book Antiqua"/>
                <a:cs typeface="Book Antiqua"/>
              </a:rPr>
              <a:t>)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5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16337" y="3353673"/>
            <a:ext cx="25781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29/40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0"/>
              <a:t>Standardize</a:t>
            </a:r>
            <a:r>
              <a:rPr spc="195"/>
              <a:t> </a:t>
            </a:r>
            <a:r>
              <a:rPr spc="70"/>
              <a:t>a</a:t>
            </a:r>
            <a:r>
              <a:rPr spc="200"/>
              <a:t> </a:t>
            </a:r>
            <a:r>
              <a:t>Normal</a:t>
            </a:r>
            <a:r>
              <a:rPr spc="200"/>
              <a:t> </a:t>
            </a:r>
            <a:r>
              <a:rPr spc="60"/>
              <a:t>Random</a:t>
            </a:r>
            <a:r>
              <a:rPr spc="195"/>
              <a:t> </a:t>
            </a:r>
            <a:r>
              <a:rPr spc="-10"/>
              <a:t>Variable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759739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674254"/>
            <a:ext cx="413004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>
                <a:latin typeface="Book Antiqua"/>
                <a:cs typeface="Book Antiqua"/>
              </a:rPr>
              <a:t>Let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5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be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normal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random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variable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mean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µ</a:t>
            </a:r>
            <a:r>
              <a:rPr sz="1100" b="0" i="1" spc="-2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variance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σ</a:t>
            </a:r>
            <a:r>
              <a:rPr sz="1200" spc="-37" baseline="27777">
                <a:latin typeface="Trebuchet MS"/>
                <a:cs typeface="Trebuchet MS"/>
              </a:rPr>
              <a:t>2</a:t>
            </a:r>
            <a:r>
              <a:rPr sz="1100" spc="-25">
                <a:latin typeface="Book Antiqua"/>
                <a:cs typeface="Book Antiqua"/>
              </a:rPr>
              <a:t>. </a:t>
            </a:r>
            <a:r>
              <a:rPr sz="1100" spc="-10">
                <a:latin typeface="Book Antiqua"/>
                <a:cs typeface="Book Antiqua"/>
              </a:rPr>
              <a:t>We</a:t>
            </a:r>
            <a:r>
              <a:rPr sz="110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“standardize”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2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by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40">
                <a:latin typeface="Book Antiqua"/>
                <a:cs typeface="Book Antiqua"/>
              </a:rPr>
              <a:t>defining</a:t>
            </a:r>
            <a:r>
              <a:rPr sz="1100">
                <a:latin typeface="Book Antiqua"/>
                <a:cs typeface="Book Antiqua"/>
              </a:rPr>
              <a:t> a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50">
                <a:latin typeface="Book Antiqua"/>
                <a:cs typeface="Book Antiqua"/>
              </a:rPr>
              <a:t>new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random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variable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Y</a:t>
            </a:r>
            <a:r>
              <a:rPr sz="1100" b="0" i="1" spc="150">
                <a:latin typeface="Bookman Old Style"/>
                <a:cs typeface="Bookman Old Style"/>
              </a:rPr>
              <a:t> </a:t>
            </a:r>
            <a:r>
              <a:rPr sz="1100" spc="-35">
                <a:latin typeface="Book Antiqua"/>
                <a:cs typeface="Book Antiqua"/>
              </a:rPr>
              <a:t>given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by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77453" y="1119770"/>
            <a:ext cx="715010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23215">
              <a:lnSpc>
                <a:spcPts val="1030"/>
              </a:lnSpc>
              <a:spcBef>
                <a:spcPts val="90"/>
              </a:spcBef>
            </a:pPr>
            <a:r>
              <a:rPr sz="1100" b="0" i="1" u="sng" spc="13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X</a:t>
            </a:r>
            <a:r>
              <a:rPr sz="1100" b="0" i="1" u="sng" spc="-5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100" i="1" u="sng" spc="11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−</a:t>
            </a:r>
            <a:r>
              <a:rPr sz="1100" i="1" spc="-35">
                <a:latin typeface="Garamond"/>
                <a:cs typeface="Garamond"/>
              </a:rPr>
              <a:t> </a:t>
            </a:r>
            <a:r>
              <a:rPr sz="1100" b="0" i="1" u="sng" spc="-5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µ</a:t>
            </a:r>
            <a:endParaRPr sz="1100">
              <a:latin typeface="Bookman Old Style"/>
              <a:cs typeface="Bookman Old Style"/>
            </a:endParaRPr>
          </a:p>
          <a:p>
            <a:pPr marL="12700">
              <a:lnSpc>
                <a:spcPts val="1030"/>
              </a:lnSpc>
            </a:pPr>
            <a:r>
              <a:rPr sz="1100" b="0" i="1">
                <a:latin typeface="Bookman Old Style"/>
                <a:cs typeface="Bookman Old Style"/>
              </a:rPr>
              <a:t>Y</a:t>
            </a:r>
            <a:r>
              <a:rPr sz="1100" b="0" i="1" spc="114">
                <a:latin typeface="Bookman Old Style"/>
                <a:cs typeface="Bookman Old Style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1226741"/>
            <a:ext cx="2242820" cy="521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32330">
              <a:lnSpc>
                <a:spcPct val="148000"/>
              </a:lnSpc>
              <a:spcBef>
                <a:spcPts val="100"/>
              </a:spcBef>
            </a:pPr>
            <a:r>
              <a:rPr sz="1100" b="0" i="1" spc="-50">
                <a:latin typeface="Bookman Old Style"/>
                <a:cs typeface="Bookman Old Style"/>
              </a:rPr>
              <a:t>σ </a:t>
            </a:r>
            <a:r>
              <a:rPr sz="1100" b="0" i="1">
                <a:latin typeface="Bookman Old Style"/>
                <a:cs typeface="Bookman Old Style"/>
              </a:rPr>
              <a:t>Y</a:t>
            </a:r>
            <a:r>
              <a:rPr sz="1100" b="0" i="1" spc="12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is </a:t>
            </a:r>
            <a:r>
              <a:rPr sz="1100" spc="-20">
                <a:latin typeface="Book Antiqua"/>
                <a:cs typeface="Book Antiqua"/>
              </a:rPr>
              <a:t>normal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mean</a:t>
            </a:r>
            <a:r>
              <a:rPr sz="1100">
                <a:latin typeface="Book Antiqua"/>
                <a:cs typeface="Book Antiqua"/>
              </a:rPr>
              <a:t> and </a:t>
            </a:r>
            <a:r>
              <a:rPr sz="1100" spc="-30">
                <a:latin typeface="Book Antiqua"/>
                <a:cs typeface="Book Antiqua"/>
              </a:rPr>
              <a:t>variance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642059"/>
            <a:ext cx="63233" cy="632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729854" y="2001074"/>
            <a:ext cx="1047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25">
                <a:latin typeface="Bookman Old Style"/>
                <a:cs typeface="Bookman Old Style"/>
              </a:rPr>
              <a:t>σ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0714" y="1812314"/>
            <a:ext cx="1397635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10540">
              <a:lnSpc>
                <a:spcPts val="1030"/>
              </a:lnSpc>
              <a:spcBef>
                <a:spcPts val="90"/>
              </a:spcBef>
            </a:pPr>
            <a:r>
              <a:rPr sz="1100" b="0" i="1" u="sng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E</a:t>
            </a:r>
            <a:r>
              <a:rPr sz="1100" u="sng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[</a:t>
            </a:r>
            <a:r>
              <a:rPr sz="1100" b="0" i="1" u="sng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X</a:t>
            </a:r>
            <a:r>
              <a:rPr sz="1100" u="sng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]</a:t>
            </a:r>
            <a:r>
              <a:rPr sz="1100" u="sng" spc="6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100" i="1" u="sng" spc="11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−</a:t>
            </a:r>
            <a:r>
              <a:rPr sz="1100" i="1" spc="65">
                <a:latin typeface="Garamond"/>
                <a:cs typeface="Garamond"/>
              </a:rPr>
              <a:t> </a:t>
            </a:r>
            <a:r>
              <a:rPr sz="1100" b="0" i="1" u="sng" spc="-5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µ</a:t>
            </a:r>
            <a:endParaRPr sz="1100">
              <a:latin typeface="Bookman Old Style"/>
              <a:cs typeface="Bookman Old Style"/>
            </a:endParaRPr>
          </a:p>
          <a:p>
            <a:pPr marL="12700">
              <a:lnSpc>
                <a:spcPts val="1030"/>
              </a:lnSpc>
              <a:tabLst>
                <a:tab pos="1130300" algn="l"/>
              </a:tabLst>
            </a:pPr>
            <a:r>
              <a:rPr sz="1100" b="0" i="1" spc="-25">
                <a:latin typeface="Bookman Old Style"/>
                <a:cs typeface="Bookman Old Style"/>
              </a:rPr>
              <a:t>E</a:t>
            </a:r>
            <a:r>
              <a:rPr sz="1100" spc="-25">
                <a:latin typeface="Book Antiqua"/>
                <a:cs typeface="Book Antiqua"/>
              </a:rPr>
              <a:t>[</a:t>
            </a:r>
            <a:r>
              <a:rPr sz="1100" b="0" i="1" spc="-25">
                <a:latin typeface="Bookman Old Style"/>
                <a:cs typeface="Bookman Old Style"/>
              </a:rPr>
              <a:t>Y</a:t>
            </a:r>
            <a:r>
              <a:rPr sz="1100" b="0" i="1" spc="-9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]</a:t>
            </a:r>
            <a:r>
              <a:rPr sz="1100" spc="-1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0</a:t>
            </a:r>
            <a:r>
              <a:rPr sz="1100" b="0" i="1" spc="-25">
                <a:latin typeface="Bookman Old Style"/>
                <a:cs typeface="Bookman Old Style"/>
              </a:rPr>
              <a:t>,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67367" y="2022652"/>
            <a:ext cx="445134" cy="0"/>
          </a:xfrm>
          <a:custGeom>
            <a:avLst/>
            <a:gdLst/>
            <a:ahLst/>
            <a:cxnLst/>
            <a:rect l="l" t="t" r="r" b="b"/>
            <a:pathLst>
              <a:path w="445135">
                <a:moveTo>
                  <a:pt x="0" y="0"/>
                </a:moveTo>
                <a:lnTo>
                  <a:pt x="4451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279711" y="1961056"/>
            <a:ext cx="21462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="0" i="1" spc="-37" baseline="-15151">
                <a:latin typeface="Bookman Old Style"/>
                <a:cs typeface="Bookman Old Style"/>
              </a:rPr>
              <a:t>σ</a:t>
            </a:r>
            <a:r>
              <a:rPr sz="800" spc="-25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24118" y="1812314"/>
            <a:ext cx="1370330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42620">
              <a:lnSpc>
                <a:spcPts val="1030"/>
              </a:lnSpc>
              <a:spcBef>
                <a:spcPts val="90"/>
              </a:spcBef>
            </a:pPr>
            <a:r>
              <a:rPr sz="1100" b="0" i="1" spc="-10">
                <a:latin typeface="Bookman Old Style"/>
                <a:cs typeface="Bookman Old Style"/>
              </a:rPr>
              <a:t>var</a:t>
            </a:r>
            <a:r>
              <a:rPr sz="1100" spc="-10">
                <a:latin typeface="Book Antiqua"/>
                <a:cs typeface="Book Antiqua"/>
              </a:rPr>
              <a:t>(</a:t>
            </a:r>
            <a:r>
              <a:rPr sz="1100" b="0" i="1" spc="-10">
                <a:latin typeface="Bookman Old Style"/>
                <a:cs typeface="Bookman Old Style"/>
              </a:rPr>
              <a:t>X</a:t>
            </a:r>
            <a:r>
              <a:rPr sz="1100" spc="-1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  <a:p>
            <a:pPr marL="12700">
              <a:lnSpc>
                <a:spcPts val="1030"/>
              </a:lnSpc>
              <a:tabLst>
                <a:tab pos="1141730" algn="l"/>
              </a:tabLst>
            </a:pPr>
            <a:r>
              <a:rPr sz="1100" b="0" i="1" spc="-25">
                <a:latin typeface="Bookman Old Style"/>
                <a:cs typeface="Bookman Old Style"/>
              </a:rPr>
              <a:t>var</a:t>
            </a:r>
            <a:r>
              <a:rPr sz="1100" spc="-25">
                <a:latin typeface="Book Antiqua"/>
                <a:cs typeface="Book Antiqua"/>
              </a:rPr>
              <a:t>(</a:t>
            </a:r>
            <a:r>
              <a:rPr sz="1100" b="0" i="1" spc="-25">
                <a:latin typeface="Bookman Old Style"/>
                <a:cs typeface="Bookman Old Style"/>
              </a:rPr>
              <a:t>Y</a:t>
            </a:r>
            <a:r>
              <a:rPr sz="1100" b="0" i="1" spc="-80">
                <a:latin typeface="Bookman Old Style"/>
                <a:cs typeface="Bookman Old Style"/>
              </a:rPr>
              <a:t> </a:t>
            </a:r>
            <a:r>
              <a:rPr sz="1100" spc="50">
                <a:latin typeface="Book Antiqua"/>
                <a:cs typeface="Book Antiqua"/>
              </a:rPr>
              <a:t>)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5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2512809"/>
            <a:ext cx="63233" cy="6323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02932" y="2427324"/>
            <a:ext cx="403796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>
                <a:latin typeface="Book Antiqua"/>
                <a:cs typeface="Book Antiqua"/>
              </a:rPr>
              <a:t>It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40">
                <a:latin typeface="Book Antiqua"/>
                <a:cs typeface="Book Antiqua"/>
              </a:rPr>
              <a:t>allows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us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calculate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any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event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defined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in </a:t>
            </a:r>
            <a:r>
              <a:rPr sz="1100">
                <a:latin typeface="Book Antiqua"/>
                <a:cs typeface="Book Antiqua"/>
              </a:rPr>
              <a:t>terms</a:t>
            </a:r>
            <a:r>
              <a:rPr sz="1100" spc="-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b="0" i="1" spc="120">
                <a:latin typeface="Bookman Old Style"/>
                <a:cs typeface="Bookman Old Style"/>
              </a:rPr>
              <a:t>X</a:t>
            </a:r>
            <a:r>
              <a:rPr sz="1100" spc="120">
                <a:latin typeface="Book Antiqua"/>
                <a:cs typeface="Book Antiqua"/>
              </a:rPr>
              <a:t>:</a:t>
            </a:r>
            <a:r>
              <a:rPr sz="1100" spc="125">
                <a:latin typeface="Book Antiqua"/>
                <a:cs typeface="Book Antiqua"/>
              </a:rPr>
              <a:t> </a:t>
            </a:r>
            <a:r>
              <a:rPr sz="1100" spc="-70">
                <a:latin typeface="Book Antiqua"/>
                <a:cs typeface="Book Antiqua"/>
              </a:rPr>
              <a:t>we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redefine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event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terms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b="0" i="1" spc="-100">
                <a:latin typeface="Bookman Old Style"/>
                <a:cs typeface="Bookman Old Style"/>
              </a:rPr>
              <a:t>Y</a:t>
            </a:r>
            <a:r>
              <a:rPr sz="1100" b="0" i="1" spc="-9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,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use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the </a:t>
            </a:r>
            <a:r>
              <a:rPr sz="1100" spc="-10">
                <a:latin typeface="Book Antiqua"/>
                <a:cs typeface="Book Antiqua"/>
              </a:rPr>
              <a:t>standard </a:t>
            </a:r>
            <a:r>
              <a:rPr sz="1100" spc="-20">
                <a:latin typeface="Book Antiqua"/>
                <a:cs typeface="Book Antiqua"/>
              </a:rPr>
              <a:t>normal</a:t>
            </a:r>
            <a:r>
              <a:rPr sz="110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table.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16337" y="3353673"/>
            <a:ext cx="25781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29/40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8134" y="62405"/>
            <a:ext cx="347217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90">
                <a:solidFill>
                  <a:srgbClr val="FFFFFF"/>
                </a:solidFill>
                <a:latin typeface="Times New Roman"/>
                <a:cs typeface="Times New Roman"/>
              </a:rPr>
              <a:t>CDF</a:t>
            </a:r>
            <a:r>
              <a:rPr sz="1400" spc="1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spc="2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400" spc="1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r>
              <a:rPr sz="1400" spc="1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6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400" spc="2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r>
              <a:rPr sz="1400" spc="1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FFFFFF"/>
                </a:solidFill>
                <a:latin typeface="Times New Roman"/>
                <a:cs typeface="Times New Roman"/>
              </a:rPr>
              <a:t>(pg157)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996" y="760681"/>
            <a:ext cx="3747340" cy="140032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16337" y="3353673"/>
            <a:ext cx="25781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30/40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4713" y="62405"/>
            <a:ext cx="16186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3.7,</a:t>
            </a:r>
            <a:r>
              <a:rPr sz="1400" spc="1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pg</a:t>
            </a:r>
            <a:r>
              <a:rPr sz="1400" spc="1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>
                <a:solidFill>
                  <a:srgbClr val="FFFFFF"/>
                </a:solidFill>
                <a:latin typeface="Times New Roman"/>
                <a:cs typeface="Times New Roman"/>
              </a:rPr>
              <a:t>156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320" y="1278161"/>
            <a:ext cx="3830775" cy="4589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31/40</a:t>
            </a: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4713" y="62405"/>
            <a:ext cx="16186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3.7,</a:t>
            </a:r>
            <a:r>
              <a:rPr sz="1400" spc="1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pg</a:t>
            </a:r>
            <a:r>
              <a:rPr sz="1400" spc="1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>
                <a:solidFill>
                  <a:srgbClr val="FFFFFF"/>
                </a:solidFill>
                <a:latin typeface="Times New Roman"/>
                <a:cs typeface="Times New Roman"/>
              </a:rPr>
              <a:t>156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783" y="562525"/>
            <a:ext cx="3833555" cy="196129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16337" y="3353673"/>
            <a:ext cx="25781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32/40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4713" y="62405"/>
            <a:ext cx="16186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3.7,</a:t>
            </a:r>
            <a:r>
              <a:rPr sz="1400" spc="1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pg</a:t>
            </a:r>
            <a:r>
              <a:rPr sz="1400" spc="1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>
                <a:solidFill>
                  <a:srgbClr val="FFFFFF"/>
                </a:solidFill>
                <a:latin typeface="Times New Roman"/>
                <a:cs typeface="Times New Roman"/>
              </a:rPr>
              <a:t>156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783" y="562525"/>
            <a:ext cx="3833555" cy="19612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62758" y="2963837"/>
            <a:ext cx="11906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Book Antiqua"/>
                <a:cs typeface="Book Antiqua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80" dirty="0">
                <a:latin typeface="Bookman Old Style"/>
                <a:cs typeface="Bookman Old Style"/>
              </a:rPr>
              <a:t> </a:t>
            </a:r>
            <a:r>
              <a:rPr sz="1100" i="1" spc="110" dirty="0">
                <a:latin typeface="Garamond"/>
                <a:cs typeface="Garamond"/>
              </a:rPr>
              <a:t>≥</a:t>
            </a:r>
            <a:r>
              <a:rPr sz="1100" i="1" spc="45" dirty="0">
                <a:latin typeface="Garamond"/>
                <a:cs typeface="Garamond"/>
              </a:rPr>
              <a:t> </a:t>
            </a:r>
            <a:r>
              <a:rPr sz="1100" dirty="0">
                <a:latin typeface="Book Antiqua"/>
                <a:cs typeface="Book Antiqua"/>
              </a:rPr>
              <a:t>80)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.</a:t>
            </a:r>
            <a:r>
              <a:rPr sz="1100" spc="-20" dirty="0">
                <a:latin typeface="Book Antiqua"/>
                <a:cs typeface="Book Antiqua"/>
              </a:rPr>
              <a:t>1587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16337" y="3353673"/>
            <a:ext cx="25781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32/40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2084" y="62405"/>
            <a:ext cx="15240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75">
                <a:solidFill>
                  <a:srgbClr val="FFFFFF"/>
                </a:solidFill>
                <a:latin typeface="Times New Roman"/>
                <a:cs typeface="Times New Roman"/>
              </a:rPr>
              <a:t>Important</a:t>
            </a:r>
            <a:r>
              <a:rPr sz="1400" spc="1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419415"/>
            <a:ext cx="4432935" cy="196850"/>
          </a:xfrm>
          <a:custGeom>
            <a:avLst/>
            <a:gdLst/>
            <a:ahLst/>
            <a:cxnLst/>
            <a:rect l="l" t="t" r="r" b="b"/>
            <a:pathLst>
              <a:path w="4432935" h="1968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6680"/>
                </a:lnTo>
                <a:lnTo>
                  <a:pt x="4432566" y="19668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79651" y="1447388"/>
            <a:ext cx="12490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50">
                <a:solidFill>
                  <a:srgbClr val="FFFFFF"/>
                </a:solidFill>
                <a:latin typeface="Times New Roman"/>
                <a:cs typeface="Times New Roman"/>
              </a:rPr>
              <a:t>Important</a:t>
            </a:r>
            <a:r>
              <a:rPr sz="1200" spc="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9822" y="1616874"/>
            <a:ext cx="4454968" cy="279437"/>
            <a:chOff x="190793" y="1213789"/>
            <a:chExt cx="4454968" cy="279437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196" y="1213789"/>
              <a:ext cx="4432565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0793" y="1284947"/>
              <a:ext cx="4432935" cy="208279"/>
            </a:xfrm>
            <a:custGeom>
              <a:avLst/>
              <a:gdLst/>
              <a:ahLst/>
              <a:cxnLst/>
              <a:rect l="l" t="t" r="r" b="b"/>
              <a:pathLst>
                <a:path w="4432935" h="208280">
                  <a:moveTo>
                    <a:pt x="4432566" y="0"/>
                  </a:moveTo>
                  <a:lnTo>
                    <a:pt x="0" y="0"/>
                  </a:lnTo>
                  <a:lnTo>
                    <a:pt x="0" y="157478"/>
                  </a:lnTo>
                  <a:lnTo>
                    <a:pt x="4008" y="177203"/>
                  </a:lnTo>
                  <a:lnTo>
                    <a:pt x="14922" y="193356"/>
                  </a:lnTo>
                  <a:lnTo>
                    <a:pt x="31075" y="204270"/>
                  </a:lnTo>
                  <a:lnTo>
                    <a:pt x="50800" y="208279"/>
                  </a:lnTo>
                  <a:lnTo>
                    <a:pt x="4381765" y="208279"/>
                  </a:lnTo>
                  <a:lnTo>
                    <a:pt x="4401490" y="204270"/>
                  </a:lnTo>
                  <a:lnTo>
                    <a:pt x="4417643" y="193356"/>
                  </a:lnTo>
                  <a:lnTo>
                    <a:pt x="4428558" y="177203"/>
                  </a:lnTo>
                  <a:lnTo>
                    <a:pt x="4432566" y="157478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BEB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7505" y="1661530"/>
            <a:ext cx="4432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0513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If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this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spc="-45">
                <a:latin typeface="Book Antiqua"/>
                <a:cs typeface="Book Antiqua"/>
              </a:rPr>
              <a:t>were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test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or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50">
                <a:latin typeface="Book Antiqua"/>
                <a:cs typeface="Book Antiqua"/>
              </a:rPr>
              <a:t>homework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problem,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stop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at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</a:t>
            </a:r>
            <a:r>
              <a:rPr sz="1100" spc="-55">
                <a:latin typeface="Book Antiqua"/>
                <a:cs typeface="Book Antiqua"/>
              </a:rPr>
              <a:t> </a:t>
            </a:r>
            <a:r>
              <a:rPr sz="1100" i="1" spc="110">
                <a:latin typeface="Garamond"/>
                <a:cs typeface="Garamond"/>
              </a:rPr>
              <a:t>−</a:t>
            </a:r>
            <a:r>
              <a:rPr sz="1100" i="1" spc="-55">
                <a:latin typeface="Garamond"/>
                <a:cs typeface="Garamond"/>
              </a:rPr>
              <a:t> </a:t>
            </a:r>
            <a:r>
              <a:rPr sz="1100" spc="-20">
                <a:latin typeface="Book Antiqua"/>
                <a:cs typeface="Book Antiqua"/>
              </a:rPr>
              <a:t>Φ(</a:t>
            </a:r>
            <a:r>
              <a:rPr sz="1100" b="0" i="1" spc="-20">
                <a:latin typeface="Bookman Old Style"/>
                <a:cs typeface="Bookman Old Style"/>
              </a:rPr>
              <a:t>x</a:t>
            </a:r>
            <a:r>
              <a:rPr sz="1100" spc="-2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33/40</a:t>
            </a: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9955">
              <a:lnSpc>
                <a:spcPct val="100000"/>
              </a:lnSpc>
              <a:spcBef>
                <a:spcPts val="135"/>
              </a:spcBef>
            </a:pPr>
            <a:r>
              <a:rPr spc="75"/>
              <a:t>The</a:t>
            </a:r>
            <a:r>
              <a:rPr spc="204"/>
              <a:t> </a:t>
            </a:r>
            <a:r>
              <a:rPr spc="70"/>
              <a:t>Standard</a:t>
            </a:r>
            <a:r>
              <a:rPr spc="215"/>
              <a:t> </a:t>
            </a:r>
            <a:r>
              <a:t>Normal</a:t>
            </a:r>
            <a:r>
              <a:rPr spc="220"/>
              <a:t> </a:t>
            </a:r>
            <a:r>
              <a:t>in</a:t>
            </a:r>
            <a:r>
              <a:rPr spc="204"/>
              <a:t> </a:t>
            </a:r>
            <a:r>
              <a:rPr spc="70"/>
              <a:t>Python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503832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374582"/>
            <a:ext cx="396684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>
                <a:latin typeface="Book Antiqua"/>
                <a:cs typeface="Book Antiqua"/>
              </a:rPr>
              <a:t>Generate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random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variables</a:t>
            </a:r>
            <a:endParaRPr sz="11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spc="-20">
                <a:latin typeface="Book Antiqua"/>
                <a:cs typeface="Book Antiqua"/>
              </a:rPr>
              <a:t>Compute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PDF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CDF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standard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normal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distribution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713865"/>
            <a:ext cx="63233" cy="63233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37/40</a:t>
            </a: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9955">
              <a:lnSpc>
                <a:spcPct val="100000"/>
              </a:lnSpc>
              <a:spcBef>
                <a:spcPts val="135"/>
              </a:spcBef>
            </a:pPr>
            <a:r>
              <a:rPr spc="75"/>
              <a:t>The</a:t>
            </a:r>
            <a:r>
              <a:rPr spc="204"/>
              <a:t> </a:t>
            </a:r>
            <a:r>
              <a:rPr spc="70"/>
              <a:t>Standard</a:t>
            </a:r>
            <a:r>
              <a:rPr spc="215"/>
              <a:t> </a:t>
            </a:r>
            <a:r>
              <a:t>Normal</a:t>
            </a:r>
            <a:r>
              <a:rPr spc="220"/>
              <a:t> </a:t>
            </a:r>
            <a:r>
              <a:t>in</a:t>
            </a:r>
            <a:r>
              <a:rPr spc="204"/>
              <a:t> </a:t>
            </a:r>
            <a:r>
              <a:rPr spc="70"/>
              <a:t>Python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697319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568056"/>
            <a:ext cx="396684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>
                <a:latin typeface="Book Antiqua"/>
                <a:cs typeface="Book Antiqua"/>
              </a:rPr>
              <a:t>Generate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random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variables</a:t>
            </a:r>
            <a:endParaRPr sz="11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spc="-20">
                <a:latin typeface="Book Antiqua"/>
                <a:cs typeface="Book Antiqua"/>
              </a:rPr>
              <a:t>Compute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PDF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CDF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standard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normal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distribution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907351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1226" y="1186681"/>
            <a:ext cx="1705323" cy="1291911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38/40</a:t>
            </a: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1580" y="62405"/>
            <a:ext cx="25850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75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400" spc="20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>
                <a:solidFill>
                  <a:srgbClr val="FFFFFF"/>
                </a:solidFill>
                <a:latin typeface="Times New Roman"/>
                <a:cs typeface="Times New Roman"/>
              </a:rPr>
              <a:t>Standard</a:t>
            </a:r>
            <a:r>
              <a:rPr sz="140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r>
              <a:rPr sz="1400" spc="2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400" spc="20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>
                <a:solidFill>
                  <a:srgbClr val="FFFFFF"/>
                </a:solidFill>
                <a:latin typeface="Times New Roman"/>
                <a:cs typeface="Times New Roman"/>
              </a:rPr>
              <a:t>Python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86" y="1049997"/>
            <a:ext cx="4294234" cy="100581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>
                <a:solidFill>
                  <a:srgbClr val="FFFFFF"/>
                </a:solidFill>
                <a:latin typeface="Times New Roman"/>
                <a:cs typeface="Times New Roman"/>
              </a:rPr>
              <a:t>Joint PDF</a:t>
            </a:r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10" name="Picture 9" descr="Text, letter&#10;&#10;Description automatically generated">
            <a:extLst>
              <a:ext uri="{FF2B5EF4-FFF2-40B4-BE49-F238E27FC236}">
                <a16:creationId xmlns:a16="http://schemas.microsoft.com/office/drawing/2014/main" id="{7818FE94-9A2C-4D34-E857-3B939D565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50" y="763668"/>
            <a:ext cx="4363200" cy="173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377481"/>
      </p:ext>
    </p:extLst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>
                <a:solidFill>
                  <a:srgbClr val="FFFFFF"/>
                </a:solidFill>
                <a:latin typeface="Times New Roman"/>
                <a:cs typeface="Times New Roman"/>
              </a:rPr>
              <a:t>Joint PDF</a:t>
            </a:r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E31FC88B-0C15-1BA0-37C4-0595AFCA7F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47" y="584856"/>
            <a:ext cx="4264500" cy="244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348181"/>
      </p:ext>
    </p:extLst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>
                <a:solidFill>
                  <a:srgbClr val="FFFFFF"/>
                </a:solidFill>
                <a:latin typeface="Times New Roman"/>
                <a:cs typeface="Times New Roman"/>
              </a:rPr>
              <a:t>Joint PDF</a:t>
            </a:r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9AB19699-99EA-1DD0-F020-3141F7F428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712"/>
            <a:ext cx="4610100" cy="304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40687"/>
      </p:ext>
    </p:extLst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Uniform Joint PDF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302DE125-A2FE-78CA-8A2B-AACC46F77E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5087"/>
            <a:ext cx="4610100" cy="143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757570"/>
      </p:ext>
    </p:extLst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Uniform Joint PDF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99E242B4-4E10-2880-E4DF-9BC821B00B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7095"/>
            <a:ext cx="4610100" cy="184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606074"/>
      </p:ext>
    </p:extLst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Uniform Joint PDF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57BAAE54-16DE-FB08-BC3A-73A26BD22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4504"/>
            <a:ext cx="4610100" cy="251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192183"/>
      </p:ext>
    </p:extLst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111" y="62405"/>
            <a:ext cx="17081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45" dirty="0"/>
              <a:t> </a:t>
            </a:r>
            <a:r>
              <a:rPr dirty="0"/>
              <a:t>3.10,</a:t>
            </a:r>
            <a:r>
              <a:rPr spc="50" dirty="0"/>
              <a:t> </a:t>
            </a:r>
            <a:r>
              <a:rPr dirty="0"/>
              <a:t>pg</a:t>
            </a:r>
            <a:r>
              <a:rPr spc="45" dirty="0"/>
              <a:t> </a:t>
            </a:r>
            <a:r>
              <a:rPr spc="-25" dirty="0"/>
              <a:t>160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0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06855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39540" y="3353673"/>
            <a:ext cx="211454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0" dirty="0">
                <a:solidFill>
                  <a:srgbClr val="FFFFFF"/>
                </a:solidFill>
                <a:latin typeface="Bookman Old Style"/>
                <a:cs typeface="Bookman Old Style"/>
              </a:rPr>
              <a:t>12/1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84557B-F13E-ABD9-54E3-78A3C97CA725}"/>
              </a:ext>
            </a:extLst>
          </p:cNvPr>
          <p:cNvSpPr txBox="1"/>
          <p:nvPr/>
        </p:nvSpPr>
        <p:spPr>
          <a:xfrm>
            <a:off x="237425" y="651880"/>
            <a:ext cx="27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class exercise </a:t>
            </a:r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Marginal PDF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9FD01C14-A4BF-A02D-1C0E-A581CAE0C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569"/>
            <a:ext cx="4610100" cy="275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812550"/>
      </p:ext>
    </p:extLst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Marginal PDF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25F32B9B-AE84-CAB7-B2C1-BF53AF098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4540"/>
            <a:ext cx="4610100" cy="147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06091"/>
      </p:ext>
    </p:extLst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Joint CDF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0EB22767-B415-0F9D-F991-BF20782BA4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2963"/>
            <a:ext cx="4610100" cy="286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488765"/>
      </p:ext>
    </p:extLst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Quiz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8CE3EDE3-62E2-F8D8-EF5D-804758543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0661"/>
            <a:ext cx="4474147" cy="161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195734"/>
      </p:ext>
    </p:extLst>
  </p:cSld>
  <p:clrMapOvr>
    <a:masterClrMapping/>
  </p:clrMapOvr>
  <p:transition>
    <p:cut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91.4511"/>
  <p:tag name="ORIGINALWIDTH" val="2005.999"/>
  <p:tag name="LATEXADDIN" val="\documentclass{article}&#10;\usepackage{amsmath}&#10;\pagestyle{empty}&#10;\begin{document}&#10;&#10;$f_X(x) = \frac{1}{\sigma \sqrt{2\pi}}e^{-\frac{(x-\mu)^2}{2\sigma^2}}$&#10;&#10;&#10;\end{document}"/>
  <p:tag name="IGUANATEXSIZE" val="15"/>
  <p:tag name="IGUANATEXCURSOR" val="14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91.4511"/>
  <p:tag name="ORIGINALWIDTH" val="2005.999"/>
  <p:tag name="LATEXADDIN" val="\documentclass{article}&#10;\usepackage{amsmath}&#10;\pagestyle{empty}&#10;\begin{document}&#10;&#10;$f_X(x) = \frac{1}{\sigma \sqrt{2\pi}}e^{-\frac{(x-\mu)^2}{2\sigma^2}}$&#10;&#10;&#10;\end{document}"/>
  <p:tag name="IGUANATEXSIZE" val="15"/>
  <p:tag name="IGUANATEXCURSOR" val="14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&#10;$\int$&#10;&#10;\end{document}"/>
  <p:tag name="IGUANATEXSIZE" val="15"/>
  <p:tag name="IGUANATEXCURSOR" val="8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91.4511"/>
  <p:tag name="ORIGINALWIDTH" val="3850.769"/>
  <p:tag name="LATEXADDIN" val="\documentclass{article}&#10;\usepackage{amsmath}&#10;\pagestyle{empty}&#10;\begin{document}&#10;&#10;$F_X(x) = P(X\leq x) = \int_{-\infty}^x \frac{1}{\sigma \sqrt{2\pi}}e^{-\frac{(t-\mu)^2}{2\sigma^2}}dt$&#10;&#10;&#10;\end{document}"/>
  <p:tag name="IGUANATEXSIZE" val="20"/>
  <p:tag name="IGUANATEXCURSOR" val="1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66.7042"/>
  <p:tag name="ORIGINALWIDTH" val="1565.804"/>
  <p:tag name="LATEXADDIN" val="\documentclass{article}&#10;\usepackage{amsmath}&#10;\pagestyle{empty}&#10;\begin{document}&#10;&#10;&#10;$f_Y(y) = \frac{1}{\sqrt{2\pi}}e^{-\frac{y^2}{2}}$&#10;&#10;\end{document}"/>
  <p:tag name="IGUANATEXSIZE" val="15"/>
  <p:tag name="IGUANATEXCURSOR" val="12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66.7042"/>
  <p:tag name="ORIGINALWIDTH" val="1565.804"/>
  <p:tag name="LATEXADDIN" val="\documentclass{article}&#10;\usepackage{amsmath}&#10;\pagestyle{empty}&#10;\begin{document}&#10;&#10;&#10;$f_Y(y) = \frac{1}{\sqrt{2\pi}}e^{-\frac{y^2}{2}}$&#10;&#10;\end{document}"/>
  <p:tag name="IGUANATEXSIZE" val="15"/>
  <p:tag name="IGUANATEXCURSOR" val="12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20.21"/>
  <p:tag name="ORIGINALWIDTH" val="4560.18"/>
  <p:tag name="LATEXADDIN" val="\documentclass{article}&#10;\usepackage{amsmath}&#10;\pagestyle{empty}&#10;\begin{document}&#10;&#10;$\Phi(y) = P(Y\leq y) = P(Y&lt; y)= \frac{1}{\sqrt{2\pi}}\int_{-\infty}^y e^{-t^2/2}dt$&#10;&#10;&#10;\end{document}"/>
  <p:tag name="IGUANATEXSIZE" val="15"/>
  <p:tag name="IGUANATEXCURSOR" val="16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541AA9D2DF54EAD9E3EC334D2D1DF" ma:contentTypeVersion="389" ma:contentTypeDescription="Create a new document." ma:contentTypeScope="" ma:versionID="ee9d5b04bdbfe709e97b1d67d5c11c54">
  <xsd:schema xmlns:xsd="http://www.w3.org/2001/XMLSchema" xmlns:xs="http://www.w3.org/2001/XMLSchema" xmlns:p="http://schemas.microsoft.com/office/2006/metadata/properties" xmlns:ns1="http://schemas.microsoft.com/sharepoint/v3" xmlns:ns2="c01506f5-305e-4c16-814a-34df78f45099" xmlns:ns3="89fcee1f-ef3f-45b6-92f6-d5fcc1f0d356" xmlns:ns4="62eb5de7-a296-4932-8c46-6bd9a6968804" targetNamespace="http://schemas.microsoft.com/office/2006/metadata/properties" ma:root="true" ma:fieldsID="f257ade738029761462c5025b24c41f5" ns1:_="" ns2:_="" ns3:_="" ns4:_="">
    <xsd:import namespace="http://schemas.microsoft.com/sharepoint/v3"/>
    <xsd:import namespace="c01506f5-305e-4c16-814a-34df78f45099"/>
    <xsd:import namespace="89fcee1f-ef3f-45b6-92f6-d5fcc1f0d356"/>
    <xsd:import namespace="62eb5de7-a296-4932-8c46-6bd9a696880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506f5-305e-4c16-814a-34df78f4509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8" nillable="true" ma:displayName="Taxonomy Catch All Column" ma:hidden="true" ma:list="{bfc68881-a71c-43b4-810a-1656967a577f}" ma:internalName="TaxCatchAll" ma:showField="CatchAllData" ma:web="c01506f5-305e-4c16-814a-34df78f450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cee1f-ef3f-45b6-92f6-d5fcc1f0d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ecb661bd-580e-4f87-9e86-f3e9db1d3b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eb5de7-a296-4932-8c46-6bd9a696880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c01506f5-305e-4c16-814a-34df78f45099" xsi:nil="true"/>
    <lcf76f155ced4ddcb4097134ff3c332f xmlns="89fcee1f-ef3f-45b6-92f6-d5fcc1f0d356">
      <Terms xmlns="http://schemas.microsoft.com/office/infopath/2007/PartnerControls"/>
    </lcf76f155ced4ddcb4097134ff3c332f>
    <_ip_UnifiedCompliancePolicyProperties xmlns="http://schemas.microsoft.com/sharepoint/v3" xsi:nil="true"/>
    <_dlc_DocId xmlns="c01506f5-305e-4c16-814a-34df78f45099">M2AVRSERJEAQ-585345103-43142</_dlc_DocId>
    <_dlc_DocIdUrl xmlns="c01506f5-305e-4c16-814a-34df78f45099">
      <Url>https://uab365.sharepoint.com/sites/provost/cas/departments/cis/_layouts/15/DocIdRedir.aspx?ID=M2AVRSERJEAQ-585345103-43142</Url>
      <Description>M2AVRSERJEAQ-585345103-43142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4BE1BDA-650B-422D-8F7E-14B6E1E986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01506f5-305e-4c16-814a-34df78f45099"/>
    <ds:schemaRef ds:uri="89fcee1f-ef3f-45b6-92f6-d5fcc1f0d356"/>
    <ds:schemaRef ds:uri="62eb5de7-a296-4932-8c46-6bd9a6968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617A19-766C-480E-BDD8-1594BEC3D24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01506f5-305e-4c16-814a-34df78f45099"/>
    <ds:schemaRef ds:uri="89fcee1f-ef3f-45b6-92f6-d5fcc1f0d356"/>
  </ds:schemaRefs>
</ds:datastoreItem>
</file>

<file path=customXml/itemProps3.xml><?xml version="1.0" encoding="utf-8"?>
<ds:datastoreItem xmlns:ds="http://schemas.openxmlformats.org/officeDocument/2006/customXml" ds:itemID="{31529ECB-A5F4-4E09-8E6F-02E753BEF5C2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751D0757-706F-45E6-AED0-C43195016B9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1853</TotalTime>
  <Words>2294</Words>
  <Application>Microsoft Office PowerPoint</Application>
  <PresentationFormat>Custom</PresentationFormat>
  <Paragraphs>339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Book Antiqua</vt:lpstr>
      <vt:lpstr>Bookman Old Style</vt:lpstr>
      <vt:lpstr>Garamond</vt:lpstr>
      <vt:lpstr>Lucida Sans</vt:lpstr>
      <vt:lpstr>Times New Roman</vt:lpstr>
      <vt:lpstr>Trebuchet MS</vt:lpstr>
      <vt:lpstr>Office Theme</vt:lpstr>
      <vt:lpstr>PowerPoint Presentation</vt:lpstr>
      <vt:lpstr>Copyright Statement</vt:lpstr>
      <vt:lpstr>PowerPoint Presentation</vt:lpstr>
      <vt:lpstr>PowerPoint Presentation</vt:lpstr>
      <vt:lpstr>The Normal Distribution</vt:lpstr>
      <vt:lpstr>The Normal Distribution</vt:lpstr>
      <vt:lpstr>The Normal Distribution</vt:lpstr>
      <vt:lpstr>The Normal Distribution</vt:lpstr>
      <vt:lpstr>The Normal Distribution</vt:lpstr>
      <vt:lpstr>The Normal Distribution</vt:lpstr>
      <vt:lpstr>The Normal Distribution</vt:lpstr>
      <vt:lpstr>The Normal Distribution</vt:lpstr>
      <vt:lpstr>The Normal Distribution</vt:lpstr>
      <vt:lpstr>PowerPoint Presentation</vt:lpstr>
      <vt:lpstr>PowerPoint Presentation</vt:lpstr>
      <vt:lpstr>The Normal Distribution</vt:lpstr>
      <vt:lpstr>The Normal Distribution</vt:lpstr>
      <vt:lpstr>PowerPoint Presentation</vt:lpstr>
      <vt:lpstr>The Normal Distribution</vt:lpstr>
      <vt:lpstr>The Normal Distribution</vt:lpstr>
      <vt:lpstr>PowerPoint Presentation</vt:lpstr>
      <vt:lpstr>The Normal Distribution</vt:lpstr>
      <vt:lpstr>A normal random variable Y with mean zero and variance 1.</vt:lpstr>
      <vt:lpstr>Standard Normal Distribution</vt:lpstr>
      <vt:lpstr>Standard Normal Distribution</vt:lpstr>
      <vt:lpstr>PowerPoint Presentation</vt:lpstr>
      <vt:lpstr>The Standard Normal Table (pg 155)</vt:lpstr>
      <vt:lpstr>PowerPoint Presentation</vt:lpstr>
      <vt:lpstr>The Standard Normal Table (pg 155)</vt:lpstr>
      <vt:lpstr>The Standard Normal RV: Probabilities between Points</vt:lpstr>
      <vt:lpstr>The Standard Normal Distribution</vt:lpstr>
      <vt:lpstr>Standardize a Normal Random Variable</vt:lpstr>
      <vt:lpstr>Standardize a Normal Random Variable</vt:lpstr>
      <vt:lpstr>Standardize a Normal Random Variable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Standard Normal in Python</vt:lpstr>
      <vt:lpstr>The Standard Normal in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3.10, pg 160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355/555 Probability and Statistics for Computer Scientists</dc:title>
  <dc:creator>Ivan H. Mann III</dc:creator>
  <cp:lastModifiedBy>Geng, Baocheng</cp:lastModifiedBy>
  <cp:revision>5</cp:revision>
  <dcterms:created xsi:type="dcterms:W3CDTF">2023-03-06T22:21:47Z</dcterms:created>
  <dcterms:modified xsi:type="dcterms:W3CDTF">2025-03-19T16:11:26Z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2022-10-06T00:00:00Z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2023-03-06T00:00:00Z</vt:filetime>
  </property>
  <property fmtid="{D5CDD505-2E9C-101B-9397-08002B2CF9AE}" pid="5" name="PTEX.Fullbanner">
    <vt:lpwstr>This is pdfTeX, Version 3.141592653-2.6-1.40.22 (TeX Live 2022/dev/Debian) kpathsea version 6.3.4/dev</vt:lpwstr>
  </property>
  <property fmtid="{D5CDD505-2E9C-101B-9397-08002B2CF9AE}" pid="6" name="Producer">
    <vt:lpwstr>pdfTeX-1.40.22</vt:lpwstr>
  </property>
  <property fmtid="{D5CDD505-2E9C-101B-9397-08002B2CF9AE}" pid="7" name="ContentTypeId">
    <vt:lpwstr>0x0101005E1541AA9D2DF54EAD9E3EC334D2D1DF</vt:lpwstr>
  </property>
  <property fmtid="{D5CDD505-2E9C-101B-9397-08002B2CF9AE}" pid="8" name="_dlc_DocIdItemGuid">
    <vt:lpwstr>b1f2b436-c38d-47e3-b6e9-4f18e18d25c2</vt:lpwstr>
  </property>
  <property fmtid="{D5CDD505-2E9C-101B-9397-08002B2CF9AE}" pid="9" name="MSIP_Label_ae7542bc-63e5-412b-b0a0-d9586028a7d0_Enabled">
    <vt:lpwstr>true</vt:lpwstr>
  </property>
  <property fmtid="{D5CDD505-2E9C-101B-9397-08002B2CF9AE}" pid="10" name="MSIP_Label_ae7542bc-63e5-412b-b0a0-d9586028a7d0_SetDate">
    <vt:lpwstr>2025-03-19T15:53:13Z</vt:lpwstr>
  </property>
  <property fmtid="{D5CDD505-2E9C-101B-9397-08002B2CF9AE}" pid="11" name="MSIP_Label_ae7542bc-63e5-412b-b0a0-d9586028a7d0_Method">
    <vt:lpwstr>Standard</vt:lpwstr>
  </property>
  <property fmtid="{D5CDD505-2E9C-101B-9397-08002B2CF9AE}" pid="12" name="MSIP_Label_ae7542bc-63e5-412b-b0a0-d9586028a7d0_Name">
    <vt:lpwstr>Sensitive</vt:lpwstr>
  </property>
  <property fmtid="{D5CDD505-2E9C-101B-9397-08002B2CF9AE}" pid="13" name="MSIP_Label_ae7542bc-63e5-412b-b0a0-d9586028a7d0_SiteId">
    <vt:lpwstr>d8999fe4-76af-40b3-b435-1d8977abc08c</vt:lpwstr>
  </property>
  <property fmtid="{D5CDD505-2E9C-101B-9397-08002B2CF9AE}" pid="14" name="MSIP_Label_ae7542bc-63e5-412b-b0a0-d9586028a7d0_ActionId">
    <vt:lpwstr>5b6c58e1-0f25-4f1c-8131-f4b36e0c455d</vt:lpwstr>
  </property>
  <property fmtid="{D5CDD505-2E9C-101B-9397-08002B2CF9AE}" pid="15" name="MSIP_Label_ae7542bc-63e5-412b-b0a0-d9586028a7d0_ContentBits">
    <vt:lpwstr>0</vt:lpwstr>
  </property>
  <property fmtid="{D5CDD505-2E9C-101B-9397-08002B2CF9AE}" pid="16" name="MSIP_Label_ae7542bc-63e5-412b-b0a0-d9586028a7d0_Tag">
    <vt:lpwstr>10, 3, 0, 1</vt:lpwstr>
  </property>
</Properties>
</file>